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handoutMasterIdLst>
    <p:handoutMasterId r:id="rId21"/>
  </p:handoutMasterIdLst>
  <p:sldIdLst>
    <p:sldId id="292" r:id="rId2"/>
    <p:sldId id="313" r:id="rId3"/>
    <p:sldId id="319" r:id="rId4"/>
    <p:sldId id="296" r:id="rId5"/>
    <p:sldId id="320" r:id="rId6"/>
    <p:sldId id="314" r:id="rId7"/>
    <p:sldId id="298" r:id="rId8"/>
    <p:sldId id="299" r:id="rId9"/>
    <p:sldId id="315" r:id="rId10"/>
    <p:sldId id="302" r:id="rId11"/>
    <p:sldId id="305" r:id="rId12"/>
    <p:sldId id="306" r:id="rId13"/>
    <p:sldId id="307" r:id="rId14"/>
    <p:sldId id="308" r:id="rId15"/>
    <p:sldId id="309" r:id="rId16"/>
    <p:sldId id="312" r:id="rId17"/>
    <p:sldId id="321" r:id="rId18"/>
    <p:sldId id="295" r:id="rId19"/>
  </p:sldIdLst>
  <p:sldSz cx="12192000" cy="6858000"/>
  <p:notesSz cx="10234613" cy="710406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A5FFA"/>
    <a:srgbClr val="394761"/>
    <a:srgbClr val="566786"/>
    <a:srgbClr val="F2F2F2"/>
    <a:srgbClr val="000000"/>
    <a:srgbClr val="D9D9D9"/>
    <a:srgbClr val="2E75B6"/>
    <a:srgbClr val="ABB7CD"/>
    <a:srgbClr val="DFE5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70175" autoAdjust="0"/>
  </p:normalViewPr>
  <p:slideViewPr>
    <p:cSldViewPr snapToGrid="0">
      <p:cViewPr varScale="1">
        <p:scale>
          <a:sx n="46" d="100"/>
          <a:sy n="46" d="100"/>
        </p:scale>
        <p:origin x="1096" y="3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0"/>
            <a:ext cx="4434618" cy="35592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797708" y="0"/>
            <a:ext cx="4434617" cy="355920"/>
          </a:xfrm>
          <a:prstGeom prst="rect">
            <a:avLst/>
          </a:prstGeom>
        </p:spPr>
        <p:txBody>
          <a:bodyPr vert="horz" lIns="91440" tIns="45720" rIns="91440" bIns="45720" rtlCol="0"/>
          <a:lstStyle>
            <a:lvl1pPr algn="r">
              <a:defRPr sz="1200"/>
            </a:lvl1pPr>
          </a:lstStyle>
          <a:p>
            <a:fld id="{DF0C6B2C-1FD0-4993-902F-4770142A6CFA}" type="datetimeFigureOut">
              <a:rPr lang="zh-CN" altLang="en-US" smtClean="0"/>
              <a:t>2025/10/15</a:t>
            </a:fld>
            <a:endParaRPr lang="zh-CN" altLang="en-US"/>
          </a:p>
        </p:txBody>
      </p:sp>
      <p:sp>
        <p:nvSpPr>
          <p:cNvPr id="4" name="页脚占位符 3"/>
          <p:cNvSpPr>
            <a:spLocks noGrp="1"/>
          </p:cNvSpPr>
          <p:nvPr>
            <p:ph type="ftr" sz="quarter" idx="2"/>
          </p:nvPr>
        </p:nvSpPr>
        <p:spPr>
          <a:xfrm>
            <a:off x="2" y="6748143"/>
            <a:ext cx="4434618" cy="35592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797708" y="6748143"/>
            <a:ext cx="4434617" cy="355920"/>
          </a:xfrm>
          <a:prstGeom prst="rect">
            <a:avLst/>
          </a:prstGeom>
        </p:spPr>
        <p:txBody>
          <a:bodyPr vert="horz" lIns="91440" tIns="45720" rIns="91440" bIns="45720" rtlCol="0" anchor="b"/>
          <a:lstStyle>
            <a:lvl1pPr algn="r">
              <a:defRPr sz="1200"/>
            </a:lvl1pPr>
          </a:lstStyle>
          <a:p>
            <a:fld id="{9843D35D-44CE-4C0B-9BBF-A926F48CCDBC}" type="slidenum">
              <a:rPr lang="zh-CN" altLang="en-US" smtClean="0"/>
              <a:t>‹#›</a:t>
            </a:fld>
            <a:endParaRPr lang="zh-CN" altLang="en-US"/>
          </a:p>
        </p:txBody>
      </p:sp>
    </p:spTree>
    <p:extLst>
      <p:ext uri="{BB962C8B-B14F-4D97-AF65-F5344CB8AC3E}">
        <p14:creationId xmlns:p14="http://schemas.microsoft.com/office/powerpoint/2010/main" val="16755245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4434999" cy="356437"/>
          </a:xfrm>
          <a:prstGeom prst="rect">
            <a:avLst/>
          </a:prstGeom>
        </p:spPr>
        <p:txBody>
          <a:bodyPr vert="horz" lIns="99075" tIns="49538" rIns="99075" bIns="49538" rtlCol="0"/>
          <a:lstStyle>
            <a:lvl1pPr algn="l">
              <a:defRPr sz="1300"/>
            </a:lvl1pPr>
          </a:lstStyle>
          <a:p>
            <a:endParaRPr lang="zh-CN" altLang="en-US"/>
          </a:p>
        </p:txBody>
      </p:sp>
      <p:sp>
        <p:nvSpPr>
          <p:cNvPr id="3" name="日期占位符 2"/>
          <p:cNvSpPr>
            <a:spLocks noGrp="1"/>
          </p:cNvSpPr>
          <p:nvPr>
            <p:ph type="dt" idx="1"/>
          </p:nvPr>
        </p:nvSpPr>
        <p:spPr>
          <a:xfrm>
            <a:off x="5797248" y="1"/>
            <a:ext cx="4434999" cy="356437"/>
          </a:xfrm>
          <a:prstGeom prst="rect">
            <a:avLst/>
          </a:prstGeom>
        </p:spPr>
        <p:txBody>
          <a:bodyPr vert="horz" lIns="99075" tIns="49538" rIns="99075" bIns="49538" rtlCol="0"/>
          <a:lstStyle>
            <a:lvl1pPr algn="r">
              <a:defRPr sz="1300"/>
            </a:lvl1pPr>
          </a:lstStyle>
          <a:p>
            <a:fld id="{F4DF010B-0CA2-4502-B0C7-B680C146E995}" type="datetimeFigureOut">
              <a:rPr lang="zh-CN" altLang="en-US" smtClean="0"/>
              <a:t>2025/10/15</a:t>
            </a:fld>
            <a:endParaRPr lang="zh-CN" altLang="en-US"/>
          </a:p>
        </p:txBody>
      </p:sp>
      <p:sp>
        <p:nvSpPr>
          <p:cNvPr id="4" name="幻灯片图像占位符 3"/>
          <p:cNvSpPr>
            <a:spLocks noGrp="1" noRot="1" noChangeAspect="1"/>
          </p:cNvSpPr>
          <p:nvPr>
            <p:ph type="sldImg" idx="2"/>
          </p:nvPr>
        </p:nvSpPr>
        <p:spPr>
          <a:xfrm>
            <a:off x="2986088" y="887413"/>
            <a:ext cx="4265612" cy="2398712"/>
          </a:xfrm>
          <a:prstGeom prst="rect">
            <a:avLst/>
          </a:prstGeom>
          <a:noFill/>
          <a:ln w="12700">
            <a:solidFill>
              <a:prstClr val="black"/>
            </a:solidFill>
          </a:ln>
        </p:spPr>
        <p:txBody>
          <a:bodyPr vert="horz" lIns="99075" tIns="49538" rIns="99075" bIns="49538" rtlCol="0" anchor="ctr"/>
          <a:lstStyle/>
          <a:p>
            <a:endParaRPr lang="zh-CN" altLang="en-US"/>
          </a:p>
        </p:txBody>
      </p:sp>
      <p:sp>
        <p:nvSpPr>
          <p:cNvPr id="5" name="备注占位符 4"/>
          <p:cNvSpPr>
            <a:spLocks noGrp="1"/>
          </p:cNvSpPr>
          <p:nvPr>
            <p:ph type="body" sz="quarter" idx="3"/>
          </p:nvPr>
        </p:nvSpPr>
        <p:spPr>
          <a:xfrm>
            <a:off x="1023462" y="3418831"/>
            <a:ext cx="8187690" cy="2797225"/>
          </a:xfrm>
          <a:prstGeom prst="rect">
            <a:avLst/>
          </a:prstGeom>
        </p:spPr>
        <p:txBody>
          <a:bodyPr vert="horz" lIns="99075" tIns="49538" rIns="99075" bIns="49538"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2" y="6747629"/>
            <a:ext cx="4434999" cy="356436"/>
          </a:xfrm>
          <a:prstGeom prst="rect">
            <a:avLst/>
          </a:prstGeom>
        </p:spPr>
        <p:txBody>
          <a:bodyPr vert="horz" lIns="99075" tIns="49538" rIns="99075" bIns="49538"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5797248" y="6747629"/>
            <a:ext cx="4434999" cy="356436"/>
          </a:xfrm>
          <a:prstGeom prst="rect">
            <a:avLst/>
          </a:prstGeom>
        </p:spPr>
        <p:txBody>
          <a:bodyPr vert="horz" lIns="99075" tIns="49538" rIns="99075" bIns="49538" rtlCol="0" anchor="b"/>
          <a:lstStyle>
            <a:lvl1pPr algn="r">
              <a:defRPr sz="1300"/>
            </a:lvl1pPr>
          </a:lstStyle>
          <a:p>
            <a:fld id="{6F95BF76-5F8C-4BB1-B0BC-1971D2EEF300}" type="slidenum">
              <a:rPr lang="zh-CN" altLang="en-US" smtClean="0"/>
              <a:t>‹#›</a:t>
            </a:fld>
            <a:endParaRPr lang="zh-CN" altLang="en-US"/>
          </a:p>
        </p:txBody>
      </p:sp>
    </p:spTree>
    <p:extLst>
      <p:ext uri="{BB962C8B-B14F-4D97-AF65-F5344CB8AC3E}">
        <p14:creationId xmlns:p14="http://schemas.microsoft.com/office/powerpoint/2010/main" val="3689226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各位老师</a:t>
            </a:r>
            <a:r>
              <a:rPr lang="zh-CN" altLang="en-US" sz="1200" kern="1200" dirty="0">
                <a:solidFill>
                  <a:schemeClr val="tx1"/>
                </a:solidFill>
                <a:effectLst/>
                <a:latin typeface="+mn-lt"/>
                <a:ea typeface="+mn-ea"/>
                <a:cs typeface="+mn-cs"/>
              </a:rPr>
              <a:t>各位同学</a:t>
            </a:r>
            <a:r>
              <a:rPr lang="zh-CN" altLang="zh-CN" sz="1200" kern="1200" dirty="0">
                <a:solidFill>
                  <a:schemeClr val="tx1"/>
                </a:solidFill>
                <a:effectLst/>
                <a:latin typeface="+mn-lt"/>
                <a:ea typeface="+mn-ea"/>
                <a:cs typeface="+mn-cs"/>
              </a:rPr>
              <a:t>大家</a:t>
            </a:r>
            <a:r>
              <a:rPr lang="zh-CN" altLang="en-US" sz="1200" kern="1200" dirty="0">
                <a:solidFill>
                  <a:schemeClr val="tx1"/>
                </a:solidFill>
                <a:effectLst/>
                <a:latin typeface="+mn-lt"/>
                <a:ea typeface="+mn-ea"/>
                <a:cs typeface="+mn-cs"/>
              </a:rPr>
              <a:t>下</a:t>
            </a:r>
            <a:r>
              <a:rPr lang="zh-CN" altLang="zh-CN" sz="1200" kern="1200" dirty="0">
                <a:solidFill>
                  <a:schemeClr val="tx1"/>
                </a:solidFill>
                <a:effectLst/>
                <a:latin typeface="+mn-lt"/>
                <a:ea typeface="+mn-ea"/>
                <a:cs typeface="+mn-cs"/>
              </a:rPr>
              <a:t>午好</a:t>
            </a:r>
            <a:r>
              <a:rPr lang="zh-CN" altLang="en-US" sz="1200" kern="1200" dirty="0">
                <a:solidFill>
                  <a:schemeClr val="tx1"/>
                </a:solidFill>
                <a:effectLst/>
                <a:latin typeface="+mn-lt"/>
                <a:ea typeface="+mn-ea"/>
                <a:cs typeface="+mn-cs"/>
              </a:rPr>
              <a:t>，我是许青山。我的题目是</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基于深度学习的数木根系表型多参数雷达波解析方法研究</a:t>
            </a:r>
            <a:r>
              <a:rPr lang="zh-CN" altLang="zh-CN" sz="1200" kern="1200" dirty="0">
                <a:solidFill>
                  <a:schemeClr val="tx1"/>
                </a:solidFill>
                <a:effectLst/>
                <a:latin typeface="+mn-lt"/>
                <a:ea typeface="+mn-ea"/>
                <a:cs typeface="+mn-cs"/>
              </a:rPr>
              <a:t>》，我的指导老师是梁浩副教授</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F95BF76-5F8C-4BB1-B0BC-1971D2EEF300}" type="slidenum">
              <a:rPr lang="zh-CN" altLang="en-US" smtClean="0"/>
              <a:t>1</a:t>
            </a:fld>
            <a:endParaRPr lang="zh-CN" altLang="en-US"/>
          </a:p>
        </p:txBody>
      </p:sp>
    </p:spTree>
    <p:extLst>
      <p:ext uri="{BB962C8B-B14F-4D97-AF65-F5344CB8AC3E}">
        <p14:creationId xmlns:p14="http://schemas.microsoft.com/office/powerpoint/2010/main" val="2701947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我汇报的内容包括以下</a:t>
            </a:r>
            <a:r>
              <a:rPr lang="en-US" altLang="zh-CN" dirty="0"/>
              <a:t>5</a:t>
            </a:r>
            <a:r>
              <a:rPr lang="zh-CN" altLang="en-US" dirty="0"/>
              <a:t>部分：</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2</a:t>
            </a:fld>
            <a:endParaRPr lang="zh-CN" altLang="en-US"/>
          </a:p>
        </p:txBody>
      </p:sp>
    </p:spTree>
    <p:extLst>
      <p:ext uri="{BB962C8B-B14F-4D97-AF65-F5344CB8AC3E}">
        <p14:creationId xmlns:p14="http://schemas.microsoft.com/office/powerpoint/2010/main" val="4099950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首先是研究背景与意义。</a:t>
            </a:r>
            <a:r>
              <a:rPr lang="en-US" altLang="zh-CN" sz="1200" dirty="0">
                <a:latin typeface="Times New Roman" panose="02020603050405020304" pitchFamily="18" charset="0"/>
                <a:ea typeface="宋体" panose="02010600030101010101" pitchFamily="2" charset="-122"/>
              </a:rPr>
              <a:t>2024</a:t>
            </a:r>
            <a:r>
              <a:rPr lang="zh-CN" altLang="en-US" sz="1200" dirty="0">
                <a:latin typeface="Times New Roman" panose="02020603050405020304" pitchFamily="18" charset="0"/>
                <a:ea typeface="宋体" panose="02010600030101010101" pitchFamily="2" charset="-122"/>
              </a:rPr>
              <a:t>年</a:t>
            </a:r>
            <a:r>
              <a:rPr lang="en-US" altLang="zh-CN" sz="1200" dirty="0">
                <a:latin typeface="Times New Roman" panose="02020603050405020304" pitchFamily="18" charset="0"/>
                <a:ea typeface="宋体" panose="02010600030101010101" pitchFamily="2" charset="-122"/>
              </a:rPr>
              <a:t>4</a:t>
            </a:r>
            <a:r>
              <a:rPr lang="zh-CN" altLang="en-US" sz="1200" dirty="0">
                <a:latin typeface="Times New Roman" panose="02020603050405020304" pitchFamily="18" charset="0"/>
                <a:ea typeface="宋体" panose="02010600030101010101" pitchFamily="2" charset="-122"/>
              </a:rPr>
              <a:t>月</a:t>
            </a:r>
            <a:r>
              <a:rPr lang="en-US" altLang="zh-CN" sz="1200" dirty="0">
                <a:latin typeface="Times New Roman" panose="02020603050405020304" pitchFamily="18" charset="0"/>
                <a:ea typeface="宋体" panose="02010600030101010101" pitchFamily="2" charset="-122"/>
              </a:rPr>
              <a:t>3</a:t>
            </a:r>
            <a:r>
              <a:rPr lang="zh-CN" altLang="en-US" sz="1200" dirty="0">
                <a:latin typeface="Times New Roman" panose="02020603050405020304" pitchFamily="18" charset="0"/>
                <a:ea typeface="宋体" panose="02010600030101010101" pitchFamily="2" charset="-122"/>
              </a:rPr>
              <a:t>日习总书记参加首都义务植树活动时指出：</a:t>
            </a:r>
            <a:r>
              <a:rPr lang="en-US" altLang="zh-CN" sz="1200" dirty="0">
                <a:latin typeface="Times New Roman" panose="02020603050405020304" pitchFamily="18" charset="0"/>
                <a:ea typeface="宋体" panose="02010600030101010101" pitchFamily="2" charset="-122"/>
              </a:rPr>
              <a:t> “</a:t>
            </a:r>
            <a:r>
              <a:rPr lang="zh-CN" altLang="en-US" sz="1200" dirty="0">
                <a:latin typeface="Times New Roman" panose="02020603050405020304" pitchFamily="18" charset="0"/>
                <a:ea typeface="宋体" panose="02010600030101010101" pitchFamily="2" charset="-122"/>
              </a:rPr>
              <a:t>要科学推进大规模国土绿化，适地适树、适时适法，种一棵活一棵、造一片成一片。推动森林“水库、钱库、粮库、碳库”更好联动，实现生态效益、经济效益、社会效益相统一。</a:t>
            </a:r>
            <a:r>
              <a:rPr lang="en-US" altLang="zh-CN" sz="1200" dirty="0">
                <a:latin typeface="Times New Roman" panose="02020603050405020304" pitchFamily="18" charset="0"/>
                <a:ea typeface="宋体" panose="02010600030101010101" pitchFamily="2" charset="-122"/>
              </a:rPr>
              <a:t> ”</a:t>
            </a:r>
            <a:r>
              <a:rPr lang="zh-CN" altLang="en-US" sz="1200" dirty="0">
                <a:latin typeface="Times New Roman" panose="02020603050405020304" pitchFamily="18" charset="0"/>
                <a:ea typeface="宋体" panose="02010600030101010101" pitchFamily="2" charset="-122"/>
              </a:rPr>
              <a:t>根系作为植物的关键组成部分，在生态系统运行、植物生长发育以及环境维护等方面都扮演着无可替代的角色。在森林生态系统中，树木根系不仅是支撑树木屹立不倒的 “稳固基石”，并对土壤的稳固作用尤为明显，它们能够减少山体滑坡、河岸崩塌等地质灾害的发生风险，从更宏观的层面看，根系的健康状况直接关系到整个生态系统的健康和稳定。</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F95BF76-5F8C-4BB1-B0BC-1971D2EEF300}" type="slidenum">
              <a:rPr lang="zh-CN" altLang="en-US" smtClean="0"/>
              <a:t>3</a:t>
            </a:fld>
            <a:endParaRPr lang="zh-CN" altLang="en-US"/>
          </a:p>
        </p:txBody>
      </p:sp>
    </p:spTree>
    <p:extLst>
      <p:ext uri="{BB962C8B-B14F-4D97-AF65-F5344CB8AC3E}">
        <p14:creationId xmlns:p14="http://schemas.microsoft.com/office/powerpoint/2010/main" val="4097541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根系埋藏于地下难以通过视觉直接监测，现今对树木根系的观测方法主要分为：破坏性观测方法、微创</a:t>
            </a:r>
            <a:r>
              <a:rPr lang="en-US" altLang="zh-CN" dirty="0"/>
              <a:t>/</a:t>
            </a:r>
            <a:r>
              <a:rPr lang="zh-CN" altLang="en-US" dirty="0"/>
              <a:t>半破坏性方法、非破坏性观测方法三类。剖面挖掘。通过人工开挖土壤剖面，直接观察根系在土壤中的分布形态，适用于研究根系的水平与垂直分布特征。整根挖掘。完整挖出单株树木的全部根系系统，常用于获取根系生物量、形态结构等基础数据。根钻取样。使用圆柱形根钻获取土壤柱状样品，通过筛分分离根系，适用于大尺度根系生物量的快速估算。</a:t>
            </a:r>
            <a:r>
              <a:rPr lang="zh-CN" altLang="en-US" b="0" i="0" dirty="0">
                <a:effectLst/>
                <a:latin typeface="Inter"/>
              </a:rPr>
              <a:t>微根管。将透明管埋入土壤，通过内窥镜周期性观测根系生长动态，可实现长期原位监测。电阻率成像。通过测量土壤电阻率差异反演根系分布，为非侵入式根系探测技术。</a:t>
            </a:r>
            <a:r>
              <a:rPr lang="zh-CN" altLang="en-US" dirty="0"/>
              <a:t>其中，探地雷达具有非破坏性观测、高分辨率成像、快速高效、应用广泛等优点，因此本课题采用探地雷达技术对根系进行观测研究。</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4</a:t>
            </a:fld>
            <a:endParaRPr lang="zh-CN" altLang="en-US"/>
          </a:p>
        </p:txBody>
      </p:sp>
    </p:spTree>
    <p:extLst>
      <p:ext uri="{BB962C8B-B14F-4D97-AF65-F5344CB8AC3E}">
        <p14:creationId xmlns:p14="http://schemas.microsoft.com/office/powerpoint/2010/main" val="2967076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探地雷达对根系扫描的成像效果包含三种形式，分别为探地雷达沿点、线、面的对根系的扫描结果，分别称为</a:t>
            </a:r>
            <a:r>
              <a:rPr lang="it-IT" altLang="zh-CN" dirty="0"/>
              <a:t>A-</a:t>
            </a:r>
            <a:r>
              <a:rPr lang="zh-CN" altLang="en-US" dirty="0"/>
              <a:t>扫描</a:t>
            </a:r>
            <a:r>
              <a:rPr lang="zh-CN" altLang="it-IT" dirty="0"/>
              <a:t>、</a:t>
            </a:r>
            <a:r>
              <a:rPr lang="it-IT" altLang="zh-CN" dirty="0"/>
              <a:t>B-</a:t>
            </a:r>
            <a:r>
              <a:rPr lang="zh-CN" altLang="en-US" dirty="0"/>
              <a:t>扫描</a:t>
            </a:r>
            <a:r>
              <a:rPr lang="zh-CN" altLang="it-IT" dirty="0"/>
              <a:t>和</a:t>
            </a:r>
            <a:r>
              <a:rPr lang="it-IT" altLang="zh-CN" dirty="0"/>
              <a:t>C-</a:t>
            </a:r>
            <a:r>
              <a:rPr lang="zh-CN" altLang="en-US" dirty="0"/>
              <a:t>扫描。探地雷达</a:t>
            </a:r>
            <a:r>
              <a:rPr lang="it-IT" altLang="zh-CN" dirty="0"/>
              <a:t>A-</a:t>
            </a:r>
            <a:r>
              <a:rPr lang="zh-CN" altLang="en-US" dirty="0"/>
              <a:t>扫描主要反映</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反射信号时长、强度、相位等特征；</a:t>
            </a:r>
            <a:r>
              <a:rPr lang="zh-CN" altLang="en-US" dirty="0"/>
              <a:t>探地雷达</a:t>
            </a:r>
            <a:r>
              <a:rPr lang="it-IT" altLang="zh-CN" dirty="0"/>
              <a:t>B-</a:t>
            </a:r>
            <a:r>
              <a:rPr lang="zh-CN" altLang="en-US" dirty="0"/>
              <a:t>扫描主要反映根系双曲线成像</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、根系剖面位置等特征；</a:t>
            </a:r>
            <a:r>
              <a:rPr lang="zh-CN" altLang="en-US" dirty="0"/>
              <a:t>探地雷达</a:t>
            </a:r>
            <a:r>
              <a:rPr lang="it-IT" altLang="zh-CN" dirty="0"/>
              <a:t>C-</a:t>
            </a:r>
            <a:r>
              <a:rPr lang="zh-CN" altLang="en-US" dirty="0"/>
              <a:t>扫描主要反映根系</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特征的三维空间分布。</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5</a:t>
            </a:fld>
            <a:endParaRPr lang="zh-CN" altLang="en-US"/>
          </a:p>
        </p:txBody>
      </p:sp>
    </p:spTree>
    <p:extLst>
      <p:ext uri="{BB962C8B-B14F-4D97-AF65-F5344CB8AC3E}">
        <p14:creationId xmlns:p14="http://schemas.microsoft.com/office/powerpoint/2010/main" val="3233062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了解完探地雷达技术的基础知识，下面介绍国内外探地雷达根系研究现状。</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6</a:t>
            </a:fld>
            <a:endParaRPr lang="zh-CN" altLang="en-US"/>
          </a:p>
        </p:txBody>
      </p:sp>
    </p:spTree>
    <p:extLst>
      <p:ext uri="{BB962C8B-B14F-4D97-AF65-F5344CB8AC3E}">
        <p14:creationId xmlns:p14="http://schemas.microsoft.com/office/powerpoint/2010/main" val="2746113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探地雷达在野外根系检测过程中会受到多种环境敏感因素的干扰，</a:t>
            </a:r>
            <a:r>
              <a:rPr lang="zh-CN" altLang="zh-CN" sz="1200" kern="100" dirty="0">
                <a:latin typeface="Times New Roman" panose="02020603050405020304" pitchFamily="18" charset="0"/>
                <a:ea typeface="宋体" panose="02010600030101010101" pitchFamily="2" charset="-122"/>
                <a:cs typeface="Times New Roman" panose="02020603050405020304" pitchFamily="18" charset="0"/>
              </a:rPr>
              <a:t>现有</a:t>
            </a:r>
            <a:r>
              <a:rPr lang="en-US" altLang="zh-CN" sz="1200" kern="100" dirty="0">
                <a:latin typeface="Times New Roman" panose="02020603050405020304" pitchFamily="18" charset="0"/>
                <a:ea typeface="宋体" panose="02010600030101010101" pitchFamily="2" charset="-122"/>
                <a:cs typeface="Times New Roman" panose="02020603050405020304" pitchFamily="18" charset="0"/>
              </a:rPr>
              <a:t>GPR</a:t>
            </a:r>
            <a:r>
              <a:rPr lang="zh-CN" altLang="zh-CN" sz="1200" kern="100" dirty="0">
                <a:latin typeface="Times New Roman" panose="02020603050405020304" pitchFamily="18" charset="0"/>
                <a:ea typeface="宋体" panose="02010600030101010101" pitchFamily="2" charset="-122"/>
                <a:cs typeface="Times New Roman" panose="02020603050405020304" pitchFamily="18" charset="0"/>
              </a:rPr>
              <a:t>技术在存在复杂环境干扰抑制不足、</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数据域适配不足、多任务协同缺失、根系</a:t>
            </a:r>
            <a:r>
              <a:rPr lang="zh-CN" altLang="zh-CN" sz="1200" kern="100" dirty="0">
                <a:latin typeface="Times New Roman" panose="02020603050405020304" pitchFamily="18" charset="0"/>
                <a:ea typeface="宋体" panose="02010600030101010101" pitchFamily="2" charset="-122"/>
                <a:cs typeface="Times New Roman" panose="02020603050405020304" pitchFamily="18" charset="0"/>
              </a:rPr>
              <a:t>参数反演精度受限等问题。</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因此，</a:t>
            </a:r>
            <a:r>
              <a:rPr lang="zh-CN" altLang="zh-CN" sz="1200" kern="100" dirty="0">
                <a:latin typeface="Times New Roman" panose="02020603050405020304" pitchFamily="18" charset="0"/>
                <a:ea typeface="宋体" panose="02010600030101010101" pitchFamily="2" charset="-122"/>
                <a:cs typeface="Times New Roman" panose="02020603050405020304" pitchFamily="18" charset="0"/>
              </a:rPr>
              <a:t>如何实现粗根</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反射</a:t>
            </a:r>
            <a:r>
              <a:rPr lang="zh-CN" altLang="zh-CN" sz="1200" kern="100" dirty="0">
                <a:latin typeface="Times New Roman" panose="02020603050405020304" pitchFamily="18" charset="0"/>
                <a:ea typeface="宋体" panose="02010600030101010101" pitchFamily="2" charset="-122"/>
                <a:cs typeface="Times New Roman" panose="02020603050405020304" pitchFamily="18" charset="0"/>
              </a:rPr>
              <a:t>特征</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的精准提取和准确的</a:t>
            </a:r>
            <a:r>
              <a:rPr lang="zh-CN" altLang="zh-CN" sz="1200" kern="100" dirty="0">
                <a:latin typeface="Times New Roman" panose="02020603050405020304" pitchFamily="18" charset="0"/>
                <a:ea typeface="宋体" panose="02010600030101010101" pitchFamily="2" charset="-122"/>
                <a:cs typeface="Times New Roman" panose="02020603050405020304" pitchFamily="18" charset="0"/>
              </a:rPr>
              <a:t>参数</a:t>
            </a:r>
            <a:r>
              <a:rPr lang="zh-CN" altLang="en-US" sz="1200" kern="100" dirty="0">
                <a:latin typeface="Times New Roman" panose="02020603050405020304" pitchFamily="18" charset="0"/>
                <a:ea typeface="宋体" panose="02010600030101010101" pitchFamily="2" charset="-122"/>
                <a:cs typeface="Times New Roman" panose="02020603050405020304" pitchFamily="18" charset="0"/>
              </a:rPr>
              <a:t>估测</a:t>
            </a:r>
            <a:r>
              <a:rPr lang="zh-CN" altLang="zh-CN" sz="1200" kern="100" dirty="0">
                <a:latin typeface="Times New Roman" panose="02020603050405020304" pitchFamily="18" charset="0"/>
                <a:ea typeface="宋体" panose="02010600030101010101" pitchFamily="2" charset="-122"/>
                <a:cs typeface="Times New Roman" panose="02020603050405020304" pitchFamily="18" charset="0"/>
              </a:rPr>
              <a:t>，成为制约</a:t>
            </a:r>
            <a:r>
              <a:rPr lang="en-US" altLang="zh-CN" sz="1200" kern="100" dirty="0">
                <a:latin typeface="Times New Roman" panose="02020603050405020304" pitchFamily="18" charset="0"/>
                <a:ea typeface="宋体" panose="02010600030101010101" pitchFamily="2" charset="-122"/>
              </a:rPr>
              <a:t>GPR</a:t>
            </a:r>
            <a:r>
              <a:rPr lang="zh-CN" altLang="zh-CN" sz="1200" kern="100" dirty="0">
                <a:latin typeface="Times New Roman" panose="02020603050405020304" pitchFamily="18" charset="0"/>
                <a:ea typeface="宋体" panose="02010600030101010101" pitchFamily="2" charset="-122"/>
                <a:cs typeface="Times New Roman" panose="02020603050405020304" pitchFamily="18" charset="0"/>
              </a:rPr>
              <a:t>根系无损检测技术应用的核心挑战。</a:t>
            </a:r>
            <a:endParaRPr lang="zh-CN" altLang="en-US" sz="1200" dirty="0"/>
          </a:p>
        </p:txBody>
      </p:sp>
      <p:sp>
        <p:nvSpPr>
          <p:cNvPr id="4" name="灯片编号占位符 3"/>
          <p:cNvSpPr>
            <a:spLocks noGrp="1"/>
          </p:cNvSpPr>
          <p:nvPr>
            <p:ph type="sldNum" sz="quarter" idx="10"/>
          </p:nvPr>
        </p:nvSpPr>
        <p:spPr/>
        <p:txBody>
          <a:bodyPr/>
          <a:lstStyle/>
          <a:p>
            <a:fld id="{6F95BF76-5F8C-4BB1-B0BC-1971D2EEF300}" type="slidenum">
              <a:rPr lang="zh-CN" altLang="en-US" smtClean="0"/>
              <a:t>7</a:t>
            </a:fld>
            <a:endParaRPr lang="zh-CN" altLang="en-US"/>
          </a:p>
        </p:txBody>
      </p:sp>
    </p:spTree>
    <p:extLst>
      <p:ext uri="{BB962C8B-B14F-4D97-AF65-F5344CB8AC3E}">
        <p14:creationId xmlns:p14="http://schemas.microsoft.com/office/powerpoint/2010/main" val="1617420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本研究提出 “基于深度学习的树木根系表型多参数雷达波解析方法研究” 的选题，旨在解决以下三个关键问题：一是仿真数据与野外实测数据在噪声特性、信号衰减等方面差异显著，模型泛化能力受影响；二是多任务学习框架中检测任务（双曲线波形识别及空间分布）与预测任务（根径、相对介电常数估算）收敛速度不一致，易产生负迁移，使得整体检测与预测精度不足；三是数据驱动的深度学习框架难以有效集成 </a:t>
            </a:r>
            <a:r>
              <a:rPr lang="en-US" altLang="zh-CN" dirty="0"/>
              <a:t>GPR </a:t>
            </a:r>
            <a:r>
              <a:rPr lang="zh-CN" altLang="en-US" dirty="0"/>
              <a:t>电磁波传播物理先验知识，预测结果可能缺乏物理合理性，使得可信度受制约。项目创新有三点：一是将 </a:t>
            </a:r>
            <a:r>
              <a:rPr lang="en-US" altLang="zh-CN" dirty="0" err="1"/>
              <a:t>CycleGAN</a:t>
            </a:r>
            <a:r>
              <a:rPr lang="en-US" altLang="zh-CN" dirty="0"/>
              <a:t> </a:t>
            </a:r>
            <a:r>
              <a:rPr lang="zh-CN" altLang="en-US" dirty="0"/>
              <a:t>用于 </a:t>
            </a:r>
            <a:r>
              <a:rPr lang="en-US" altLang="zh-CN" dirty="0" err="1"/>
              <a:t>gprMax</a:t>
            </a:r>
            <a:r>
              <a:rPr lang="en-US" altLang="zh-CN" dirty="0"/>
              <a:t> </a:t>
            </a:r>
            <a:r>
              <a:rPr lang="zh-CN" altLang="en-US" dirty="0"/>
              <a:t>仿真到实测 </a:t>
            </a:r>
            <a:r>
              <a:rPr lang="en-US" altLang="zh-CN" dirty="0"/>
              <a:t>B-scan </a:t>
            </a:r>
            <a:r>
              <a:rPr lang="zh-CN" altLang="en-US" dirty="0"/>
              <a:t>的风格迁移，桥接信号衰减和噪声差异，解决仿真与实测数据域适配问题，提升模型泛化能力；二是设计联合损失函数，结合 </a:t>
            </a:r>
            <a:r>
              <a:rPr lang="en-US" altLang="zh-CN" dirty="0"/>
              <a:t>YOLOv11 </a:t>
            </a:r>
            <a:r>
              <a:rPr lang="zh-CN" altLang="en-US" dirty="0"/>
              <a:t>的 </a:t>
            </a:r>
            <a:r>
              <a:rPr lang="en-US" altLang="zh-CN" dirty="0"/>
              <a:t>CSP </a:t>
            </a:r>
            <a:r>
              <a:rPr lang="zh-CN" altLang="en-US" dirty="0"/>
              <a:t>架构构建多任务学习框架，实现检测与参数预测的协同优化，同时确保结果符合物理规律，改进传统单一任务或物理约束缺失的局限；三是针对 </a:t>
            </a:r>
            <a:r>
              <a:rPr lang="en-US" altLang="zh-CN" dirty="0"/>
              <a:t>GPR </a:t>
            </a:r>
            <a:r>
              <a:rPr lang="zh-CN" altLang="en-US" dirty="0"/>
              <a:t>高频信号特性，对 </a:t>
            </a:r>
            <a:r>
              <a:rPr lang="en-US" altLang="zh-CN" dirty="0"/>
              <a:t>YOLOv11 </a:t>
            </a:r>
            <a:r>
              <a:rPr lang="zh-CN" altLang="en-US" dirty="0"/>
              <a:t>进行定制优化，引入 </a:t>
            </a:r>
            <a:r>
              <a:rPr lang="en-US" altLang="zh-CN" dirty="0"/>
              <a:t>CBAM </a:t>
            </a:r>
            <a:r>
              <a:rPr lang="zh-CN" altLang="en-US" dirty="0"/>
              <a:t>注意力模块和包含 </a:t>
            </a:r>
            <a:r>
              <a:rPr lang="en-US" altLang="zh-CN" dirty="0" err="1"/>
              <a:t>CIoU</a:t>
            </a:r>
            <a:r>
              <a:rPr lang="zh-CN" altLang="en-US" dirty="0"/>
              <a:t>、</a:t>
            </a:r>
            <a:r>
              <a:rPr lang="en-US" altLang="zh-CN" dirty="0"/>
              <a:t>DFL</a:t>
            </a:r>
            <a:r>
              <a:rPr lang="zh-CN" altLang="en-US" dirty="0"/>
              <a:t>、对比损失的复合损失函数，提升小目标（细根双曲线）检测精度，降低噪声干扰导致的假阳性率，优化 </a:t>
            </a:r>
            <a:r>
              <a:rPr lang="en-US" altLang="zh-CN" dirty="0"/>
              <a:t>GPR </a:t>
            </a:r>
            <a:r>
              <a:rPr lang="zh-CN" altLang="en-US" dirty="0"/>
              <a:t>波形检测效果。</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8</a:t>
            </a:fld>
            <a:endParaRPr lang="zh-CN" altLang="en-US"/>
          </a:p>
        </p:txBody>
      </p:sp>
    </p:spTree>
    <p:extLst>
      <p:ext uri="{BB962C8B-B14F-4D97-AF65-F5344CB8AC3E}">
        <p14:creationId xmlns:p14="http://schemas.microsoft.com/office/powerpoint/2010/main" val="625175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第三部分，研究思路与技术路线。</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9</a:t>
            </a:fld>
            <a:endParaRPr lang="zh-CN" altLang="en-US"/>
          </a:p>
        </p:txBody>
      </p:sp>
    </p:spTree>
    <p:extLst>
      <p:ext uri="{BB962C8B-B14F-4D97-AF65-F5344CB8AC3E}">
        <p14:creationId xmlns:p14="http://schemas.microsoft.com/office/powerpoint/2010/main" val="4054389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研究思路，围绕“基于多频探地雷达的树木根系参数智能解析与三维重构”的主题，这项研究包含两个对象，分别是粗根参数智能解析和根系构型三维重建，采用的研究方法包括仿真研究、受控研究和实地研究。研究内容为依次递进的三部分：根系检测敏感因素解析、粗根识别定位与特征参数反演、根系构型三维重建和可视化。这项研究通过对植物地下根系进行三维重建，最终实现根系生物量和根系生长状态的监测评估。</a:t>
            </a:r>
          </a:p>
          <a:p>
            <a:endParaRPr lang="zh-CN" altLang="en-US" dirty="0"/>
          </a:p>
          <a:p>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6F95BF76-5F8C-4BB1-B0BC-1971D2EEF300}" type="slidenum">
              <a:rPr lang="zh-CN" altLang="en-US" smtClean="0"/>
              <a:t>10</a:t>
            </a:fld>
            <a:endParaRPr lang="zh-CN" altLang="en-US"/>
          </a:p>
        </p:txBody>
      </p:sp>
    </p:spTree>
    <p:extLst>
      <p:ext uri="{BB962C8B-B14F-4D97-AF65-F5344CB8AC3E}">
        <p14:creationId xmlns:p14="http://schemas.microsoft.com/office/powerpoint/2010/main" val="684779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这是依据研究思路绘制的技术路线图。</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11</a:t>
            </a:fld>
            <a:endParaRPr lang="zh-CN" altLang="en-US"/>
          </a:p>
        </p:txBody>
      </p:sp>
    </p:spTree>
    <p:extLst>
      <p:ext uri="{BB962C8B-B14F-4D97-AF65-F5344CB8AC3E}">
        <p14:creationId xmlns:p14="http://schemas.microsoft.com/office/powerpoint/2010/main" val="1094562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第四部分，研究内容与方案。</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12</a:t>
            </a:fld>
            <a:endParaRPr lang="zh-CN" altLang="en-US"/>
          </a:p>
        </p:txBody>
      </p:sp>
    </p:spTree>
    <p:extLst>
      <p:ext uri="{BB962C8B-B14F-4D97-AF65-F5344CB8AC3E}">
        <p14:creationId xmlns:p14="http://schemas.microsoft.com/office/powerpoint/2010/main" val="3057008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第一个研究内容：</a:t>
            </a:r>
            <a:r>
              <a:rPr lang="zh-CN" altLang="en-US" sz="1200" dirty="0">
                <a:latin typeface="Times New Roman" panose="02020603050405020304" pitchFamily="18" charset="0"/>
                <a:ea typeface="宋体" panose="02010600030101010101" pitchFamily="2" charset="-122"/>
              </a:rPr>
              <a:t>构建电磁</a:t>
            </a:r>
            <a:r>
              <a:rPr lang="en-US" altLang="zh-CN" sz="1200" dirty="0">
                <a:latin typeface="Times New Roman" panose="02020603050405020304" pitchFamily="18" charset="0"/>
                <a:ea typeface="宋体" panose="02010600030101010101" pitchFamily="2" charset="-122"/>
              </a:rPr>
              <a:t>-</a:t>
            </a:r>
            <a:r>
              <a:rPr lang="zh-CN" altLang="en-US" sz="1200" dirty="0">
                <a:latin typeface="Times New Roman" panose="02020603050405020304" pitchFamily="18" charset="0"/>
                <a:ea typeface="宋体" panose="02010600030101010101" pitchFamily="2" charset="-122"/>
              </a:rPr>
              <a:t>土壤</a:t>
            </a:r>
            <a:r>
              <a:rPr lang="en-US" altLang="zh-CN" sz="1200" dirty="0">
                <a:latin typeface="Times New Roman" panose="02020603050405020304" pitchFamily="18" charset="0"/>
                <a:ea typeface="宋体" panose="02010600030101010101" pitchFamily="2" charset="-122"/>
              </a:rPr>
              <a:t>-</a:t>
            </a:r>
            <a:r>
              <a:rPr lang="zh-CN" altLang="en-US" sz="1200" dirty="0">
                <a:latin typeface="Times New Roman" panose="02020603050405020304" pitchFamily="18" charset="0"/>
                <a:ea typeface="宋体" panose="02010600030101010101" pitchFamily="2" charset="-122"/>
              </a:rPr>
              <a:t>根系耦合模型，解析根系检测敏感因子作用机制</a:t>
            </a:r>
            <a:r>
              <a:rPr lang="zh-CN" altLang="en-US" sz="1200" dirty="0">
                <a:latin typeface="+mn-lt"/>
                <a:ea typeface="+mn-ea"/>
              </a:rPr>
              <a:t>。我们将使用雷达波传播仿真软件</a:t>
            </a:r>
            <a:r>
              <a:rPr lang="en-US" altLang="zh-CN" sz="1200" dirty="0" err="1">
                <a:latin typeface="+mn-lt"/>
                <a:ea typeface="+mn-ea"/>
              </a:rPr>
              <a:t>gprMax</a:t>
            </a:r>
            <a:r>
              <a:rPr lang="zh-CN" altLang="en-US" sz="1200" dirty="0">
                <a:latin typeface="+mn-lt"/>
                <a:ea typeface="+mn-ea"/>
              </a:rPr>
              <a:t>来模拟根系探测的各种情形，包括</a:t>
            </a:r>
            <a:r>
              <a:rPr lang="zh-CN" altLang="en-US" sz="1200" dirty="0">
                <a:latin typeface="Times New Roman" panose="02020603050405020304" pitchFamily="18" charset="0"/>
                <a:ea typeface="宋体" panose="02010600030101010101" pitchFamily="2" charset="-122"/>
              </a:rPr>
              <a:t>非均质土壤环境、不同根系生长角度与扫描角度、不同根系特征与土壤特征等，以此来解析各项根系探测敏感因素对于根系扫描的作用机制。</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13</a:t>
            </a:fld>
            <a:endParaRPr lang="zh-CN" altLang="en-US"/>
          </a:p>
        </p:txBody>
      </p:sp>
    </p:spTree>
    <p:extLst>
      <p:ext uri="{BB962C8B-B14F-4D97-AF65-F5344CB8AC3E}">
        <p14:creationId xmlns:p14="http://schemas.microsoft.com/office/powerpoint/2010/main" val="857879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第二个研究内容：</a:t>
            </a:r>
            <a:r>
              <a:rPr lang="zh-CN" altLang="en-US" sz="1200" dirty="0">
                <a:latin typeface="Times New Roman" panose="02020603050405020304" pitchFamily="18" charset="0"/>
                <a:ea typeface="宋体" panose="02010600030101010101" pitchFamily="2" charset="-122"/>
              </a:rPr>
              <a:t>构建根系目标自动识别定位算法，智能解析树木粗根特征参数</a:t>
            </a:r>
            <a:r>
              <a:rPr lang="zh-CN" altLang="en-US" sz="1200" dirty="0">
                <a:latin typeface="+mn-lt"/>
                <a:ea typeface="+mn-ea"/>
              </a:rPr>
              <a:t>。研究方案分为三个步骤：首先是对</a:t>
            </a:r>
            <a:r>
              <a:rPr lang="en-US" altLang="zh-CN" dirty="0">
                <a:latin typeface="Times New Roman" panose="02020603050405020304" pitchFamily="18" charset="0"/>
                <a:ea typeface="宋体" panose="02010600030101010101" pitchFamily="2" charset="-122"/>
              </a:rPr>
              <a:t>GPR </a:t>
            </a:r>
            <a:r>
              <a:rPr lang="zh-CN" altLang="en-US" dirty="0">
                <a:latin typeface="Times New Roman" panose="02020603050405020304" pitchFamily="18" charset="0"/>
                <a:ea typeface="宋体" panose="02010600030101010101" pitchFamily="2" charset="-122"/>
              </a:rPr>
              <a:t>数据处理进行预处理，通过信号滤波、偏移矫正等操作让根系特征的提取更加便利；其次进行根系目标的识别定位，采用希尔伯特变换分析反射信号的瞬时振幅、或基于深度学习算法的识别定位根系双曲线等；最后进行粗根参数的解析，通过反射波的波形参数反演根系直径、长度、表面积、体积、生物量等特征参数。</a:t>
            </a:r>
            <a:endParaRPr lang="en-US" altLang="zh-CN" sz="1200" dirty="0">
              <a:latin typeface="+mn-lt"/>
              <a:ea typeface="+mn-ea"/>
            </a:endParaRPr>
          </a:p>
        </p:txBody>
      </p:sp>
      <p:sp>
        <p:nvSpPr>
          <p:cNvPr id="4" name="灯片编号占位符 3"/>
          <p:cNvSpPr>
            <a:spLocks noGrp="1"/>
          </p:cNvSpPr>
          <p:nvPr>
            <p:ph type="sldNum" sz="quarter" idx="10"/>
          </p:nvPr>
        </p:nvSpPr>
        <p:spPr/>
        <p:txBody>
          <a:bodyPr/>
          <a:lstStyle/>
          <a:p>
            <a:fld id="{6F95BF76-5F8C-4BB1-B0BC-1971D2EEF300}" type="slidenum">
              <a:rPr lang="zh-CN" altLang="en-US" smtClean="0"/>
              <a:t>14</a:t>
            </a:fld>
            <a:endParaRPr lang="zh-CN" altLang="en-US"/>
          </a:p>
        </p:txBody>
      </p:sp>
    </p:spTree>
    <p:extLst>
      <p:ext uri="{BB962C8B-B14F-4D97-AF65-F5344CB8AC3E}">
        <p14:creationId xmlns:p14="http://schemas.microsoft.com/office/powerpoint/2010/main" val="713885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第三个研究内容：</a:t>
            </a:r>
            <a:r>
              <a:rPr lang="zh-CN" altLang="en-US" sz="1200" dirty="0">
                <a:latin typeface="Times New Roman" panose="02020603050405020304" pitchFamily="18" charset="0"/>
                <a:ea typeface="宋体" panose="02010600030101010101" pitchFamily="2" charset="-122"/>
              </a:rPr>
              <a:t>开发根系构型三维重建和可视化方法，无损反演地下根系空间分布。基于根系的识别结果，我们将对比和分析不同根系扫描方式下根系定位的差异、对比和分析不同天线频率下根系特征提取的效果差异以及</a:t>
            </a:r>
            <a:r>
              <a:rPr lang="zh-CN" altLang="en-US" sz="1200" b="0" i="0" dirty="0">
                <a:solidFill>
                  <a:schemeClr val="bg1"/>
                </a:solidFill>
                <a:effectLst/>
                <a:latin typeface="Inter"/>
                <a:ea typeface="宋体" panose="02010600030101010101" pitchFamily="2" charset="-122"/>
              </a:rPr>
              <a:t>融合多维特征重建</a:t>
            </a:r>
            <a:r>
              <a:rPr lang="zh-CN" altLang="en-US" sz="1200" b="0" i="0">
                <a:solidFill>
                  <a:schemeClr val="bg1"/>
                </a:solidFill>
                <a:effectLst/>
                <a:latin typeface="Inter"/>
                <a:ea typeface="宋体" panose="02010600030101010101" pitchFamily="2" charset="-122"/>
              </a:rPr>
              <a:t>根系构型</a:t>
            </a:r>
            <a:r>
              <a:rPr lang="zh-CN" altLang="en-US" sz="1200">
                <a:latin typeface="Times New Roman" panose="02020603050405020304" pitchFamily="18" charset="0"/>
                <a:ea typeface="宋体" panose="02010600030101010101" pitchFamily="2" charset="-122"/>
              </a:rPr>
              <a:t>。</a:t>
            </a:r>
            <a:endParaRPr lang="zh-CN" altLang="en-US" sz="1200" dirty="0">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10"/>
          </p:nvPr>
        </p:nvSpPr>
        <p:spPr/>
        <p:txBody>
          <a:bodyPr/>
          <a:lstStyle/>
          <a:p>
            <a:fld id="{6F95BF76-5F8C-4BB1-B0BC-1971D2EEF300}" type="slidenum">
              <a:rPr lang="zh-CN" altLang="en-US" smtClean="0"/>
              <a:t>15</a:t>
            </a:fld>
            <a:endParaRPr lang="zh-CN" altLang="en-US"/>
          </a:p>
        </p:txBody>
      </p:sp>
    </p:spTree>
    <p:extLst>
      <p:ext uri="{BB962C8B-B14F-4D97-AF65-F5344CB8AC3E}">
        <p14:creationId xmlns:p14="http://schemas.microsoft.com/office/powerpoint/2010/main" val="4280237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第五部分，研究计划与预期成果</a:t>
            </a:r>
          </a:p>
        </p:txBody>
      </p:sp>
      <p:sp>
        <p:nvSpPr>
          <p:cNvPr id="4" name="灯片编号占位符 3"/>
          <p:cNvSpPr>
            <a:spLocks noGrp="1"/>
          </p:cNvSpPr>
          <p:nvPr>
            <p:ph type="sldNum" sz="quarter" idx="10"/>
          </p:nvPr>
        </p:nvSpPr>
        <p:spPr/>
        <p:txBody>
          <a:bodyPr/>
          <a:lstStyle/>
          <a:p>
            <a:fld id="{6F95BF76-5F8C-4BB1-B0BC-1971D2EEF300}" type="slidenum">
              <a:rPr lang="zh-CN" altLang="en-US" smtClean="0"/>
              <a:t>16</a:t>
            </a:fld>
            <a:endParaRPr lang="zh-CN" altLang="en-US"/>
          </a:p>
        </p:txBody>
      </p:sp>
    </p:spTree>
    <p:extLst>
      <p:ext uri="{BB962C8B-B14F-4D97-AF65-F5344CB8AC3E}">
        <p14:creationId xmlns:p14="http://schemas.microsoft.com/office/powerpoint/2010/main" val="38885019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50000"/>
              </a:lnSpc>
              <a:spcAft>
                <a:spcPts val="0"/>
              </a:spcAft>
              <a:tabLst>
                <a:tab pos="604520" algn="l"/>
              </a:tabLst>
            </a:pPr>
            <a:r>
              <a:rPr lang="zh-CN" altLang="en-US" kern="0" dirty="0">
                <a:solidFill>
                  <a:srgbClr val="000000"/>
                </a:solidFill>
                <a:latin typeface="Times New Roman" panose="02020603050405020304" pitchFamily="18" charset="0"/>
                <a:ea typeface="宋体" panose="02010600030101010101" pitchFamily="2" charset="-122"/>
              </a:rPr>
              <a:t>这项研究在一年期内的研究计划如图所示。预期成果包括：</a:t>
            </a:r>
            <a:endParaRPr lang="en-US" altLang="zh-CN" kern="0" dirty="0">
              <a:solidFill>
                <a:srgbClr val="000000"/>
              </a:solidFill>
              <a:latin typeface="Times New Roman" panose="02020603050405020304" pitchFamily="18" charset="0"/>
              <a:ea typeface="宋体" panose="02010600030101010101" pitchFamily="2" charset="-122"/>
            </a:endParaRPr>
          </a:p>
        </p:txBody>
      </p:sp>
      <p:sp>
        <p:nvSpPr>
          <p:cNvPr id="4" name="灯片编号占位符 3"/>
          <p:cNvSpPr>
            <a:spLocks noGrp="1"/>
          </p:cNvSpPr>
          <p:nvPr>
            <p:ph type="sldNum" sz="quarter" idx="10"/>
          </p:nvPr>
        </p:nvSpPr>
        <p:spPr/>
        <p:txBody>
          <a:bodyPr/>
          <a:lstStyle/>
          <a:p>
            <a:fld id="{6F95BF76-5F8C-4BB1-B0BC-1971D2EEF300}" type="slidenum">
              <a:rPr lang="zh-CN" altLang="en-US" smtClean="0"/>
              <a:t>17</a:t>
            </a:fld>
            <a:endParaRPr lang="zh-CN" altLang="en-US"/>
          </a:p>
        </p:txBody>
      </p:sp>
    </p:spTree>
    <p:extLst>
      <p:ext uri="{BB962C8B-B14F-4D97-AF65-F5344CB8AC3E}">
        <p14:creationId xmlns:p14="http://schemas.microsoft.com/office/powerpoint/2010/main" val="4099321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以上是我汇报的所有内容，敬请各位老师批评指正，谢谢。</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F95BF76-5F8C-4BB1-B0BC-1971D2EEF300}" type="slidenum">
              <a:rPr lang="zh-CN" altLang="en-US" smtClean="0"/>
              <a:t>18</a:t>
            </a:fld>
            <a:endParaRPr lang="zh-CN" altLang="en-US"/>
          </a:p>
        </p:txBody>
      </p:sp>
    </p:spTree>
    <p:extLst>
      <p:ext uri="{BB962C8B-B14F-4D97-AF65-F5344CB8AC3E}">
        <p14:creationId xmlns:p14="http://schemas.microsoft.com/office/powerpoint/2010/main" val="204282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AB46EDB7-E062-4109-8D3B-322D254888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3" name="页脚占位符 4">
            <a:extLst>
              <a:ext uri="{FF2B5EF4-FFF2-40B4-BE49-F238E27FC236}">
                <a16:creationId xmlns:a16="http://schemas.microsoft.com/office/drawing/2014/main" id="{3AFC1086-5F3E-4DF3-B195-EABB13427A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42F804E-E80F-4E74-B2A5-AC69C397630D}"/>
              </a:ext>
            </a:extLst>
          </p:cNvPr>
          <p:cNvSpPr>
            <a:spLocks noGrp="1"/>
          </p:cNvSpPr>
          <p:nvPr>
            <p:ph type="sldNum" sz="quarter" idx="4"/>
          </p:nvPr>
        </p:nvSpPr>
        <p:spPr>
          <a:xfrm>
            <a:off x="8839200" y="64459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D8FDCA-5F31-45C2-9228-1965BA17AD8A}" type="slidenum">
              <a:rPr lang="zh-CN" altLang="en-US" smtClean="0"/>
              <a:t>‹#›</a:t>
            </a:fld>
            <a:endParaRPr lang="zh-CN" altLang="en-US"/>
          </a:p>
        </p:txBody>
      </p:sp>
    </p:spTree>
    <p:extLst>
      <p:ext uri="{BB962C8B-B14F-4D97-AF65-F5344CB8AC3E}">
        <p14:creationId xmlns:p14="http://schemas.microsoft.com/office/powerpoint/2010/main" val="3918026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0FDA5A3-DBC4-4521-A290-1C7529416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3" name="页脚占位符 4">
            <a:extLst>
              <a:ext uri="{FF2B5EF4-FFF2-40B4-BE49-F238E27FC236}">
                <a16:creationId xmlns:a16="http://schemas.microsoft.com/office/drawing/2014/main" id="{45497AB1-D854-41CC-B244-FB2EA9607B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DACD4D3-DFC2-49F1-AFD9-DB879D0D9E46}"/>
              </a:ext>
            </a:extLst>
          </p:cNvPr>
          <p:cNvSpPr>
            <a:spLocks noGrp="1"/>
          </p:cNvSpPr>
          <p:nvPr>
            <p:ph type="sldNum" sz="quarter" idx="4"/>
          </p:nvPr>
        </p:nvSpPr>
        <p:spPr>
          <a:xfrm>
            <a:off x="8839200" y="64459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dirty="0"/>
              <a:t>第 </a:t>
            </a:r>
            <a:fld id="{84377AA6-5F82-4755-B29C-FAB6A572A0B7}" type="slidenum">
              <a:rPr lang="zh-CN" altLang="en-US" smtClean="0"/>
              <a:pPr/>
              <a:t>‹#›</a:t>
            </a:fld>
            <a:r>
              <a:rPr lang="zh-CN" altLang="en-US" dirty="0"/>
              <a:t> 页</a:t>
            </a:r>
          </a:p>
        </p:txBody>
      </p:sp>
    </p:spTree>
    <p:extLst>
      <p:ext uri="{BB962C8B-B14F-4D97-AF65-F5344CB8AC3E}">
        <p14:creationId xmlns:p14="http://schemas.microsoft.com/office/powerpoint/2010/main" val="362453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E4427E2-0B4D-404E-AD0D-850B895D1B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3" name="页脚占位符 4">
            <a:extLst>
              <a:ext uri="{FF2B5EF4-FFF2-40B4-BE49-F238E27FC236}">
                <a16:creationId xmlns:a16="http://schemas.microsoft.com/office/drawing/2014/main" id="{A15F17EE-704F-4153-B9E7-5CD9C3A438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27B8735-F64D-40FE-AE92-5F61ABC61853}"/>
              </a:ext>
            </a:extLst>
          </p:cNvPr>
          <p:cNvSpPr>
            <a:spLocks noGrp="1"/>
          </p:cNvSpPr>
          <p:nvPr>
            <p:ph type="sldNum" sz="quarter" idx="4"/>
          </p:nvPr>
        </p:nvSpPr>
        <p:spPr>
          <a:xfrm>
            <a:off x="8839200" y="64459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D8FDCA-5F31-45C2-9228-1965BA17AD8A}" type="slidenum">
              <a:rPr lang="zh-CN" altLang="en-US" smtClean="0"/>
              <a:t>‹#›</a:t>
            </a:fld>
            <a:endParaRPr lang="zh-CN" altLang="en-US" dirty="0"/>
          </a:p>
        </p:txBody>
      </p:sp>
    </p:spTree>
    <p:extLst>
      <p:ext uri="{BB962C8B-B14F-4D97-AF65-F5344CB8AC3E}">
        <p14:creationId xmlns:p14="http://schemas.microsoft.com/office/powerpoint/2010/main" val="1133079730"/>
      </p:ext>
    </p:extLst>
  </p:cSld>
  <p:clrMap bg1="lt1" tx1="dk1" bg2="lt2" tx2="dk2" accent1="accent1" accent2="accent2" accent3="accent3" accent4="accent4" accent5="accent5" accent6="accent6" hlink="hlink" folHlink="folHlink"/>
  <p:sldLayoutIdLst>
    <p:sldLayoutId id="2147483661" r:id="rId1"/>
    <p:sldLayoutId id="2147483662"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384">
          <p15:clr>
            <a:srgbClr val="F26B43"/>
          </p15:clr>
        </p15:guide>
        <p15:guide id="4" pos="7296">
          <p15:clr>
            <a:srgbClr val="F26B43"/>
          </p15:clr>
        </p15:guide>
        <p15:guide id="5" orient="horz" pos="432">
          <p15:clr>
            <a:srgbClr val="F26B43"/>
          </p15:clr>
        </p15:guide>
        <p15:guide id="6" orient="horz" pos="496">
          <p15:clr>
            <a:srgbClr val="F26B43"/>
          </p15:clr>
        </p15:guide>
        <p15:guide id="7" orient="horz" pos="4104">
          <p15:clr>
            <a:srgbClr val="F26B43"/>
          </p15:clr>
        </p15:guide>
        <p15:guide id="8" orient="horz" pos="40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tm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tmp"/><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tmp"/><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tmp"/></Relationships>
</file>

<file path=ppt/slides/_rels/slide8.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tmp"/><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jpg"/><Relationship Id="rId4" Type="http://schemas.openxmlformats.org/officeDocument/2006/relationships/image" Target="../media/image5.tm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4724400" y="6492875"/>
            <a:ext cx="2743200" cy="365125"/>
          </a:xfrm>
        </p:spPr>
        <p:txBody>
          <a:bodyPr/>
          <a:lstStyle/>
          <a:p>
            <a:fld id="{7CD8FDCA-5F31-45C2-9228-1965BA17AD8A}" type="slidenum">
              <a:rPr lang="zh-CN" altLang="en-US" smtClean="0"/>
              <a:t>1</a:t>
            </a:fld>
            <a:endParaRPr lang="zh-CN" altLang="en-US"/>
          </a:p>
        </p:txBody>
      </p:sp>
      <p:sp>
        <p:nvSpPr>
          <p:cNvPr id="4" name="矩形 3"/>
          <p:cNvSpPr/>
          <p:nvPr/>
        </p:nvSpPr>
        <p:spPr>
          <a:xfrm>
            <a:off x="0" y="3349967"/>
            <a:ext cx="12192000" cy="3508033"/>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3"/>
          <a:srcRect t="22316" b="8631"/>
          <a:stretch/>
        </p:blipFill>
        <p:spPr>
          <a:xfrm>
            <a:off x="0" y="0"/>
            <a:ext cx="12192000" cy="2340000"/>
          </a:xfrm>
          <a:prstGeom prst="flowChartDocument">
            <a:avLst/>
          </a:prstGeom>
        </p:spPr>
      </p:pic>
      <p:sp>
        <p:nvSpPr>
          <p:cNvPr id="6" name="流程图: 文档 5"/>
          <p:cNvSpPr/>
          <p:nvPr/>
        </p:nvSpPr>
        <p:spPr>
          <a:xfrm>
            <a:off x="0" y="-302"/>
            <a:ext cx="12192000" cy="2340000"/>
          </a:xfrm>
          <a:prstGeom prst="flowChartDocument">
            <a:avLst/>
          </a:prstGeom>
          <a:solidFill>
            <a:schemeClr val="accent3">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校标与各学院中英文名称左右组合.pdf - Adobe Reade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2896" t="47143" r="15920" b="31720"/>
          <a:stretch/>
        </p:blipFill>
        <p:spPr>
          <a:xfrm>
            <a:off x="7980974" y="0"/>
            <a:ext cx="4211025" cy="864000"/>
          </a:xfrm>
          <a:prstGeom prst="rect">
            <a:avLst/>
          </a:prstGeom>
        </p:spPr>
      </p:pic>
      <p:sp>
        <p:nvSpPr>
          <p:cNvPr id="20" name="矩形 19"/>
          <p:cNvSpPr/>
          <p:nvPr/>
        </p:nvSpPr>
        <p:spPr>
          <a:xfrm>
            <a:off x="1788695" y="2456016"/>
            <a:ext cx="8614610" cy="1487458"/>
          </a:xfrm>
          <a:prstGeom prst="rect">
            <a:avLst/>
          </a:prstGeom>
        </p:spPr>
        <p:txBody>
          <a:bodyPr wrap="square">
            <a:spAutoFit/>
          </a:bodyPr>
          <a:lstStyle/>
          <a:p>
            <a:pPr lvl="0" algn="ctr" defTabSz="685783">
              <a:lnSpc>
                <a:spcPct val="125000"/>
              </a:lnSpc>
              <a:defRPr/>
            </a:pPr>
            <a:r>
              <a:rPr lang="zh-CN" altLang="en-US" sz="3800" b="1" spc="5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基于深度学习的树木根系表型多参数雷达波解析方法研究</a:t>
            </a:r>
          </a:p>
        </p:txBody>
      </p:sp>
      <p:sp>
        <p:nvSpPr>
          <p:cNvPr id="11" name="文本框 10">
            <a:extLst>
              <a:ext uri="{FF2B5EF4-FFF2-40B4-BE49-F238E27FC236}">
                <a16:creationId xmlns:a16="http://schemas.microsoft.com/office/drawing/2014/main" id="{57143697-8555-28C1-0374-B634237DEF74}"/>
              </a:ext>
            </a:extLst>
          </p:cNvPr>
          <p:cNvSpPr txBox="1"/>
          <p:nvPr/>
        </p:nvSpPr>
        <p:spPr>
          <a:xfrm>
            <a:off x="4894727" y="6264144"/>
            <a:ext cx="2402547" cy="400110"/>
          </a:xfrm>
          <a:prstGeom prst="rect">
            <a:avLst/>
          </a:prstGeom>
          <a:noFill/>
        </p:spPr>
        <p:txBody>
          <a:bodyPr wrap="square">
            <a:spAutoFit/>
          </a:bodyPr>
          <a:lstStyle/>
          <a:p>
            <a:pPr eaLnBrk="1" fontAlgn="auto" hangingPunct="1">
              <a:spcBef>
                <a:spcPts val="0"/>
              </a:spcBef>
              <a:spcAft>
                <a:spcPts val="0"/>
              </a:spcAft>
              <a:defRPr/>
            </a:pPr>
            <a:r>
              <a:rPr lang="en-US" altLang="zh-CN" sz="2000" b="1" spc="300" dirty="0">
                <a:latin typeface="宋体" panose="02010600030101010101" pitchFamily="2" charset="-122"/>
                <a:ea typeface="宋体" panose="02010600030101010101" pitchFamily="2" charset="-122"/>
              </a:rPr>
              <a:t>2025</a:t>
            </a:r>
            <a:r>
              <a:rPr lang="zh-CN" altLang="en-US" sz="2000" b="1" spc="300" dirty="0">
                <a:latin typeface="宋体" panose="02010600030101010101" pitchFamily="2" charset="-122"/>
                <a:ea typeface="宋体" panose="02010600030101010101" pitchFamily="2" charset="-122"/>
              </a:rPr>
              <a:t>年</a:t>
            </a:r>
            <a:r>
              <a:rPr lang="en-US" altLang="zh-CN" sz="2000" b="1" spc="300" dirty="0">
                <a:latin typeface="宋体" panose="02010600030101010101" pitchFamily="2" charset="-122"/>
                <a:ea typeface="宋体" panose="02010600030101010101" pitchFamily="2" charset="-122"/>
              </a:rPr>
              <a:t>9</a:t>
            </a:r>
            <a:r>
              <a:rPr lang="zh-CN" altLang="en-US" sz="2000" b="1" spc="300" dirty="0">
                <a:latin typeface="宋体" panose="02010600030101010101" pitchFamily="2" charset="-122"/>
                <a:ea typeface="宋体" panose="02010600030101010101" pitchFamily="2" charset="-122"/>
              </a:rPr>
              <a:t>月日</a:t>
            </a:r>
            <a:endParaRPr lang="zh-HK" altLang="en-US" sz="2000" b="1" spc="300" dirty="0">
              <a:latin typeface="宋体" panose="02010600030101010101" pitchFamily="2" charset="-122"/>
              <a:ea typeface="宋体" panose="02010600030101010101" pitchFamily="2" charset="-122"/>
            </a:endParaRPr>
          </a:p>
        </p:txBody>
      </p:sp>
      <p:grpSp>
        <p:nvGrpSpPr>
          <p:cNvPr id="12" name="组合 11"/>
          <p:cNvGrpSpPr/>
          <p:nvPr/>
        </p:nvGrpSpPr>
        <p:grpSpPr>
          <a:xfrm>
            <a:off x="3098732" y="4429405"/>
            <a:ext cx="5994536" cy="1482968"/>
            <a:chOff x="2400439" y="4588490"/>
            <a:chExt cx="5994536" cy="1482968"/>
          </a:xfrm>
        </p:grpSpPr>
        <p:grpSp>
          <p:nvGrpSpPr>
            <p:cNvPr id="13" name="组合 12">
              <a:extLst>
                <a:ext uri="{FF2B5EF4-FFF2-40B4-BE49-F238E27FC236}">
                  <a16:creationId xmlns:a16="http://schemas.microsoft.com/office/drawing/2014/main" id="{1D79D7F8-CCAE-8F19-7BCD-670FD6285DD6}"/>
                </a:ext>
              </a:extLst>
            </p:cNvPr>
            <p:cNvGrpSpPr/>
            <p:nvPr/>
          </p:nvGrpSpPr>
          <p:grpSpPr>
            <a:xfrm>
              <a:off x="2400439" y="4588490"/>
              <a:ext cx="5994535" cy="400902"/>
              <a:chOff x="2690812" y="4308475"/>
              <a:chExt cx="5994535" cy="400902"/>
            </a:xfrm>
          </p:grpSpPr>
          <p:sp>
            <p:nvSpPr>
              <p:cNvPr id="22" name="矩形 21">
                <a:extLst>
                  <a:ext uri="{FF2B5EF4-FFF2-40B4-BE49-F238E27FC236}">
                    <a16:creationId xmlns:a16="http://schemas.microsoft.com/office/drawing/2014/main" id="{F24AD09E-C1AD-4774-718F-67391B009360}"/>
                  </a:ext>
                </a:extLst>
              </p:cNvPr>
              <p:cNvSpPr/>
              <p:nvPr/>
            </p:nvSpPr>
            <p:spPr>
              <a:xfrm>
                <a:off x="2690812" y="4308475"/>
                <a:ext cx="1596993" cy="400050"/>
              </a:xfrm>
              <a:prstGeom prst="rect">
                <a:avLst/>
              </a:prstGeom>
              <a:solidFill>
                <a:srgbClr val="39476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dist" eaLnBrk="1" fontAlgn="auto" hangingPunct="1">
                  <a:spcBef>
                    <a:spcPts val="0"/>
                  </a:spcBef>
                  <a:spcAft>
                    <a:spcPts val="0"/>
                  </a:spcAft>
                  <a:defRPr/>
                </a:pPr>
                <a:r>
                  <a:rPr lang="zh-CN" altLang="en-US" sz="2000" b="1" spc="600" dirty="0">
                    <a:latin typeface="宋体" panose="02010600030101010101" pitchFamily="2" charset="-122"/>
                    <a:ea typeface="宋体" panose="02010600030101010101" pitchFamily="2" charset="-122"/>
                  </a:rPr>
                  <a:t>汇报人</a:t>
                </a:r>
                <a:endParaRPr lang="zh-HK" altLang="en-US" sz="2000" b="1" spc="600" dirty="0">
                  <a:latin typeface="宋体" panose="02010600030101010101" pitchFamily="2" charset="-122"/>
                  <a:ea typeface="宋体" panose="02010600030101010101" pitchFamily="2" charset="-122"/>
                </a:endParaRPr>
              </a:p>
            </p:txBody>
          </p:sp>
          <p:sp>
            <p:nvSpPr>
              <p:cNvPr id="23" name="文本框 24">
                <a:extLst>
                  <a:ext uri="{FF2B5EF4-FFF2-40B4-BE49-F238E27FC236}">
                    <a16:creationId xmlns:a16="http://schemas.microsoft.com/office/drawing/2014/main" id="{0A863900-D78E-4EC7-E25F-AB24A15F3746}"/>
                  </a:ext>
                </a:extLst>
              </p:cNvPr>
              <p:cNvSpPr txBox="1"/>
              <p:nvPr/>
            </p:nvSpPr>
            <p:spPr>
              <a:xfrm>
                <a:off x="4423998" y="4309267"/>
                <a:ext cx="4261349" cy="400110"/>
              </a:xfrm>
              <a:prstGeom prst="rect">
                <a:avLst/>
              </a:prstGeom>
              <a:noFill/>
            </p:spPr>
            <p:txBody>
              <a:bodyPr wrap="square">
                <a:spAutoFit/>
              </a:bodyPr>
              <a:lstStyle/>
              <a:p>
                <a:pPr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许青山</a:t>
                </a:r>
                <a:endParaRPr lang="zh-HK" altLang="en-US" sz="2000" b="1" spc="300" dirty="0">
                  <a:latin typeface="宋体" panose="02010600030101010101" pitchFamily="2" charset="-122"/>
                  <a:ea typeface="宋体" panose="02010600030101010101" pitchFamily="2" charset="-122"/>
                </a:endParaRPr>
              </a:p>
            </p:txBody>
          </p:sp>
        </p:grpSp>
        <p:grpSp>
          <p:nvGrpSpPr>
            <p:cNvPr id="14" name="组合 13">
              <a:extLst>
                <a:ext uri="{FF2B5EF4-FFF2-40B4-BE49-F238E27FC236}">
                  <a16:creationId xmlns:a16="http://schemas.microsoft.com/office/drawing/2014/main" id="{56E0D49E-BBD4-A03D-5874-CE336656F15F}"/>
                </a:ext>
              </a:extLst>
            </p:cNvPr>
            <p:cNvGrpSpPr/>
            <p:nvPr/>
          </p:nvGrpSpPr>
          <p:grpSpPr>
            <a:xfrm>
              <a:off x="2400440" y="5122552"/>
              <a:ext cx="5994535" cy="410231"/>
              <a:chOff x="2690813" y="4308475"/>
              <a:chExt cx="5994535" cy="410231"/>
            </a:xfrm>
          </p:grpSpPr>
          <p:sp>
            <p:nvSpPr>
              <p:cNvPr id="18" name="矩形 17">
                <a:extLst>
                  <a:ext uri="{FF2B5EF4-FFF2-40B4-BE49-F238E27FC236}">
                    <a16:creationId xmlns:a16="http://schemas.microsoft.com/office/drawing/2014/main" id="{8E897028-4CCE-B7FA-95B4-9AEDCD50B7C3}"/>
                  </a:ext>
                </a:extLst>
              </p:cNvPr>
              <p:cNvSpPr/>
              <p:nvPr/>
            </p:nvSpPr>
            <p:spPr>
              <a:xfrm>
                <a:off x="2690813" y="4308475"/>
                <a:ext cx="1596992" cy="400050"/>
              </a:xfrm>
              <a:prstGeom prst="rect">
                <a:avLst/>
              </a:prstGeom>
              <a:solidFill>
                <a:srgbClr val="39476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dist"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指导教师</a:t>
                </a:r>
                <a:endParaRPr lang="zh-HK" altLang="en-US" sz="2000" b="1" spc="200" dirty="0">
                  <a:latin typeface="宋体" panose="02010600030101010101" pitchFamily="2" charset="-122"/>
                  <a:ea typeface="宋体" panose="02010600030101010101" pitchFamily="2" charset="-122"/>
                </a:endParaRPr>
              </a:p>
            </p:txBody>
          </p:sp>
          <p:sp>
            <p:nvSpPr>
              <p:cNvPr id="21" name="文本框 24">
                <a:extLst>
                  <a:ext uri="{FF2B5EF4-FFF2-40B4-BE49-F238E27FC236}">
                    <a16:creationId xmlns:a16="http://schemas.microsoft.com/office/drawing/2014/main" id="{D12A4586-2343-E62B-4C0E-824D5C287D8D}"/>
                  </a:ext>
                </a:extLst>
              </p:cNvPr>
              <p:cNvSpPr txBox="1"/>
              <p:nvPr/>
            </p:nvSpPr>
            <p:spPr>
              <a:xfrm>
                <a:off x="4423999" y="4318596"/>
                <a:ext cx="4261349" cy="400110"/>
              </a:xfrm>
              <a:prstGeom prst="rect">
                <a:avLst/>
              </a:prstGeom>
              <a:noFill/>
            </p:spPr>
            <p:txBody>
              <a:bodyPr wrap="square">
                <a:spAutoFit/>
              </a:bodyPr>
              <a:lstStyle/>
              <a:p>
                <a:pPr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梁浩 副教授</a:t>
                </a:r>
                <a:endParaRPr lang="zh-HK" altLang="en-US" sz="2000" b="1" spc="300" dirty="0">
                  <a:latin typeface="宋体" panose="02010600030101010101" pitchFamily="2" charset="-122"/>
                  <a:ea typeface="宋体" panose="02010600030101010101" pitchFamily="2" charset="-122"/>
                </a:endParaRPr>
              </a:p>
            </p:txBody>
          </p:sp>
        </p:grpSp>
        <p:grpSp>
          <p:nvGrpSpPr>
            <p:cNvPr id="15" name="组合 14">
              <a:extLst>
                <a:ext uri="{FF2B5EF4-FFF2-40B4-BE49-F238E27FC236}">
                  <a16:creationId xmlns:a16="http://schemas.microsoft.com/office/drawing/2014/main" id="{8EB779A6-31BC-B580-AF8F-3B5C4061EAAB}"/>
                </a:ext>
              </a:extLst>
            </p:cNvPr>
            <p:cNvGrpSpPr/>
            <p:nvPr/>
          </p:nvGrpSpPr>
          <p:grpSpPr>
            <a:xfrm>
              <a:off x="2400440" y="5656614"/>
              <a:ext cx="5994534" cy="414844"/>
              <a:chOff x="2690813" y="4308475"/>
              <a:chExt cx="5994534" cy="414844"/>
            </a:xfrm>
          </p:grpSpPr>
          <p:sp>
            <p:nvSpPr>
              <p:cNvPr id="16" name="矩形 15">
                <a:extLst>
                  <a:ext uri="{FF2B5EF4-FFF2-40B4-BE49-F238E27FC236}">
                    <a16:creationId xmlns:a16="http://schemas.microsoft.com/office/drawing/2014/main" id="{34250783-4941-5B03-3329-01328F84B8BF}"/>
                  </a:ext>
                </a:extLst>
              </p:cNvPr>
              <p:cNvSpPr/>
              <p:nvPr/>
            </p:nvSpPr>
            <p:spPr>
              <a:xfrm>
                <a:off x="2690813" y="4308475"/>
                <a:ext cx="1596992" cy="400050"/>
              </a:xfrm>
              <a:prstGeom prst="rect">
                <a:avLst/>
              </a:prstGeom>
              <a:solidFill>
                <a:srgbClr val="39476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dist"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学  科</a:t>
                </a:r>
                <a:endParaRPr lang="zh-HK" altLang="en-US" sz="2000" b="1" spc="200" dirty="0">
                  <a:latin typeface="宋体" panose="02010600030101010101" pitchFamily="2" charset="-122"/>
                  <a:ea typeface="宋体" panose="02010600030101010101" pitchFamily="2" charset="-122"/>
                </a:endParaRPr>
              </a:p>
            </p:txBody>
          </p:sp>
          <p:sp>
            <p:nvSpPr>
              <p:cNvPr id="17" name="文本框 24">
                <a:extLst>
                  <a:ext uri="{FF2B5EF4-FFF2-40B4-BE49-F238E27FC236}">
                    <a16:creationId xmlns:a16="http://schemas.microsoft.com/office/drawing/2014/main" id="{59C8A630-8B8A-B1D3-C88E-0AA75F97935B}"/>
                  </a:ext>
                </a:extLst>
              </p:cNvPr>
              <p:cNvSpPr txBox="1"/>
              <p:nvPr/>
            </p:nvSpPr>
            <p:spPr>
              <a:xfrm>
                <a:off x="4423999" y="4323209"/>
                <a:ext cx="4261348" cy="400110"/>
              </a:xfrm>
              <a:prstGeom prst="rect">
                <a:avLst/>
              </a:prstGeom>
              <a:noFill/>
            </p:spPr>
            <p:txBody>
              <a:bodyPr wrap="square">
                <a:spAutoFit/>
              </a:bodyPr>
              <a:lstStyle/>
              <a:p>
                <a:pPr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电子信息</a:t>
                </a:r>
                <a:endParaRPr lang="zh-HK" altLang="en-US" sz="2000" b="1" spc="300" dirty="0">
                  <a:latin typeface="宋体" panose="02010600030101010101" pitchFamily="2" charset="-122"/>
                  <a:ea typeface="宋体" panose="02010600030101010101" pitchFamily="2" charset="-122"/>
                </a:endParaRPr>
              </a:p>
            </p:txBody>
          </p:sp>
        </p:grpSp>
      </p:grpSp>
    </p:spTree>
    <p:extLst>
      <p:ext uri="{BB962C8B-B14F-4D97-AF65-F5344CB8AC3E}">
        <p14:creationId xmlns:p14="http://schemas.microsoft.com/office/powerpoint/2010/main" val="3942479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3120571" cy="6858000"/>
          </a:xfrm>
          <a:prstGeom prst="rect">
            <a:avLst/>
          </a:prstGeom>
          <a:solidFill>
            <a:srgbClr val="0056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5" name="powerpoint template design by DAJU_PPT正版来源小红书大橘PPT微信DAJU_PPT请勿抄袭搬运！盗版必究！">
            <a:extLst>
              <a:ext uri="{FF2B5EF4-FFF2-40B4-BE49-F238E27FC236}">
                <a16:creationId xmlns:a16="http://schemas.microsoft.com/office/drawing/2014/main" id="{600EBE13-6021-4DDA-AABE-7D0C6DF6E6F4}"/>
              </a:ext>
            </a:extLst>
          </p:cNvPr>
          <p:cNvSpPr/>
          <p:nvPr/>
        </p:nvSpPr>
        <p:spPr>
          <a:xfrm>
            <a:off x="306196" y="931271"/>
            <a:ext cx="2481192" cy="634020"/>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en-US" sz="3200" b="1" dirty="0">
                <a:solidFill>
                  <a:schemeClr val="bg2"/>
                </a:solidFill>
                <a:latin typeface="+mj-ea"/>
                <a:ea typeface="+mj-ea"/>
                <a:cs typeface="+mn-ea"/>
                <a:sym typeface="+mn-lt"/>
              </a:rPr>
              <a:t>CONTENTS</a:t>
            </a:r>
          </a:p>
        </p:txBody>
      </p:sp>
      <p:sp>
        <p:nvSpPr>
          <p:cNvPr id="6" name="powerpoint template design by DAJU_PPT正版来源小红书大橘PPT微信DAJU_PPT请勿抄袭搬运！盗版必究！">
            <a:extLst>
              <a:ext uri="{FF2B5EF4-FFF2-40B4-BE49-F238E27FC236}">
                <a16:creationId xmlns:a16="http://schemas.microsoft.com/office/drawing/2014/main" id="{04D810FB-B2CF-4AD5-BA71-D18E8234D0A7}"/>
              </a:ext>
            </a:extLst>
          </p:cNvPr>
          <p:cNvSpPr/>
          <p:nvPr/>
        </p:nvSpPr>
        <p:spPr>
          <a:xfrm>
            <a:off x="890203" y="314625"/>
            <a:ext cx="1313180" cy="837152"/>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zh-CN" altLang="en-US" sz="4400" b="1" dirty="0">
                <a:solidFill>
                  <a:schemeClr val="bg2"/>
                </a:solidFill>
                <a:latin typeface="+mj-ea"/>
                <a:ea typeface="+mj-ea"/>
                <a:cs typeface="+mn-ea"/>
                <a:sym typeface="+mn-lt"/>
              </a:rPr>
              <a:t>目录</a:t>
            </a:r>
            <a:endParaRPr lang="en-US" sz="4400" b="1" dirty="0">
              <a:solidFill>
                <a:schemeClr val="bg2"/>
              </a:solidFill>
              <a:latin typeface="+mj-ea"/>
              <a:ea typeface="+mj-ea"/>
              <a:cs typeface="+mn-ea"/>
              <a:sym typeface="+mn-lt"/>
            </a:endParaRPr>
          </a:p>
        </p:txBody>
      </p:sp>
      <p:sp>
        <p:nvSpPr>
          <p:cNvPr id="7"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2</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圆角矩形 7"/>
          <p:cNvSpPr/>
          <p:nvPr/>
        </p:nvSpPr>
        <p:spPr>
          <a:xfrm>
            <a:off x="2072742" y="1953995"/>
            <a:ext cx="7020000" cy="504000"/>
          </a:xfrm>
          <a:prstGeom prst="roundRect">
            <a:avLst/>
          </a:prstGeom>
          <a:solidFill>
            <a:srgbClr val="ABB7CD"/>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9" name="圆角矩形 8"/>
          <p:cNvSpPr/>
          <p:nvPr/>
        </p:nvSpPr>
        <p:spPr>
          <a:xfrm>
            <a:off x="2873171" y="200799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1</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0" name="圆角矩形 9"/>
          <p:cNvSpPr/>
          <p:nvPr/>
        </p:nvSpPr>
        <p:spPr>
          <a:xfrm>
            <a:off x="3606643" y="1970417"/>
            <a:ext cx="4693601" cy="468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rgbClr val="1A5FFA"/>
                </a:solidFill>
                <a:latin typeface="楷体" panose="02010609060101010101" pitchFamily="49" charset="-122"/>
                <a:ea typeface="楷体" panose="02010609060101010101" pitchFamily="49" charset="-122"/>
                <a:cs typeface="Times New Roman" panose="02020603050405020304" pitchFamily="18" charset="0"/>
              </a:rPr>
              <a:t>研究背景与意义</a:t>
            </a:r>
          </a:p>
        </p:txBody>
      </p:sp>
      <p:sp>
        <p:nvSpPr>
          <p:cNvPr id="11" name="圆角矩形 10"/>
          <p:cNvSpPr/>
          <p:nvPr/>
        </p:nvSpPr>
        <p:spPr>
          <a:xfrm>
            <a:off x="2072742" y="267957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12" name="圆角矩形 11"/>
          <p:cNvSpPr/>
          <p:nvPr/>
        </p:nvSpPr>
        <p:spPr>
          <a:xfrm>
            <a:off x="2873171" y="273357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2</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3" name="圆角矩形 12"/>
          <p:cNvSpPr/>
          <p:nvPr/>
        </p:nvSpPr>
        <p:spPr>
          <a:xfrm>
            <a:off x="3606643" y="2695997"/>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国内外研究现状</a:t>
            </a:r>
          </a:p>
        </p:txBody>
      </p:sp>
      <p:sp>
        <p:nvSpPr>
          <p:cNvPr id="14" name="圆角矩形 13"/>
          <p:cNvSpPr/>
          <p:nvPr/>
        </p:nvSpPr>
        <p:spPr>
          <a:xfrm>
            <a:off x="2072742" y="340515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15" name="圆角矩形 14"/>
          <p:cNvSpPr/>
          <p:nvPr/>
        </p:nvSpPr>
        <p:spPr>
          <a:xfrm>
            <a:off x="2873171" y="345915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3</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6" name="圆角矩形 15"/>
          <p:cNvSpPr/>
          <p:nvPr/>
        </p:nvSpPr>
        <p:spPr>
          <a:xfrm>
            <a:off x="3606643" y="3421577"/>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研究思路与技术路线</a:t>
            </a:r>
          </a:p>
        </p:txBody>
      </p:sp>
      <p:sp>
        <p:nvSpPr>
          <p:cNvPr id="17" name="圆角矩形 16"/>
          <p:cNvSpPr/>
          <p:nvPr/>
        </p:nvSpPr>
        <p:spPr>
          <a:xfrm>
            <a:off x="2072742" y="4129958"/>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18" name="圆角矩形 17"/>
          <p:cNvSpPr/>
          <p:nvPr/>
        </p:nvSpPr>
        <p:spPr>
          <a:xfrm>
            <a:off x="2873171" y="4183958"/>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4</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9" name="圆角矩形 18"/>
          <p:cNvSpPr/>
          <p:nvPr/>
        </p:nvSpPr>
        <p:spPr>
          <a:xfrm>
            <a:off x="3606643" y="4146380"/>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研究内容与方案</a:t>
            </a:r>
          </a:p>
        </p:txBody>
      </p:sp>
      <p:sp>
        <p:nvSpPr>
          <p:cNvPr id="20" name="圆角矩形 19"/>
          <p:cNvSpPr/>
          <p:nvPr/>
        </p:nvSpPr>
        <p:spPr>
          <a:xfrm>
            <a:off x="2072742" y="4848839"/>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21" name="圆角矩形 20"/>
          <p:cNvSpPr/>
          <p:nvPr/>
        </p:nvSpPr>
        <p:spPr>
          <a:xfrm>
            <a:off x="2873171" y="4902839"/>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5</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22" name="圆角矩形 21"/>
          <p:cNvSpPr/>
          <p:nvPr/>
        </p:nvSpPr>
        <p:spPr>
          <a:xfrm>
            <a:off x="3606643" y="4865261"/>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研究计划与预期成果</a:t>
            </a:r>
          </a:p>
        </p:txBody>
      </p:sp>
    </p:spTree>
    <p:extLst>
      <p:ext uri="{BB962C8B-B14F-4D97-AF65-F5344CB8AC3E}">
        <p14:creationId xmlns:p14="http://schemas.microsoft.com/office/powerpoint/2010/main" val="3451448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85"/>
          <p:cNvSpPr>
            <a:spLocks noChangeArrowheads="1"/>
          </p:cNvSpPr>
          <p:nvPr/>
        </p:nvSpPr>
        <p:spPr bwMode="auto">
          <a:xfrm>
            <a:off x="0" y="0"/>
            <a:ext cx="12192000" cy="90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indent="457200">
              <a:lnSpc>
                <a:spcPct val="100000"/>
              </a:lnSpc>
              <a:spcBef>
                <a:spcPct val="0"/>
              </a:spcBef>
              <a:buNone/>
            </a:pPr>
            <a:r>
              <a:rPr lang="zh-CN" altLang="en-US" sz="2400" b="1" dirty="0">
                <a:solidFill>
                  <a:srgbClr val="FFFFFF"/>
                </a:solidFill>
                <a:latin typeface="宋体" panose="02010600030101010101" pitchFamily="2" charset="-122"/>
                <a:ea typeface="宋体" panose="02010600030101010101" pitchFamily="2" charset="-122"/>
                <a:sym typeface="宋体" panose="02010600030101010101" pitchFamily="2" charset="-122"/>
              </a:rPr>
              <a:t>根系在生态环境中的重要性</a:t>
            </a:r>
          </a:p>
        </p:txBody>
      </p:sp>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3</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22" name="圆角矩形 21"/>
          <p:cNvSpPr/>
          <p:nvPr/>
        </p:nvSpPr>
        <p:spPr>
          <a:xfrm>
            <a:off x="585194" y="5960480"/>
            <a:ext cx="11021612" cy="476726"/>
          </a:xfrm>
          <a:prstGeom prst="roundRect">
            <a:avLst/>
          </a:prstGeom>
          <a:solidFill>
            <a:schemeClr val="bg1">
              <a:lumMod val="95000"/>
            </a:schemeClr>
          </a:solidFill>
        </p:spPr>
        <p:txBody>
          <a:bodyPr wrap="square">
            <a:spAutoFit/>
          </a:bodyPr>
          <a:lstStyle/>
          <a:p>
            <a:pPr algn="ctr"/>
            <a:r>
              <a:rPr lang="zh-CN" altLang="en-US" sz="2200" b="1"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ea typeface="宋体" panose="02010600030101010101" pitchFamily="2" charset="-122"/>
                <a:cs typeface="Times New Roman" panose="02020603050405020304" pitchFamily="18" charset="0"/>
              </a:rPr>
              <a:t>根系作为森林地下的核心组成部分，其精准监测是构建森林智能监测体系的关键环节！</a:t>
            </a:r>
            <a:endParaRPr lang="zh-CN" altLang="en-US" sz="2200" b="1" dirty="0">
              <a:ln w="0"/>
              <a:solidFill>
                <a:srgbClr val="002060"/>
              </a:solidFill>
              <a:effectLst>
                <a:outerShdw blurRad="38100" dist="19050" dir="2700000" algn="tl" rotWithShape="0">
                  <a:schemeClr val="dk1">
                    <a:alpha val="40000"/>
                  </a:schemeClr>
                </a:outerShdw>
              </a:effectLst>
            </a:endParaRPr>
          </a:p>
        </p:txBody>
      </p:sp>
      <p:pic>
        <p:nvPicPr>
          <p:cNvPr id="2" name="图片 1">
            <a:extLst>
              <a:ext uri="{FF2B5EF4-FFF2-40B4-BE49-F238E27FC236}">
                <a16:creationId xmlns:a16="http://schemas.microsoft.com/office/drawing/2014/main" id="{AEB0C133-A937-4643-989C-649820F98D51}"/>
              </a:ext>
            </a:extLst>
          </p:cNvPr>
          <p:cNvPicPr>
            <a:picLocks noChangeAspect="1"/>
          </p:cNvPicPr>
          <p:nvPr/>
        </p:nvPicPr>
        <p:blipFill>
          <a:blip r:embed="rId3"/>
          <a:stretch>
            <a:fillRect/>
          </a:stretch>
        </p:blipFill>
        <p:spPr>
          <a:xfrm>
            <a:off x="6333420" y="2069434"/>
            <a:ext cx="4515396" cy="290924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7" name="图片 6">
            <a:extLst>
              <a:ext uri="{FF2B5EF4-FFF2-40B4-BE49-F238E27FC236}">
                <a16:creationId xmlns:a16="http://schemas.microsoft.com/office/drawing/2014/main" id="{BDAB40D0-22D1-40C5-8536-A6496E4DF8A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43184" y="1585591"/>
            <a:ext cx="3806332" cy="368681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503005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1896" y="72000"/>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一、研究背景与意义</a:t>
            </a:r>
          </a:p>
        </p:txBody>
      </p:sp>
      <p:pic>
        <p:nvPicPr>
          <p:cNvPr id="5" name="图片 4" descr="校标与各学院中英文名称左右组合.pdf - Adobe Reade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4</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C9DB24E3-4CFE-63C6-48E2-EBA3A63D1ECA}"/>
              </a:ext>
            </a:extLst>
          </p:cNvPr>
          <p:cNvSpPr txBox="1"/>
          <p:nvPr/>
        </p:nvSpPr>
        <p:spPr>
          <a:xfrm>
            <a:off x="0" y="884445"/>
            <a:ext cx="3172178"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1.2</a:t>
            </a:r>
            <a:r>
              <a:rPr lang="zh-CN" altLang="en-US" sz="2000" b="1" dirty="0">
                <a:solidFill>
                  <a:srgbClr val="394761"/>
                </a:solidFill>
                <a:latin typeface="微软雅黑" panose="020B0503020204020204" pitchFamily="34" charset="-122"/>
                <a:ea typeface="微软雅黑" panose="020B0503020204020204" pitchFamily="34" charset="-122"/>
              </a:rPr>
              <a:t> 常见根系观测方法</a:t>
            </a:r>
          </a:p>
        </p:txBody>
      </p:sp>
      <p:sp>
        <p:nvSpPr>
          <p:cNvPr id="36" name="AutoShape 4" descr="Details are in the caption following the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43" name="组合 42"/>
          <p:cNvGrpSpPr/>
          <p:nvPr/>
        </p:nvGrpSpPr>
        <p:grpSpPr>
          <a:xfrm>
            <a:off x="251158" y="1515042"/>
            <a:ext cx="8020084" cy="4837157"/>
            <a:chOff x="768966" y="1422365"/>
            <a:chExt cx="8020084" cy="4837157"/>
          </a:xfrm>
        </p:grpSpPr>
        <p:pic>
          <p:nvPicPr>
            <p:cNvPr id="18" name="图片 17"/>
            <p:cNvPicPr>
              <a:picLocks noChangeAspect="1"/>
            </p:cNvPicPr>
            <p:nvPr/>
          </p:nvPicPr>
          <p:blipFill rotWithShape="1">
            <a:blip r:embed="rId4"/>
            <a:srcRect t="10622" r="324"/>
            <a:stretch/>
          </p:blipFill>
          <p:spPr>
            <a:xfrm>
              <a:off x="6269050" y="2183263"/>
              <a:ext cx="2520000" cy="1544029"/>
            </a:xfrm>
            <a:prstGeom prst="rect">
              <a:avLst/>
            </a:prstGeom>
          </p:spPr>
        </p:pic>
        <p:sp>
          <p:nvSpPr>
            <p:cNvPr id="25" name="矩形 24"/>
            <p:cNvSpPr/>
            <p:nvPr/>
          </p:nvSpPr>
          <p:spPr>
            <a:xfrm>
              <a:off x="6267750" y="1422365"/>
              <a:ext cx="2520000" cy="430887"/>
            </a:xfrm>
            <a:prstGeom prst="rect">
              <a:avLst/>
            </a:prstGeom>
            <a:solidFill>
              <a:srgbClr val="394761"/>
            </a:solidFill>
          </p:spPr>
          <p:txBody>
            <a:bodyPr wrap="square">
              <a:spAutoFit/>
            </a:bodyPr>
            <a:lstStyle/>
            <a:p>
              <a:pPr algn="ctr"/>
              <a:r>
                <a:rPr lang="zh-CN" altLang="en-US" sz="2200" b="1" dirty="0">
                  <a:solidFill>
                    <a:schemeClr val="bg1"/>
                  </a:solidFill>
                  <a:latin typeface="Inter"/>
                  <a:ea typeface="宋体" panose="02010600030101010101" pitchFamily="2" charset="-122"/>
                </a:rPr>
                <a:t>非破坏性观测方法</a:t>
              </a:r>
            </a:p>
          </p:txBody>
        </p:sp>
        <p:sp>
          <p:nvSpPr>
            <p:cNvPr id="26" name="矩形 25"/>
            <p:cNvSpPr/>
            <p:nvPr/>
          </p:nvSpPr>
          <p:spPr>
            <a:xfrm>
              <a:off x="3519008" y="1422365"/>
              <a:ext cx="2520000" cy="430887"/>
            </a:xfrm>
            <a:prstGeom prst="rect">
              <a:avLst/>
            </a:prstGeom>
            <a:solidFill>
              <a:srgbClr val="394761"/>
            </a:solidFill>
          </p:spPr>
          <p:txBody>
            <a:bodyPr wrap="square">
              <a:spAutoFit/>
            </a:bodyPr>
            <a:lstStyle/>
            <a:p>
              <a:pPr algn="ctr"/>
              <a:r>
                <a:rPr lang="zh-CN" altLang="en-US" sz="2200" b="1" dirty="0">
                  <a:solidFill>
                    <a:schemeClr val="bg1"/>
                  </a:solidFill>
                  <a:latin typeface="Inter"/>
                  <a:ea typeface="宋体" panose="02010600030101010101" pitchFamily="2" charset="-122"/>
                </a:rPr>
                <a:t>半破坏性观测方法</a:t>
              </a:r>
            </a:p>
          </p:txBody>
        </p:sp>
        <p:sp>
          <p:nvSpPr>
            <p:cNvPr id="27" name="矩形 26"/>
            <p:cNvSpPr/>
            <p:nvPr/>
          </p:nvSpPr>
          <p:spPr>
            <a:xfrm>
              <a:off x="768966" y="1422365"/>
              <a:ext cx="2519999" cy="430887"/>
            </a:xfrm>
            <a:prstGeom prst="rect">
              <a:avLst/>
            </a:prstGeom>
            <a:solidFill>
              <a:srgbClr val="394761"/>
            </a:solidFill>
          </p:spPr>
          <p:txBody>
            <a:bodyPr wrap="square">
              <a:spAutoFit/>
            </a:bodyPr>
            <a:lstStyle/>
            <a:p>
              <a:pPr algn="ctr"/>
              <a:r>
                <a:rPr lang="zh-CN" altLang="en-US" sz="2200" b="1" dirty="0">
                  <a:solidFill>
                    <a:schemeClr val="bg1"/>
                  </a:solidFill>
                  <a:latin typeface="Inter"/>
                  <a:ea typeface="宋体" panose="02010600030101010101" pitchFamily="2" charset="-122"/>
                </a:rPr>
                <a:t>破坏性观测方法</a:t>
              </a:r>
              <a:endParaRPr lang="zh-CN" altLang="en-US" sz="2200" b="1" i="0" dirty="0">
                <a:solidFill>
                  <a:schemeClr val="bg1"/>
                </a:solidFill>
                <a:effectLst/>
                <a:latin typeface="Inter"/>
                <a:ea typeface="宋体" panose="02010600030101010101" pitchFamily="2" charset="-122"/>
              </a:endParaRPr>
            </a:p>
          </p:txBody>
        </p:sp>
        <p:sp>
          <p:nvSpPr>
            <p:cNvPr id="38" name="矩形 37"/>
            <p:cNvSpPr/>
            <p:nvPr/>
          </p:nvSpPr>
          <p:spPr>
            <a:xfrm>
              <a:off x="3519008" y="5587118"/>
              <a:ext cx="2617395" cy="292388"/>
            </a:xfrm>
            <a:prstGeom prst="rect">
              <a:avLst/>
            </a:prstGeom>
          </p:spPr>
          <p:txBody>
            <a:bodyPr wrap="square">
              <a:spAutoFit/>
            </a:bodyPr>
            <a:lstStyle/>
            <a:p>
              <a:pPr algn="ctr"/>
              <a:endParaRPr lang="zh-CN" altLang="en-US" sz="1300" dirty="0"/>
            </a:p>
          </p:txBody>
        </p:sp>
        <p:sp>
          <p:nvSpPr>
            <p:cNvPr id="37" name="矩形 36"/>
            <p:cNvSpPr/>
            <p:nvPr/>
          </p:nvSpPr>
          <p:spPr>
            <a:xfrm>
              <a:off x="768966" y="3627577"/>
              <a:ext cx="2520000" cy="507831"/>
            </a:xfrm>
            <a:prstGeom prst="rect">
              <a:avLst/>
            </a:prstGeom>
          </p:spPr>
          <p:txBody>
            <a:bodyPr wrap="square">
              <a:spAutoFit/>
            </a:bodyPr>
            <a:lstStyle/>
            <a:p>
              <a:pPr algn="ctr">
                <a:lnSpc>
                  <a:spcPct val="150000"/>
                </a:lnSpc>
              </a:pPr>
              <a:r>
                <a:rPr lang="zh-CN" altLang="en-US" dirty="0">
                  <a:latin typeface="Times New Roman" panose="02020603050405020304" pitchFamily="18" charset="0"/>
                  <a:ea typeface="宋体" panose="02010600030101010101" pitchFamily="2" charset="-122"/>
                </a:rPr>
                <a:t>剖面挖掘</a:t>
              </a:r>
              <a:endParaRPr lang="en-US" altLang="zh-CN" dirty="0">
                <a:latin typeface="Times New Roman" panose="02020603050405020304" pitchFamily="18" charset="0"/>
                <a:ea typeface="宋体" panose="02010600030101010101" pitchFamily="2" charset="-122"/>
              </a:endParaRPr>
            </a:p>
          </p:txBody>
        </p:sp>
        <p:sp>
          <p:nvSpPr>
            <p:cNvPr id="44" name="矩形 43"/>
            <p:cNvSpPr/>
            <p:nvPr/>
          </p:nvSpPr>
          <p:spPr>
            <a:xfrm>
              <a:off x="768966" y="5804269"/>
              <a:ext cx="2520000" cy="455253"/>
            </a:xfrm>
            <a:prstGeom prst="rect">
              <a:avLst/>
            </a:prstGeom>
          </p:spPr>
          <p:txBody>
            <a:bodyPr wrap="square">
              <a:spAutoFit/>
            </a:bodyPr>
            <a:lstStyle/>
            <a:p>
              <a:pPr algn="ctr">
                <a:lnSpc>
                  <a:spcPct val="150000"/>
                </a:lnSpc>
              </a:pPr>
              <a:r>
                <a:rPr lang="zh-CN" altLang="en-US" dirty="0">
                  <a:latin typeface="Times New Roman" panose="02020603050405020304" pitchFamily="18" charset="0"/>
                  <a:ea typeface="宋体" panose="02010600030101010101" pitchFamily="2" charset="-122"/>
                </a:rPr>
                <a:t>整根挖掘</a:t>
              </a:r>
              <a:endParaRPr lang="en-US" altLang="zh-CN" dirty="0">
                <a:latin typeface="Times New Roman" panose="02020603050405020304" pitchFamily="18" charset="0"/>
                <a:ea typeface="宋体" panose="02010600030101010101" pitchFamily="2" charset="-122"/>
              </a:endParaRPr>
            </a:p>
          </p:txBody>
        </p:sp>
        <p:sp>
          <p:nvSpPr>
            <p:cNvPr id="45" name="矩形 44"/>
            <p:cNvSpPr/>
            <p:nvPr/>
          </p:nvSpPr>
          <p:spPr>
            <a:xfrm>
              <a:off x="3519008" y="3627577"/>
              <a:ext cx="2520000" cy="455253"/>
            </a:xfrm>
            <a:prstGeom prst="rect">
              <a:avLst/>
            </a:prstGeom>
          </p:spPr>
          <p:txBody>
            <a:bodyPr wrap="square">
              <a:spAutoFit/>
            </a:bodyPr>
            <a:lstStyle/>
            <a:p>
              <a:pPr algn="ctr">
                <a:lnSpc>
                  <a:spcPct val="150000"/>
                </a:lnSpc>
              </a:pPr>
              <a:r>
                <a:rPr lang="zh-CN" altLang="en-US" dirty="0">
                  <a:latin typeface="Times New Roman" panose="02020603050405020304" pitchFamily="18" charset="0"/>
                  <a:ea typeface="宋体" panose="02010600030101010101" pitchFamily="2" charset="-122"/>
                </a:rPr>
                <a:t>根钻取样</a:t>
              </a:r>
              <a:endParaRPr lang="en-US" altLang="zh-CN" dirty="0">
                <a:latin typeface="Times New Roman" panose="02020603050405020304" pitchFamily="18" charset="0"/>
                <a:ea typeface="宋体" panose="02010600030101010101" pitchFamily="2" charset="-122"/>
              </a:endParaRPr>
            </a:p>
          </p:txBody>
        </p:sp>
        <p:sp>
          <p:nvSpPr>
            <p:cNvPr id="46" name="矩形 45"/>
            <p:cNvSpPr/>
            <p:nvPr/>
          </p:nvSpPr>
          <p:spPr>
            <a:xfrm>
              <a:off x="3519008" y="5804269"/>
              <a:ext cx="2520000" cy="455253"/>
            </a:xfrm>
            <a:prstGeom prst="rect">
              <a:avLst/>
            </a:prstGeom>
          </p:spPr>
          <p:txBody>
            <a:bodyPr wrap="square">
              <a:spAutoFit/>
            </a:bodyPr>
            <a:lstStyle/>
            <a:p>
              <a:pPr algn="ctr">
                <a:lnSpc>
                  <a:spcPct val="150000"/>
                </a:lnSpc>
              </a:pPr>
              <a:r>
                <a:rPr lang="zh-CN" altLang="en-US" dirty="0">
                  <a:latin typeface="Times New Roman" panose="02020603050405020304" pitchFamily="18" charset="0"/>
                  <a:ea typeface="宋体" panose="02010600030101010101" pitchFamily="2" charset="-122"/>
                </a:rPr>
                <a:t>微根管</a:t>
              </a:r>
              <a:endParaRPr lang="en-US" altLang="zh-CN" dirty="0">
                <a:latin typeface="Times New Roman" panose="02020603050405020304" pitchFamily="18" charset="0"/>
                <a:ea typeface="宋体" panose="02010600030101010101" pitchFamily="2" charset="-122"/>
              </a:endParaRPr>
            </a:p>
          </p:txBody>
        </p:sp>
        <p:sp>
          <p:nvSpPr>
            <p:cNvPr id="47" name="矩形 46"/>
            <p:cNvSpPr/>
            <p:nvPr/>
          </p:nvSpPr>
          <p:spPr>
            <a:xfrm>
              <a:off x="6267749" y="3623270"/>
              <a:ext cx="2520000" cy="507831"/>
            </a:xfrm>
            <a:prstGeom prst="rect">
              <a:avLst/>
            </a:prstGeom>
          </p:spPr>
          <p:txBody>
            <a:bodyPr wrap="square">
              <a:spAutoFit/>
            </a:bodyPr>
            <a:lstStyle/>
            <a:p>
              <a:pPr algn="ctr">
                <a:lnSpc>
                  <a:spcPct val="150000"/>
                </a:lnSpc>
              </a:pPr>
              <a:r>
                <a:rPr lang="zh-CN" altLang="en-US" dirty="0">
                  <a:solidFill>
                    <a:srgbClr val="FF0000"/>
                  </a:solidFill>
                  <a:latin typeface="Times New Roman" panose="02020603050405020304" pitchFamily="18" charset="0"/>
                  <a:ea typeface="宋体" panose="02010600030101010101" pitchFamily="2" charset="-122"/>
                </a:rPr>
                <a:t>探地雷达 </a:t>
              </a:r>
              <a:r>
                <a:rPr lang="en-US" altLang="zh-CN" dirty="0">
                  <a:solidFill>
                    <a:srgbClr val="FF0000"/>
                  </a:solidFill>
                  <a:latin typeface="Times New Roman" panose="02020603050405020304" pitchFamily="18" charset="0"/>
                  <a:ea typeface="宋体" panose="02010600030101010101" pitchFamily="2" charset="-122"/>
                </a:rPr>
                <a:t>(GPR)</a:t>
              </a:r>
              <a:r>
                <a:rPr lang="zh-CN" altLang="en-US"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48" name="矩形 47"/>
            <p:cNvSpPr/>
            <p:nvPr/>
          </p:nvSpPr>
          <p:spPr>
            <a:xfrm>
              <a:off x="6267749" y="5799962"/>
              <a:ext cx="2520000" cy="455253"/>
            </a:xfrm>
            <a:prstGeom prst="rect">
              <a:avLst/>
            </a:prstGeom>
          </p:spPr>
          <p:txBody>
            <a:bodyPr wrap="square">
              <a:spAutoFit/>
            </a:bodyPr>
            <a:lstStyle/>
            <a:p>
              <a:pPr algn="ctr">
                <a:lnSpc>
                  <a:spcPct val="150000"/>
                </a:lnSpc>
              </a:pPr>
              <a:r>
                <a:rPr lang="zh-CN" altLang="en-US" dirty="0">
                  <a:latin typeface="Times New Roman" panose="02020603050405020304" pitchFamily="18" charset="0"/>
                  <a:ea typeface="宋体" panose="02010600030101010101" pitchFamily="2" charset="-122"/>
                </a:rPr>
                <a:t>电阻率成像 </a:t>
              </a:r>
              <a:r>
                <a:rPr lang="en-US" altLang="zh-CN" dirty="0">
                  <a:latin typeface="Times New Roman" panose="02020603050405020304" pitchFamily="18" charset="0"/>
                  <a:ea typeface="宋体" panose="02010600030101010101" pitchFamily="2" charset="-122"/>
                </a:rPr>
                <a:t>(ERT)</a:t>
              </a:r>
            </a:p>
          </p:txBody>
        </p:sp>
      </p:grpSp>
      <p:sp>
        <p:nvSpPr>
          <p:cNvPr id="51" name="矩形 50"/>
          <p:cNvSpPr/>
          <p:nvPr/>
        </p:nvSpPr>
        <p:spPr>
          <a:xfrm>
            <a:off x="8597334" y="1490084"/>
            <a:ext cx="3440476" cy="4876561"/>
          </a:xfrm>
          <a:prstGeom prst="rect">
            <a:avLst/>
          </a:prstGeom>
          <a:solidFill>
            <a:srgbClr val="D2D9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sz="1600" dirty="0">
              <a:solidFill>
                <a:srgbClr val="FF0000"/>
              </a:solidFill>
              <a:latin typeface="Times New Roman" panose="02020603050405020304" pitchFamily="18" charset="0"/>
              <a:ea typeface="宋体" panose="02010600030101010101" pitchFamily="2" charset="-122"/>
            </a:endParaRPr>
          </a:p>
          <a:p>
            <a:endParaRPr lang="en-US" altLang="zh-CN" sz="1600" dirty="0">
              <a:solidFill>
                <a:srgbClr val="FF0000"/>
              </a:solidFill>
              <a:latin typeface="Times New Roman" panose="02020603050405020304" pitchFamily="18" charset="0"/>
              <a:ea typeface="宋体" panose="02010600030101010101" pitchFamily="2" charset="-122"/>
            </a:endParaRPr>
          </a:p>
          <a:p>
            <a:endParaRPr lang="en-US" altLang="zh-CN" sz="1600" dirty="0">
              <a:solidFill>
                <a:srgbClr val="FF0000"/>
              </a:solidFill>
              <a:latin typeface="Times New Roman" panose="02020603050405020304" pitchFamily="18" charset="0"/>
              <a:ea typeface="宋体" panose="02010600030101010101" pitchFamily="2" charset="-122"/>
            </a:endParaRPr>
          </a:p>
          <a:p>
            <a:endParaRPr lang="en-US" altLang="zh-CN" sz="1600" dirty="0">
              <a:solidFill>
                <a:srgbClr val="FF0000"/>
              </a:solidFill>
              <a:latin typeface="Times New Roman" panose="02020603050405020304" pitchFamily="18" charset="0"/>
              <a:ea typeface="宋体" panose="02010600030101010101" pitchFamily="2" charset="-122"/>
            </a:endParaRPr>
          </a:p>
          <a:p>
            <a:endParaRPr lang="en-US" altLang="zh-CN" sz="1600" dirty="0">
              <a:solidFill>
                <a:srgbClr val="FF0000"/>
              </a:solidFill>
              <a:latin typeface="Times New Roman" panose="02020603050405020304" pitchFamily="18" charset="0"/>
              <a:ea typeface="宋体" panose="02010600030101010101" pitchFamily="2" charset="-122"/>
            </a:endParaRPr>
          </a:p>
          <a:p>
            <a:endParaRPr lang="en-US" altLang="zh-CN" sz="1600" dirty="0">
              <a:solidFill>
                <a:srgbClr val="FF0000"/>
              </a:solidFill>
              <a:latin typeface="Times New Roman" panose="02020603050405020304" pitchFamily="18" charset="0"/>
              <a:ea typeface="宋体" panose="02010600030101010101" pitchFamily="2" charset="-122"/>
            </a:endParaRPr>
          </a:p>
          <a:p>
            <a:endParaRPr lang="en-US" altLang="zh-CN" sz="1600" dirty="0">
              <a:solidFill>
                <a:srgbClr val="FF0000"/>
              </a:solidFill>
              <a:latin typeface="Times New Roman" panose="02020603050405020304" pitchFamily="18" charset="0"/>
              <a:ea typeface="宋体" panose="02010600030101010101" pitchFamily="2" charset="-122"/>
            </a:endParaRPr>
          </a:p>
          <a:p>
            <a:endParaRPr lang="en-US" altLang="zh-CN" sz="1600" dirty="0">
              <a:solidFill>
                <a:srgbClr val="FF0000"/>
              </a:solidFill>
              <a:latin typeface="Times New Roman" panose="02020603050405020304" pitchFamily="18" charset="0"/>
              <a:ea typeface="宋体" panose="02010600030101010101" pitchFamily="2" charset="-122"/>
            </a:endParaRPr>
          </a:p>
          <a:p>
            <a:endParaRPr lang="en-US" altLang="zh-CN" sz="1600" dirty="0">
              <a:solidFill>
                <a:srgbClr val="FF0000"/>
              </a:solidFill>
              <a:latin typeface="Times New Roman" panose="02020603050405020304" pitchFamily="18" charset="0"/>
              <a:ea typeface="宋体" panose="02010600030101010101" pitchFamily="2" charset="-122"/>
            </a:endParaRPr>
          </a:p>
          <a:p>
            <a:pPr algn="ctr"/>
            <a:r>
              <a:rPr lang="zh-CN" altLang="en-US" dirty="0">
                <a:solidFill>
                  <a:srgbClr val="FF0000"/>
                </a:solidFill>
                <a:latin typeface="Times New Roman" panose="02020603050405020304" pitchFamily="18" charset="0"/>
                <a:ea typeface="宋体" panose="02010600030101010101" pitchFamily="2" charset="-122"/>
              </a:rPr>
              <a:t>探地雷达</a:t>
            </a:r>
            <a:endParaRPr lang="en-US" altLang="zh-CN" dirty="0">
              <a:solidFill>
                <a:srgbClr val="FF0000"/>
              </a:solidFill>
              <a:latin typeface="Times New Roman" panose="02020603050405020304" pitchFamily="18" charset="0"/>
              <a:ea typeface="宋体" panose="02010600030101010101" pitchFamily="2" charset="-122"/>
            </a:endParaRPr>
          </a:p>
          <a:p>
            <a:pPr algn="ct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(Ground Penetrating Radar, GPR)</a:t>
            </a:r>
          </a:p>
          <a:p>
            <a:r>
              <a:rPr lang="zh-CN" altLang="en-US" dirty="0">
                <a:solidFill>
                  <a:srgbClr val="FF0000"/>
                </a:solidFill>
                <a:latin typeface="Times New Roman" panose="02020603050405020304" pitchFamily="18" charset="0"/>
                <a:ea typeface="宋体" panose="02010600030101010101" pitchFamily="2" charset="-122"/>
              </a:rPr>
              <a:t>原理：</a:t>
            </a:r>
            <a:r>
              <a:rPr lang="zh-CN" altLang="en-US" dirty="0">
                <a:solidFill>
                  <a:schemeClr val="tx1"/>
                </a:solidFill>
                <a:latin typeface="Times New Roman" panose="02020603050405020304" pitchFamily="18" charset="0"/>
                <a:ea typeface="宋体" panose="02010600030101010101" pitchFamily="2" charset="-122"/>
              </a:rPr>
              <a:t>地下</a:t>
            </a:r>
            <a:r>
              <a:rPr lang="zh-CN" altLang="en-US" u="sng" dirty="0">
                <a:solidFill>
                  <a:schemeClr val="tx1"/>
                </a:solidFill>
                <a:latin typeface="Times New Roman" panose="02020603050405020304" pitchFamily="18" charset="0"/>
                <a:ea typeface="宋体" panose="02010600030101010101" pitchFamily="2" charset="-122"/>
              </a:rPr>
              <a:t>介电特性不连续介质</a:t>
            </a:r>
            <a:r>
              <a:rPr lang="zh-CN" altLang="en-US" dirty="0">
                <a:solidFill>
                  <a:schemeClr val="tx1"/>
                </a:solidFill>
                <a:latin typeface="Times New Roman" panose="02020603050405020304" pitchFamily="18" charset="0"/>
                <a:ea typeface="宋体" panose="02010600030101010101" pitchFamily="2" charset="-122"/>
              </a:rPr>
              <a:t>会反射电磁波，通过反射波的行程时长、幅值相位、波形特征等参数反映地下介质的特征和属性。</a:t>
            </a:r>
            <a:endParaRPr lang="en-US" altLang="zh-CN" dirty="0">
              <a:solidFill>
                <a:schemeClr val="tx1"/>
              </a:solidFill>
              <a:latin typeface="Times New Roman" panose="02020603050405020304" pitchFamily="18" charset="0"/>
              <a:ea typeface="宋体" panose="02010600030101010101" pitchFamily="2" charset="-122"/>
            </a:endParaRPr>
          </a:p>
          <a:p>
            <a:r>
              <a:rPr lang="zh-CN" altLang="en-US" dirty="0">
                <a:solidFill>
                  <a:srgbClr val="FF0000"/>
                </a:solidFill>
                <a:latin typeface="Times New Roman" panose="02020603050405020304" pitchFamily="18" charset="0"/>
                <a:ea typeface="宋体" panose="02010600030101010101" pitchFamily="2" charset="-122"/>
              </a:rPr>
              <a:t>优点：</a:t>
            </a:r>
            <a:r>
              <a:rPr lang="zh-CN" altLang="en-US" dirty="0">
                <a:solidFill>
                  <a:schemeClr val="tx1"/>
                </a:solidFill>
                <a:latin typeface="Times New Roman" panose="02020603050405020304" pitchFamily="18" charset="0"/>
                <a:ea typeface="宋体" panose="02010600030101010101" pitchFamily="2" charset="-122"/>
              </a:rPr>
              <a:t>非破坏性观测、高分辨率成像、快速高效、应用广泛、便携灵活。</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2" name="矩形 1"/>
          <p:cNvSpPr/>
          <p:nvPr/>
        </p:nvSpPr>
        <p:spPr>
          <a:xfrm>
            <a:off x="248086" y="1490084"/>
            <a:ext cx="2519999" cy="4862115"/>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2990103" y="1504531"/>
            <a:ext cx="2519999" cy="4862115"/>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745568" y="1504530"/>
            <a:ext cx="2519999" cy="4862115"/>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24455501-CEF9-4894-B18F-DF0020359F00}"/>
              </a:ext>
            </a:extLst>
          </p:cNvPr>
          <p:cNvPicPr>
            <a:picLocks noChangeAspect="1"/>
          </p:cNvPicPr>
          <p:nvPr/>
        </p:nvPicPr>
        <p:blipFill>
          <a:blip r:embed="rId5"/>
          <a:stretch>
            <a:fillRect/>
          </a:stretch>
        </p:blipFill>
        <p:spPr>
          <a:xfrm>
            <a:off x="258980" y="2276218"/>
            <a:ext cx="2507728" cy="1468614"/>
          </a:xfrm>
          <a:prstGeom prst="rect">
            <a:avLst/>
          </a:prstGeom>
        </p:spPr>
      </p:pic>
      <p:pic>
        <p:nvPicPr>
          <p:cNvPr id="9" name="图片 8">
            <a:extLst>
              <a:ext uri="{FF2B5EF4-FFF2-40B4-BE49-F238E27FC236}">
                <a16:creationId xmlns:a16="http://schemas.microsoft.com/office/drawing/2014/main" id="{C844C601-F29D-409E-8C4A-26EEA3D9AB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8816" y="4283586"/>
            <a:ext cx="2504356" cy="1711717"/>
          </a:xfrm>
          <a:prstGeom prst="rect">
            <a:avLst/>
          </a:prstGeom>
        </p:spPr>
      </p:pic>
      <p:pic>
        <p:nvPicPr>
          <p:cNvPr id="12" name="图片 11">
            <a:extLst>
              <a:ext uri="{FF2B5EF4-FFF2-40B4-BE49-F238E27FC236}">
                <a16:creationId xmlns:a16="http://schemas.microsoft.com/office/drawing/2014/main" id="{7C369F04-D4F4-424B-92E4-C55AD93DD3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38067" y="2276218"/>
            <a:ext cx="2472035" cy="1468614"/>
          </a:xfrm>
          <a:prstGeom prst="rect">
            <a:avLst/>
          </a:prstGeom>
        </p:spPr>
      </p:pic>
      <p:pic>
        <p:nvPicPr>
          <p:cNvPr id="14" name="图片 13">
            <a:extLst>
              <a:ext uri="{FF2B5EF4-FFF2-40B4-BE49-F238E27FC236}">
                <a16:creationId xmlns:a16="http://schemas.microsoft.com/office/drawing/2014/main" id="{D741E485-1A86-4CA8-BDB3-ABF4F20EDF9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02590" y="4283586"/>
            <a:ext cx="2519019" cy="1711717"/>
          </a:xfrm>
          <a:prstGeom prst="rect">
            <a:avLst/>
          </a:prstGeom>
        </p:spPr>
      </p:pic>
      <p:pic>
        <p:nvPicPr>
          <p:cNvPr id="17" name="图片 16">
            <a:extLst>
              <a:ext uri="{FF2B5EF4-FFF2-40B4-BE49-F238E27FC236}">
                <a16:creationId xmlns:a16="http://schemas.microsoft.com/office/drawing/2014/main" id="{70CF96AF-7BDC-492A-B419-1FB4A355703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71126" y="4283587"/>
            <a:ext cx="2482410" cy="1688596"/>
          </a:xfrm>
          <a:prstGeom prst="rect">
            <a:avLst/>
          </a:prstGeom>
        </p:spPr>
      </p:pic>
      <p:pic>
        <p:nvPicPr>
          <p:cNvPr id="20" name="图片 19">
            <a:extLst>
              <a:ext uri="{FF2B5EF4-FFF2-40B4-BE49-F238E27FC236}">
                <a16:creationId xmlns:a16="http://schemas.microsoft.com/office/drawing/2014/main" id="{3D17758D-7834-4085-9C14-7819DE8B76E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33927" y="1845826"/>
            <a:ext cx="3206915" cy="1663786"/>
          </a:xfrm>
          <a:prstGeom prst="rect">
            <a:avLst/>
          </a:prstGeom>
        </p:spPr>
      </p:pic>
    </p:spTree>
    <p:extLst>
      <p:ext uri="{BB962C8B-B14F-4D97-AF65-F5344CB8AC3E}">
        <p14:creationId xmlns:p14="http://schemas.microsoft.com/office/powerpoint/2010/main" val="35435320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一、研究背景与意义</a:t>
            </a:r>
          </a:p>
        </p:txBody>
      </p:sp>
      <p:pic>
        <p:nvPicPr>
          <p:cNvPr id="5" name="图片 4" descr="校标与各学院中英文名称左右组合.pdf - Adobe Reade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5</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9DB24E3-4CFE-63C6-48E2-EBA3A63D1ECA}"/>
              </a:ext>
            </a:extLst>
          </p:cNvPr>
          <p:cNvSpPr txBox="1"/>
          <p:nvPr/>
        </p:nvSpPr>
        <p:spPr>
          <a:xfrm>
            <a:off x="-1" y="884445"/>
            <a:ext cx="3239911"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1.3</a:t>
            </a:r>
            <a:r>
              <a:rPr lang="zh-CN" altLang="en-US" sz="2000" b="1" dirty="0">
                <a:solidFill>
                  <a:srgbClr val="394761"/>
                </a:solidFill>
                <a:latin typeface="微软雅黑" panose="020B0503020204020204" pitchFamily="34" charset="-122"/>
                <a:ea typeface="微软雅黑" panose="020B0503020204020204" pitchFamily="34" charset="-122"/>
              </a:rPr>
              <a:t> </a:t>
            </a:r>
            <a:r>
              <a:rPr lang="en-US" altLang="zh-CN" sz="2000" b="1" dirty="0">
                <a:solidFill>
                  <a:srgbClr val="394761"/>
                </a:solidFill>
                <a:latin typeface="微软雅黑" panose="020B0503020204020204" pitchFamily="34" charset="-122"/>
                <a:ea typeface="微软雅黑" panose="020B0503020204020204" pitchFamily="34" charset="-122"/>
              </a:rPr>
              <a:t>GPR</a:t>
            </a:r>
            <a:r>
              <a:rPr lang="zh-CN" altLang="en-US" sz="2000" b="1" dirty="0">
                <a:solidFill>
                  <a:srgbClr val="394761"/>
                </a:solidFill>
                <a:latin typeface="微软雅黑" panose="020B0503020204020204" pitchFamily="34" charset="-122"/>
                <a:ea typeface="微软雅黑" panose="020B0503020204020204" pitchFamily="34" charset="-122"/>
              </a:rPr>
              <a:t>根系成像原理</a:t>
            </a:r>
          </a:p>
        </p:txBody>
      </p:sp>
      <p:sp>
        <p:nvSpPr>
          <p:cNvPr id="65" name="文本框 64"/>
          <p:cNvSpPr txBox="1"/>
          <p:nvPr/>
        </p:nvSpPr>
        <p:spPr>
          <a:xfrm>
            <a:off x="557193" y="1343494"/>
            <a:ext cx="2065664" cy="215444"/>
          </a:xfrm>
          <a:prstGeom prst="rect">
            <a:avLst/>
          </a:prstGeom>
          <a:noFill/>
          <a:ln>
            <a:noFill/>
          </a:ln>
        </p:spPr>
        <p:txBody>
          <a:bodyPr wrap="square" lIns="0" tIns="0" rIns="0" bIns="0" rtlCol="0">
            <a:spAutoFit/>
          </a:bodyPr>
          <a:lstStyle/>
          <a:p>
            <a:pPr algn="ctr"/>
            <a:r>
              <a:rPr lang="en-US" altLang="zh-CN" sz="1400" b="1" dirty="0">
                <a:latin typeface="Times New Roman" panose="02020603050405020304" pitchFamily="18" charset="0"/>
                <a:ea typeface="楷体" panose="02010609060101010101" pitchFamily="49" charset="-122"/>
                <a:cs typeface="Times New Roman" panose="02020603050405020304" pitchFamily="18" charset="0"/>
              </a:rPr>
              <a:t>GPR</a:t>
            </a:r>
            <a:r>
              <a:rPr lang="zh-CN" altLang="en-US" sz="1400" b="1" dirty="0">
                <a:latin typeface="Times New Roman" panose="02020603050405020304" pitchFamily="18" charset="0"/>
                <a:ea typeface="楷体" panose="02010609060101010101" pitchFamily="49" charset="-122"/>
                <a:cs typeface="Times New Roman" panose="02020603050405020304" pitchFamily="18" charset="0"/>
              </a:rPr>
              <a:t>扫描方向</a:t>
            </a:r>
            <a:endParaRPr lang="en-US" altLang="zh-CN" sz="1400" b="1"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6" name="表格 65"/>
          <p:cNvGraphicFramePr>
            <a:graphicFrameLocks noGrp="1"/>
          </p:cNvGraphicFramePr>
          <p:nvPr>
            <p:extLst>
              <p:ext uri="{D42A27DB-BD31-4B8C-83A1-F6EECF244321}">
                <p14:modId xmlns:p14="http://schemas.microsoft.com/office/powerpoint/2010/main" val="2712651979"/>
              </p:ext>
            </p:extLst>
          </p:nvPr>
        </p:nvGraphicFramePr>
        <p:xfrm>
          <a:off x="476703" y="1894982"/>
          <a:ext cx="2227242" cy="3834000"/>
        </p:xfrm>
        <a:graphic>
          <a:graphicData uri="http://schemas.openxmlformats.org/drawingml/2006/table">
            <a:tbl>
              <a:tblPr firstRow="1" bandRow="1">
                <a:tableStyleId>{5C22544A-7EE6-4342-B048-85BDC9FD1C3A}</a:tableStyleId>
              </a:tblPr>
              <a:tblGrid>
                <a:gridCol w="2227242">
                  <a:extLst>
                    <a:ext uri="{9D8B030D-6E8A-4147-A177-3AD203B41FA5}">
                      <a16:colId xmlns:a16="http://schemas.microsoft.com/office/drawing/2014/main" val="182547021"/>
                    </a:ext>
                  </a:extLst>
                </a:gridCol>
              </a:tblGrid>
              <a:tr h="3834000">
                <a:tc>
                  <a:txBody>
                    <a:bodyPr/>
                    <a:lstStyle/>
                    <a:p>
                      <a:endParaRPr lang="zh-CN" altLang="en-US" dirty="0"/>
                    </a:p>
                  </a:txBody>
                  <a:tcPr>
                    <a:lnT w="19050" cap="flat" cmpd="sng" algn="ctr">
                      <a:solidFill>
                        <a:schemeClr val="tx1"/>
                      </a:solidFill>
                      <a:prstDash val="solid"/>
                      <a:round/>
                      <a:headEnd type="none" w="med" len="med"/>
                      <a:tailEnd type="none" w="med" len="med"/>
                    </a:lnT>
                    <a:solidFill>
                      <a:srgbClr val="D9D9D9"/>
                    </a:solidFill>
                  </a:tcPr>
                </a:tc>
                <a:extLst>
                  <a:ext uri="{0D108BD9-81ED-4DB2-BD59-A6C34878D82A}">
                    <a16:rowId xmlns:a16="http://schemas.microsoft.com/office/drawing/2014/main" val="2945511528"/>
                  </a:ext>
                </a:extLst>
              </a:tr>
            </a:tbl>
          </a:graphicData>
        </a:graphic>
      </p:graphicFrame>
      <p:sp>
        <p:nvSpPr>
          <p:cNvPr id="67" name="流程图: 接点 66"/>
          <p:cNvSpPr/>
          <p:nvPr/>
        </p:nvSpPr>
        <p:spPr>
          <a:xfrm>
            <a:off x="1215022" y="3109613"/>
            <a:ext cx="720000" cy="720000"/>
          </a:xfrm>
          <a:prstGeom prst="flowChartConnector">
            <a:avLst/>
          </a:prstGeom>
          <a:solidFill>
            <a:schemeClr val="tx1">
              <a:lumMod val="50000"/>
              <a:lumOff val="50000"/>
            </a:scheme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1405822" y="1703177"/>
            <a:ext cx="180000" cy="180000"/>
          </a:xfrm>
          <a:prstGeom prst="rect">
            <a:avLst/>
          </a:prstGeom>
          <a:solidFill>
            <a:srgbClr val="FF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9" name="矩形 68"/>
          <p:cNvSpPr/>
          <p:nvPr/>
        </p:nvSpPr>
        <p:spPr>
          <a:xfrm>
            <a:off x="1617056" y="1703177"/>
            <a:ext cx="180000" cy="180000"/>
          </a:xfrm>
          <a:prstGeom prst="rect">
            <a:avLst/>
          </a:prstGeom>
          <a:solidFill>
            <a:srgbClr val="1A5FF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70" name="直接箭头连接符 69"/>
          <p:cNvCxnSpPr>
            <a:stCxn id="68" idx="2"/>
            <a:endCxn id="67" idx="0"/>
          </p:cNvCxnSpPr>
          <p:nvPr/>
        </p:nvCxnSpPr>
        <p:spPr>
          <a:xfrm>
            <a:off x="1495822" y="1883177"/>
            <a:ext cx="79200" cy="1226436"/>
          </a:xfrm>
          <a:prstGeom prst="straightConnector1">
            <a:avLst/>
          </a:prstGeom>
          <a:ln w="158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67" idx="0"/>
            <a:endCxn id="69" idx="2"/>
          </p:cNvCxnSpPr>
          <p:nvPr/>
        </p:nvCxnSpPr>
        <p:spPr>
          <a:xfrm flipV="1">
            <a:off x="1575022" y="1883177"/>
            <a:ext cx="132034" cy="1226436"/>
          </a:xfrm>
          <a:prstGeom prst="straightConnector1">
            <a:avLst/>
          </a:prstGeom>
          <a:ln w="158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flipV="1">
            <a:off x="1585600" y="3472022"/>
            <a:ext cx="360000" cy="0"/>
          </a:xfrm>
          <a:prstGeom prst="straightConnector1">
            <a:avLst/>
          </a:prstGeom>
          <a:ln w="12700">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487021" y="5383624"/>
            <a:ext cx="2226472" cy="276999"/>
          </a:xfrm>
          <a:prstGeom prst="rect">
            <a:avLst/>
          </a:prstGeom>
          <a:noFill/>
          <a:ln>
            <a:noFill/>
          </a:ln>
        </p:spPr>
        <p:txBody>
          <a:bodyPr wrap="square" lIns="0" tIns="0" rIns="0" bIns="0" rtlCol="0">
            <a:spAutoFit/>
          </a:bodyPr>
          <a:lstStyle/>
          <a:p>
            <a:pPr algn="ctr"/>
            <a:r>
              <a:rPr lang="en-US" altLang="zh-CN" dirty="0">
                <a:latin typeface="Times New Roman" panose="02020603050405020304" pitchFamily="18" charset="0"/>
                <a:ea typeface="楷体" panose="02010609060101010101" pitchFamily="49" charset="-122"/>
                <a:cs typeface="Times New Roman" panose="02020603050405020304" pitchFamily="18" charset="0"/>
              </a:rPr>
              <a:t>GPR</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根系扫描示意图</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4" name="文本框 73"/>
          <p:cNvSpPr txBox="1"/>
          <p:nvPr/>
        </p:nvSpPr>
        <p:spPr>
          <a:xfrm>
            <a:off x="5239637" y="5728982"/>
            <a:ext cx="3198108" cy="492443"/>
          </a:xfrm>
          <a:prstGeom prst="rect">
            <a:avLst/>
          </a:prstGeom>
          <a:noFill/>
          <a:ln>
            <a:noFill/>
          </a:ln>
        </p:spPr>
        <p:txBody>
          <a:bodyPr wrap="square" lIns="0" tIns="0" rIns="0" bIns="0" rtlCol="0">
            <a:spAutoFit/>
          </a:bodyPr>
          <a:lstStyle/>
          <a:p>
            <a:pPr algn="ct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GPR B</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扫描</a:t>
            </a: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反映根系特征、剖面位置</a:t>
            </a:r>
          </a:p>
        </p:txBody>
      </p:sp>
      <p:cxnSp>
        <p:nvCxnSpPr>
          <p:cNvPr id="82" name="直接箭头连接符 81"/>
          <p:cNvCxnSpPr/>
          <p:nvPr/>
        </p:nvCxnSpPr>
        <p:spPr>
          <a:xfrm>
            <a:off x="2199605" y="1461110"/>
            <a:ext cx="252000" cy="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a:xfrm>
            <a:off x="604706" y="3878873"/>
            <a:ext cx="1953295" cy="215444"/>
          </a:xfrm>
          <a:prstGeom prst="rect">
            <a:avLst/>
          </a:prstGeom>
          <a:noFill/>
        </p:spPr>
        <p:txBody>
          <a:bodyPr wrap="square" lIns="0" tIns="0" rIns="0" bIns="0" rtlCol="0">
            <a:spAutoFit/>
          </a:bodyPr>
          <a:lstStyle/>
          <a:p>
            <a:pPr algn="ctr"/>
            <a:r>
              <a:rPr lang="zh-CN" altLang="en-US" sz="1400" dirty="0">
                <a:latin typeface="Times New Roman" panose="02020603050405020304" pitchFamily="18" charset="0"/>
                <a:ea typeface="楷体" panose="02010609060101010101" pitchFamily="49" charset="-122"/>
              </a:rPr>
              <a:t>根截面 </a:t>
            </a:r>
            <a:endParaRPr lang="en-US" altLang="zh-CN" sz="1400" dirty="0">
              <a:latin typeface="Times New Roman" panose="02020603050405020304" pitchFamily="18" charset="0"/>
              <a:ea typeface="楷体" panose="02010609060101010101" pitchFamily="49" charset="-122"/>
            </a:endParaRPr>
          </a:p>
        </p:txBody>
      </p:sp>
      <p:sp>
        <p:nvSpPr>
          <p:cNvPr id="89" name="矩形 88"/>
          <p:cNvSpPr/>
          <p:nvPr/>
        </p:nvSpPr>
        <p:spPr>
          <a:xfrm>
            <a:off x="2235605" y="1703177"/>
            <a:ext cx="180000" cy="180000"/>
          </a:xfrm>
          <a:prstGeom prst="rect">
            <a:avLst/>
          </a:prstGeom>
          <a:solidFill>
            <a:srgbClr val="FF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0" name="矩形 89"/>
          <p:cNvSpPr/>
          <p:nvPr/>
        </p:nvSpPr>
        <p:spPr>
          <a:xfrm>
            <a:off x="2446839" y="1703177"/>
            <a:ext cx="180000" cy="180000"/>
          </a:xfrm>
          <a:prstGeom prst="rect">
            <a:avLst/>
          </a:prstGeom>
          <a:solidFill>
            <a:srgbClr val="1A5FF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1" name="矩形 90"/>
          <p:cNvSpPr/>
          <p:nvPr/>
        </p:nvSpPr>
        <p:spPr>
          <a:xfrm>
            <a:off x="557193" y="1703177"/>
            <a:ext cx="180000" cy="180000"/>
          </a:xfrm>
          <a:prstGeom prst="rect">
            <a:avLst/>
          </a:prstGeom>
          <a:solidFill>
            <a:srgbClr val="FF00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2" name="矩形 91"/>
          <p:cNvSpPr/>
          <p:nvPr/>
        </p:nvSpPr>
        <p:spPr>
          <a:xfrm>
            <a:off x="768427" y="1703177"/>
            <a:ext cx="180000" cy="180000"/>
          </a:xfrm>
          <a:prstGeom prst="rect">
            <a:avLst/>
          </a:prstGeom>
          <a:solidFill>
            <a:srgbClr val="1A5FFA"/>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93" name="直接箭头连接符 92"/>
          <p:cNvCxnSpPr>
            <a:stCxn id="91" idx="2"/>
            <a:endCxn id="67" idx="1"/>
          </p:cNvCxnSpPr>
          <p:nvPr/>
        </p:nvCxnSpPr>
        <p:spPr>
          <a:xfrm>
            <a:off x="647193" y="1883177"/>
            <a:ext cx="673271" cy="1331878"/>
          </a:xfrm>
          <a:prstGeom prst="straightConnector1">
            <a:avLst/>
          </a:prstGeom>
          <a:ln w="158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67" idx="1"/>
            <a:endCxn id="92" idx="2"/>
          </p:cNvCxnSpPr>
          <p:nvPr/>
        </p:nvCxnSpPr>
        <p:spPr>
          <a:xfrm flipH="1" flipV="1">
            <a:off x="858427" y="1883177"/>
            <a:ext cx="462037" cy="1331878"/>
          </a:xfrm>
          <a:prstGeom prst="straightConnector1">
            <a:avLst/>
          </a:prstGeom>
          <a:ln w="158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89" idx="2"/>
            <a:endCxn id="67" idx="7"/>
          </p:cNvCxnSpPr>
          <p:nvPr/>
        </p:nvCxnSpPr>
        <p:spPr>
          <a:xfrm flipH="1">
            <a:off x="1829580" y="1883177"/>
            <a:ext cx="496025" cy="1331878"/>
          </a:xfrm>
          <a:prstGeom prst="straightConnector1">
            <a:avLst/>
          </a:prstGeom>
          <a:ln w="158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stCxn id="67" idx="7"/>
            <a:endCxn id="90" idx="2"/>
          </p:cNvCxnSpPr>
          <p:nvPr/>
        </p:nvCxnSpPr>
        <p:spPr>
          <a:xfrm flipV="1">
            <a:off x="1829580" y="1883177"/>
            <a:ext cx="707259" cy="1331878"/>
          </a:xfrm>
          <a:prstGeom prst="straightConnector1">
            <a:avLst/>
          </a:prstGeom>
          <a:ln w="158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7" name="流程图: 接点 96"/>
          <p:cNvSpPr/>
          <p:nvPr/>
        </p:nvSpPr>
        <p:spPr>
          <a:xfrm>
            <a:off x="1567600" y="3451613"/>
            <a:ext cx="36000" cy="36000"/>
          </a:xfrm>
          <a:prstGeom prst="flowChartConnector">
            <a:avLst/>
          </a:prstGeom>
          <a:noFill/>
          <a:ln w="1905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8" name="矩形 97"/>
              <p:cNvSpPr/>
              <p:nvPr/>
            </p:nvSpPr>
            <p:spPr>
              <a:xfrm>
                <a:off x="1562924" y="3158873"/>
                <a:ext cx="37061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rPr>
                        <m:t>𝒓</m:t>
                      </m:r>
                    </m:oMath>
                  </m:oMathPara>
                </a14:m>
                <a:endParaRPr lang="zh-CN" altLang="en-US" dirty="0"/>
              </a:p>
            </p:txBody>
          </p:sp>
        </mc:Choice>
        <mc:Fallback xmlns="">
          <p:sp>
            <p:nvSpPr>
              <p:cNvPr id="98" name="矩形 97"/>
              <p:cNvSpPr>
                <a:spLocks noRot="1" noChangeAspect="1" noMove="1" noResize="1" noEditPoints="1" noAdjustHandles="1" noChangeArrowheads="1" noChangeShapeType="1" noTextEdit="1"/>
              </p:cNvSpPr>
              <p:nvPr/>
            </p:nvSpPr>
            <p:spPr>
              <a:xfrm>
                <a:off x="1562924" y="3158873"/>
                <a:ext cx="370614" cy="369332"/>
              </a:xfrm>
              <a:prstGeom prst="rect">
                <a:avLst/>
              </a:prstGeom>
              <a:blipFill>
                <a:blip r:embed="rId7"/>
                <a:stretch>
                  <a:fillRect/>
                </a:stretch>
              </a:blipFill>
            </p:spPr>
            <p:txBody>
              <a:bodyPr/>
              <a:lstStyle/>
              <a:p>
                <a:r>
                  <a:rPr lang="zh-CN" altLang="en-US">
                    <a:noFill/>
                  </a:rPr>
                  <a:t> </a:t>
                </a:r>
              </a:p>
            </p:txBody>
          </p:sp>
        </mc:Fallback>
      </mc:AlternateContent>
      <p:sp>
        <p:nvSpPr>
          <p:cNvPr id="99" name="文本框 98">
            <a:extLst>
              <a:ext uri="{FF2B5EF4-FFF2-40B4-BE49-F238E27FC236}">
                <a16:creationId xmlns:a16="http://schemas.microsoft.com/office/drawing/2014/main" id="{C6B2AC23-0C2D-24A2-37FB-D238CF67D1AB}"/>
              </a:ext>
            </a:extLst>
          </p:cNvPr>
          <p:cNvSpPr txBox="1"/>
          <p:nvPr/>
        </p:nvSpPr>
        <p:spPr>
          <a:xfrm>
            <a:off x="958664" y="1640503"/>
            <a:ext cx="404479" cy="215444"/>
          </a:xfrm>
          <a:prstGeom prst="rect">
            <a:avLst/>
          </a:prstGeom>
          <a:noFill/>
          <a:ln>
            <a:noFill/>
          </a:ln>
        </p:spPr>
        <p:txBody>
          <a:bodyPr wrap="square" lIns="0" tIns="0" rIns="0" bIns="0" rtlCol="0">
            <a:spAutoFit/>
          </a:bodyPr>
          <a:lstStyle/>
          <a:p>
            <a:pPr algn="ct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00" name="文本框 99">
            <a:extLst>
              <a:ext uri="{FF2B5EF4-FFF2-40B4-BE49-F238E27FC236}">
                <a16:creationId xmlns:a16="http://schemas.microsoft.com/office/drawing/2014/main" id="{C6B2AC23-0C2D-24A2-37FB-D238CF67D1AB}"/>
              </a:ext>
            </a:extLst>
          </p:cNvPr>
          <p:cNvSpPr txBox="1"/>
          <p:nvPr/>
        </p:nvSpPr>
        <p:spPr>
          <a:xfrm>
            <a:off x="1815509" y="1640503"/>
            <a:ext cx="404479" cy="215444"/>
          </a:xfrm>
          <a:prstGeom prst="rect">
            <a:avLst/>
          </a:prstGeom>
          <a:noFill/>
          <a:ln>
            <a:noFill/>
          </a:ln>
        </p:spPr>
        <p:txBody>
          <a:bodyPr wrap="square" lIns="0" tIns="0" rIns="0" bIns="0" rtlCol="0">
            <a:spAutoFit/>
          </a:bodyPr>
          <a:lstStyle/>
          <a:p>
            <a:pPr algn="ct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05" name="文本框 104"/>
          <p:cNvSpPr txBox="1"/>
          <p:nvPr/>
        </p:nvSpPr>
        <p:spPr>
          <a:xfrm rot="16200000">
            <a:off x="-1402324" y="3604856"/>
            <a:ext cx="3408166" cy="246221"/>
          </a:xfrm>
          <a:prstGeom prst="rect">
            <a:avLst/>
          </a:prstGeom>
          <a:noFill/>
        </p:spPr>
        <p:txBody>
          <a:bodyPr wrap="square" lIns="0" tIns="0" rIns="0" bIns="0" rtlCol="0">
            <a:spAutoFit/>
          </a:bodyPr>
          <a:lstStyle/>
          <a:p>
            <a:pPr algn="ctr"/>
            <a:r>
              <a:rPr lang="zh-CN" altLang="en-US" sz="1600" b="1" dirty="0">
                <a:latin typeface="Times New Roman" panose="02020603050405020304" pitchFamily="18" charset="0"/>
                <a:ea typeface="楷体" panose="02010609060101010101" pitchFamily="49" charset="-122"/>
              </a:rPr>
              <a:t>土壤深度</a:t>
            </a:r>
          </a:p>
        </p:txBody>
      </p:sp>
      <p:sp>
        <p:nvSpPr>
          <p:cNvPr id="107" name="文本框 106"/>
          <p:cNvSpPr txBox="1"/>
          <p:nvPr/>
        </p:nvSpPr>
        <p:spPr>
          <a:xfrm>
            <a:off x="3440140" y="5217729"/>
            <a:ext cx="2829310" cy="492443"/>
          </a:xfrm>
          <a:prstGeom prst="rect">
            <a:avLst/>
          </a:prstGeom>
          <a:noFill/>
          <a:ln>
            <a:noFill/>
          </a:ln>
        </p:spPr>
        <p:txBody>
          <a:bodyPr wrap="square" lIns="0" tIns="0" rIns="0" bIns="0" rtlCol="0">
            <a:spAutoFit/>
          </a:bodyPr>
          <a:lstStyle/>
          <a:p>
            <a:pPr algn="ct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GPR A</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扫描</a:t>
            </a: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反映反射信号时长、强度</a:t>
            </a:r>
          </a:p>
        </p:txBody>
      </p:sp>
      <p:sp>
        <p:nvSpPr>
          <p:cNvPr id="109" name="文本框 108"/>
          <p:cNvSpPr txBox="1"/>
          <p:nvPr/>
        </p:nvSpPr>
        <p:spPr>
          <a:xfrm rot="16200000">
            <a:off x="1199106" y="3585003"/>
            <a:ext cx="3408166" cy="246221"/>
          </a:xfrm>
          <a:prstGeom prst="rect">
            <a:avLst/>
          </a:prstGeom>
          <a:noFill/>
        </p:spPr>
        <p:txBody>
          <a:bodyPr wrap="square" lIns="0" tIns="0" rIns="0" bIns="0" rtlCol="0">
            <a:spAutoFit/>
          </a:bodyPr>
          <a:lstStyle/>
          <a:p>
            <a:pPr algn="ctr"/>
            <a:r>
              <a:rPr lang="zh-CN" altLang="en-US" sz="1600" b="1" dirty="0">
                <a:latin typeface="Times New Roman" panose="02020603050405020304" pitchFamily="18" charset="0"/>
                <a:ea typeface="楷体" panose="02010609060101010101" pitchFamily="49" charset="-122"/>
              </a:rPr>
              <a:t>双向行程时长 </a:t>
            </a:r>
            <a:r>
              <a:rPr lang="en-US" altLang="zh-CN" sz="1600" b="1" dirty="0">
                <a:latin typeface="Times New Roman" panose="02020603050405020304" pitchFamily="18" charset="0"/>
                <a:ea typeface="楷体" panose="02010609060101010101" pitchFamily="49" charset="-122"/>
              </a:rPr>
              <a:t>/ns</a:t>
            </a:r>
            <a:endParaRPr lang="zh-CN" altLang="en-US" sz="1600" b="1" dirty="0">
              <a:latin typeface="Times New Roman" panose="02020603050405020304" pitchFamily="18" charset="0"/>
              <a:ea typeface="楷体" panose="02010609060101010101" pitchFamily="49" charset="-122"/>
            </a:endParaRPr>
          </a:p>
        </p:txBody>
      </p:sp>
      <p:sp>
        <p:nvSpPr>
          <p:cNvPr id="6" name="椭圆 5"/>
          <p:cNvSpPr/>
          <p:nvPr/>
        </p:nvSpPr>
        <p:spPr>
          <a:xfrm>
            <a:off x="1438868" y="2456043"/>
            <a:ext cx="309485" cy="218186"/>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文本框 130"/>
          <p:cNvSpPr txBox="1"/>
          <p:nvPr/>
        </p:nvSpPr>
        <p:spPr>
          <a:xfrm>
            <a:off x="7741397" y="6174653"/>
            <a:ext cx="2645446" cy="492443"/>
          </a:xfrm>
          <a:prstGeom prst="rect">
            <a:avLst/>
          </a:prstGeom>
          <a:noFill/>
          <a:ln>
            <a:noFill/>
          </a:ln>
        </p:spPr>
        <p:txBody>
          <a:bodyPr wrap="square" lIns="0" tIns="0" rIns="0" bIns="0" rtlCol="0">
            <a:spAutoFit/>
          </a:bodyPr>
          <a:lstStyle/>
          <a:p>
            <a:pPr algn="ct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GPR C</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扫描</a:t>
            </a: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algn="ct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反映根系特征三维空间分布</a:t>
            </a:r>
          </a:p>
        </p:txBody>
      </p:sp>
      <p:sp>
        <p:nvSpPr>
          <p:cNvPr id="132" name="文本框 131"/>
          <p:cNvSpPr txBox="1"/>
          <p:nvPr/>
        </p:nvSpPr>
        <p:spPr>
          <a:xfrm>
            <a:off x="1071800" y="4550398"/>
            <a:ext cx="1033350" cy="215444"/>
          </a:xfrm>
          <a:prstGeom prst="rect">
            <a:avLst/>
          </a:prstGeom>
          <a:noFill/>
          <a:ln>
            <a:noFill/>
          </a:ln>
        </p:spPr>
        <p:txBody>
          <a:bodyPr wrap="square" lIns="0" tIns="0" rIns="0" bIns="0" rtlCol="0">
            <a:spAutoFit/>
          </a:bodyPr>
          <a:lstStyle/>
          <a:p>
            <a:pPr algn="ctr"/>
            <a:r>
              <a:rPr lang="zh-CN" altLang="en-US" sz="1400" dirty="0">
                <a:latin typeface="Times New Roman" panose="02020603050405020304" pitchFamily="18" charset="0"/>
                <a:ea typeface="楷体" panose="02010609060101010101" pitchFamily="49" charset="-122"/>
              </a:rPr>
              <a:t>土壤</a:t>
            </a:r>
          </a:p>
        </p:txBody>
      </p:sp>
      <p:sp>
        <p:nvSpPr>
          <p:cNvPr id="133" name="文本框 132"/>
          <p:cNvSpPr txBox="1"/>
          <p:nvPr/>
        </p:nvSpPr>
        <p:spPr>
          <a:xfrm>
            <a:off x="463775" y="1458283"/>
            <a:ext cx="323637" cy="220182"/>
          </a:xfrm>
          <a:prstGeom prst="rect">
            <a:avLst/>
          </a:prstGeom>
          <a:noFill/>
          <a:ln>
            <a:noFill/>
          </a:ln>
        </p:spPr>
        <p:txBody>
          <a:bodyPr wrap="square" lIns="0" tIns="0" rIns="0" bIns="0" rtlCol="0">
            <a:spAutoFit/>
          </a:bodyPr>
          <a:lstStyle/>
          <a:p>
            <a:pPr algn="ctr"/>
            <a:r>
              <a:rPr lang="en-US" altLang="zh-CN" sz="1400" b="1" i="1" dirty="0" err="1">
                <a:latin typeface="Times New Roman" panose="02020603050405020304" pitchFamily="18" charset="0"/>
                <a:ea typeface="楷体" panose="02010609060101010101" pitchFamily="49" charset="-122"/>
                <a:cs typeface="Times New Roman" panose="02020603050405020304" pitchFamily="18" charset="0"/>
              </a:rPr>
              <a:t>T</a:t>
            </a:r>
            <a:r>
              <a:rPr lang="en-US" altLang="zh-CN" sz="1400" b="1" i="1" baseline="-25000" dirty="0" err="1">
                <a:latin typeface="Times New Roman" panose="02020603050405020304" pitchFamily="18" charset="0"/>
                <a:ea typeface="楷体" panose="02010609060101010101" pitchFamily="49" charset="-122"/>
                <a:cs typeface="Times New Roman" panose="02020603050405020304" pitchFamily="18" charset="0"/>
              </a:rPr>
              <a:t>x</a:t>
            </a:r>
            <a:endParaRPr lang="zh-CN" altLang="en-US" sz="1400" b="1" i="1" baseline="-25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4" name="文本框 133"/>
          <p:cNvSpPr txBox="1"/>
          <p:nvPr/>
        </p:nvSpPr>
        <p:spPr>
          <a:xfrm>
            <a:off x="594493" y="1463021"/>
            <a:ext cx="526257" cy="215444"/>
          </a:xfrm>
          <a:prstGeom prst="rect">
            <a:avLst/>
          </a:prstGeom>
          <a:noFill/>
          <a:ln>
            <a:noFill/>
          </a:ln>
        </p:spPr>
        <p:txBody>
          <a:bodyPr wrap="square" lIns="0" tIns="0" rIns="0" bIns="0" rtlCol="0">
            <a:spAutoFit/>
          </a:bodyPr>
          <a:lstStyle/>
          <a:p>
            <a:pPr algn="ctr"/>
            <a:r>
              <a:rPr lang="en-US" altLang="zh-CN" sz="1400" b="1" i="1" dirty="0">
                <a:latin typeface="Times New Roman" panose="02020603050405020304" pitchFamily="18" charset="0"/>
                <a:ea typeface="楷体" panose="02010609060101010101" pitchFamily="49" charset="-122"/>
                <a:cs typeface="Times New Roman" panose="02020603050405020304" pitchFamily="18" charset="0"/>
              </a:rPr>
              <a:t>R</a:t>
            </a:r>
            <a:r>
              <a:rPr lang="en-US" altLang="zh-CN" sz="1400" b="1" i="1" baseline="-25000" dirty="0">
                <a:latin typeface="Times New Roman" panose="02020603050405020304" pitchFamily="18" charset="0"/>
                <a:ea typeface="楷体" panose="02010609060101010101" pitchFamily="49" charset="-122"/>
                <a:cs typeface="Times New Roman" panose="02020603050405020304" pitchFamily="18" charset="0"/>
              </a:rPr>
              <a:t>x</a:t>
            </a:r>
            <a:endParaRPr lang="zh-CN" altLang="en-US" sz="1400" b="1" i="1" baseline="-250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394FBF77-CCBA-4189-9EB5-5ED8074762E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20610" y="1874989"/>
            <a:ext cx="6636162" cy="3189247"/>
          </a:xfrm>
          <a:prstGeom prst="rect">
            <a:avLst/>
          </a:prstGeom>
        </p:spPr>
      </p:pic>
    </p:spTree>
    <p:extLst>
      <p:ext uri="{BB962C8B-B14F-4D97-AF65-F5344CB8AC3E}">
        <p14:creationId xmlns:p14="http://schemas.microsoft.com/office/powerpoint/2010/main" val="10617859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3120571" cy="6858000"/>
          </a:xfrm>
          <a:prstGeom prst="rect">
            <a:avLst/>
          </a:prstGeom>
          <a:solidFill>
            <a:srgbClr val="0056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5" name="powerpoint template design by DAJU_PPT正版来源小红书大橘PPT微信DAJU_PPT请勿抄袭搬运！盗版必究！">
            <a:extLst>
              <a:ext uri="{FF2B5EF4-FFF2-40B4-BE49-F238E27FC236}">
                <a16:creationId xmlns:a16="http://schemas.microsoft.com/office/drawing/2014/main" id="{600EBE13-6021-4DDA-AABE-7D0C6DF6E6F4}"/>
              </a:ext>
            </a:extLst>
          </p:cNvPr>
          <p:cNvSpPr/>
          <p:nvPr/>
        </p:nvSpPr>
        <p:spPr>
          <a:xfrm>
            <a:off x="306196" y="931271"/>
            <a:ext cx="2481192" cy="634020"/>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en-US" sz="3200" b="1" dirty="0">
                <a:solidFill>
                  <a:schemeClr val="bg2"/>
                </a:solidFill>
                <a:latin typeface="+mj-ea"/>
                <a:ea typeface="+mj-ea"/>
                <a:cs typeface="+mn-ea"/>
                <a:sym typeface="+mn-lt"/>
              </a:rPr>
              <a:t>CONTENTS</a:t>
            </a:r>
          </a:p>
        </p:txBody>
      </p:sp>
      <p:sp>
        <p:nvSpPr>
          <p:cNvPr id="6" name="powerpoint template design by DAJU_PPT正版来源小红书大橘PPT微信DAJU_PPT请勿抄袭搬运！盗版必究！">
            <a:extLst>
              <a:ext uri="{FF2B5EF4-FFF2-40B4-BE49-F238E27FC236}">
                <a16:creationId xmlns:a16="http://schemas.microsoft.com/office/drawing/2014/main" id="{04D810FB-B2CF-4AD5-BA71-D18E8234D0A7}"/>
              </a:ext>
            </a:extLst>
          </p:cNvPr>
          <p:cNvSpPr/>
          <p:nvPr/>
        </p:nvSpPr>
        <p:spPr>
          <a:xfrm>
            <a:off x="890203" y="314625"/>
            <a:ext cx="1313180" cy="837152"/>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zh-CN" altLang="en-US" sz="4400" b="1" dirty="0">
                <a:solidFill>
                  <a:schemeClr val="bg2"/>
                </a:solidFill>
                <a:latin typeface="+mj-ea"/>
                <a:ea typeface="+mj-ea"/>
                <a:cs typeface="+mn-ea"/>
                <a:sym typeface="+mn-lt"/>
              </a:rPr>
              <a:t>目录</a:t>
            </a:r>
            <a:endParaRPr lang="en-US" sz="4400" b="1" dirty="0">
              <a:solidFill>
                <a:schemeClr val="bg2"/>
              </a:solidFill>
              <a:latin typeface="+mj-ea"/>
              <a:ea typeface="+mj-ea"/>
              <a:cs typeface="+mn-ea"/>
              <a:sym typeface="+mn-lt"/>
            </a:endParaRPr>
          </a:p>
        </p:txBody>
      </p:sp>
      <p:sp>
        <p:nvSpPr>
          <p:cNvPr id="7"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6</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圆角矩形 7"/>
          <p:cNvSpPr/>
          <p:nvPr/>
        </p:nvSpPr>
        <p:spPr>
          <a:xfrm>
            <a:off x="2072742" y="195399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9" name="圆角矩形 8"/>
          <p:cNvSpPr/>
          <p:nvPr/>
        </p:nvSpPr>
        <p:spPr>
          <a:xfrm>
            <a:off x="2873171" y="200799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1</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0" name="圆角矩形 9"/>
          <p:cNvSpPr/>
          <p:nvPr/>
        </p:nvSpPr>
        <p:spPr>
          <a:xfrm>
            <a:off x="3606643" y="1970417"/>
            <a:ext cx="4693601" cy="468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研究背景与意义</a:t>
            </a:r>
          </a:p>
        </p:txBody>
      </p:sp>
      <p:sp>
        <p:nvSpPr>
          <p:cNvPr id="11" name="圆角矩形 10"/>
          <p:cNvSpPr/>
          <p:nvPr/>
        </p:nvSpPr>
        <p:spPr>
          <a:xfrm>
            <a:off x="2072742" y="2679575"/>
            <a:ext cx="7020000" cy="504000"/>
          </a:xfrm>
          <a:prstGeom prst="roundRect">
            <a:avLst/>
          </a:prstGeom>
          <a:solidFill>
            <a:srgbClr val="ABB7CD"/>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2" name="圆角矩形 11"/>
          <p:cNvSpPr/>
          <p:nvPr/>
        </p:nvSpPr>
        <p:spPr>
          <a:xfrm>
            <a:off x="2873171" y="273357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2</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3" name="圆角矩形 12"/>
          <p:cNvSpPr/>
          <p:nvPr/>
        </p:nvSpPr>
        <p:spPr>
          <a:xfrm>
            <a:off x="3606643" y="2695997"/>
            <a:ext cx="4693601" cy="468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rgbClr val="1A5FFA"/>
                </a:solidFill>
                <a:latin typeface="楷体" panose="02010609060101010101" pitchFamily="49" charset="-122"/>
                <a:ea typeface="楷体" panose="02010609060101010101" pitchFamily="49" charset="-122"/>
                <a:cs typeface="Times New Roman" panose="02020603050405020304" pitchFamily="18" charset="0"/>
              </a:rPr>
              <a:t>国内外研究现状</a:t>
            </a:r>
          </a:p>
        </p:txBody>
      </p:sp>
      <p:sp>
        <p:nvSpPr>
          <p:cNvPr id="14" name="圆角矩形 13"/>
          <p:cNvSpPr/>
          <p:nvPr/>
        </p:nvSpPr>
        <p:spPr>
          <a:xfrm>
            <a:off x="2072742" y="340515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15" name="圆角矩形 14"/>
          <p:cNvSpPr/>
          <p:nvPr/>
        </p:nvSpPr>
        <p:spPr>
          <a:xfrm>
            <a:off x="2873171" y="345915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3</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6" name="圆角矩形 15"/>
          <p:cNvSpPr/>
          <p:nvPr/>
        </p:nvSpPr>
        <p:spPr>
          <a:xfrm>
            <a:off x="3606643" y="3421577"/>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研究思路与技术路线</a:t>
            </a:r>
          </a:p>
        </p:txBody>
      </p:sp>
      <p:sp>
        <p:nvSpPr>
          <p:cNvPr id="17" name="圆角矩形 16"/>
          <p:cNvSpPr/>
          <p:nvPr/>
        </p:nvSpPr>
        <p:spPr>
          <a:xfrm>
            <a:off x="2072742" y="4129958"/>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18" name="圆角矩形 17"/>
          <p:cNvSpPr/>
          <p:nvPr/>
        </p:nvSpPr>
        <p:spPr>
          <a:xfrm>
            <a:off x="2873171" y="4183958"/>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4</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9" name="圆角矩形 18"/>
          <p:cNvSpPr/>
          <p:nvPr/>
        </p:nvSpPr>
        <p:spPr>
          <a:xfrm>
            <a:off x="3606643" y="4146380"/>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研究内容与方案</a:t>
            </a:r>
          </a:p>
        </p:txBody>
      </p:sp>
      <p:sp>
        <p:nvSpPr>
          <p:cNvPr id="20" name="圆角矩形 19"/>
          <p:cNvSpPr/>
          <p:nvPr/>
        </p:nvSpPr>
        <p:spPr>
          <a:xfrm>
            <a:off x="2072742" y="4848839"/>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21" name="圆角矩形 20"/>
          <p:cNvSpPr/>
          <p:nvPr/>
        </p:nvSpPr>
        <p:spPr>
          <a:xfrm>
            <a:off x="2873171" y="4902839"/>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5</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22" name="圆角矩形 21"/>
          <p:cNvSpPr/>
          <p:nvPr/>
        </p:nvSpPr>
        <p:spPr>
          <a:xfrm>
            <a:off x="3606643" y="4865261"/>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研究计划与预期成果</a:t>
            </a:r>
          </a:p>
        </p:txBody>
      </p:sp>
    </p:spTree>
    <p:extLst>
      <p:ext uri="{BB962C8B-B14F-4D97-AF65-F5344CB8AC3E}">
        <p14:creationId xmlns:p14="http://schemas.microsoft.com/office/powerpoint/2010/main" val="3148215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二、国内外研究现状</a:t>
            </a:r>
          </a:p>
        </p:txBody>
      </p:sp>
      <p:pic>
        <p:nvPicPr>
          <p:cNvPr id="5" name="图片 4" descr="校标与各学院中英文名称左右组合.pdf - Adobe Reade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7</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9DB24E3-4CFE-63C6-48E2-EBA3A63D1ECA}"/>
              </a:ext>
            </a:extLst>
          </p:cNvPr>
          <p:cNvSpPr txBox="1"/>
          <p:nvPr/>
        </p:nvSpPr>
        <p:spPr>
          <a:xfrm>
            <a:off x="288757" y="893451"/>
            <a:ext cx="2793900"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2.1</a:t>
            </a:r>
            <a:r>
              <a:rPr lang="zh-CN" altLang="en-US" sz="2000" b="1" dirty="0">
                <a:solidFill>
                  <a:srgbClr val="394761"/>
                </a:solidFill>
                <a:latin typeface="微软雅黑" panose="020B0503020204020204" pitchFamily="34" charset="-122"/>
                <a:ea typeface="微软雅黑" panose="020B0503020204020204" pitchFamily="34" charset="-122"/>
              </a:rPr>
              <a:t> 现有研究局限性</a:t>
            </a:r>
          </a:p>
        </p:txBody>
      </p:sp>
      <p:sp>
        <p:nvSpPr>
          <p:cNvPr id="18" name="矩形 17"/>
          <p:cNvSpPr/>
          <p:nvPr/>
        </p:nvSpPr>
        <p:spPr>
          <a:xfrm>
            <a:off x="1128175" y="1550479"/>
            <a:ext cx="3060000" cy="5040000"/>
          </a:xfrm>
          <a:prstGeom prst="rect">
            <a:avLst/>
          </a:prstGeom>
          <a:solidFill>
            <a:srgbClr val="E0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9" name="文本框 18"/>
          <p:cNvSpPr txBox="1"/>
          <p:nvPr/>
        </p:nvSpPr>
        <p:spPr>
          <a:xfrm>
            <a:off x="1242177" y="1664206"/>
            <a:ext cx="2831996" cy="737189"/>
          </a:xfrm>
          <a:prstGeom prst="rect">
            <a:avLst/>
          </a:prstGeom>
          <a:solidFill>
            <a:srgbClr val="00569F"/>
          </a:solidFill>
        </p:spPr>
        <p:txBody>
          <a:bodyPr wrap="square" rtlCol="0">
            <a:spAutoFit/>
          </a:bodyPr>
          <a:lstStyle/>
          <a:p>
            <a:pPr algn="ctr">
              <a:lnSpc>
                <a:spcPct val="125000"/>
              </a:lnSpc>
            </a:pPr>
            <a:r>
              <a:rPr lang="zh-CN" altLang="en-US" b="1" dirty="0">
                <a:solidFill>
                  <a:schemeClr val="bg1"/>
                </a:solidFill>
                <a:latin typeface="宋体" panose="02010600030101010101" pitchFamily="2" charset="-122"/>
                <a:ea typeface="宋体" panose="02010600030101010101" pitchFamily="2" charset="-122"/>
              </a:rPr>
              <a:t>① </a:t>
            </a:r>
            <a:r>
              <a:rPr lang="en-US" altLang="zh-CN" b="1" dirty="0">
                <a:solidFill>
                  <a:schemeClr val="bg1"/>
                </a:solidFill>
                <a:latin typeface="宋体" panose="02010600030101010101" pitchFamily="2" charset="-122"/>
                <a:ea typeface="宋体" panose="02010600030101010101" pitchFamily="2" charset="-122"/>
              </a:rPr>
              <a:t>GPR</a:t>
            </a:r>
            <a:r>
              <a:rPr lang="zh-CN" altLang="en-US" b="1" dirty="0">
                <a:solidFill>
                  <a:schemeClr val="bg1"/>
                </a:solidFill>
                <a:latin typeface="宋体" panose="02010600030101010101" pitchFamily="2" charset="-122"/>
                <a:ea typeface="宋体" panose="02010600030101010101" pitchFamily="2" charset="-122"/>
              </a:rPr>
              <a:t>根系检测</a:t>
            </a:r>
            <a:endParaRPr lang="en-US" altLang="zh-CN" b="1" dirty="0">
              <a:solidFill>
                <a:schemeClr val="bg1"/>
              </a:solidFill>
              <a:latin typeface="宋体" panose="02010600030101010101" pitchFamily="2" charset="-122"/>
              <a:ea typeface="宋体" panose="02010600030101010101" pitchFamily="2" charset="-122"/>
            </a:endParaRPr>
          </a:p>
          <a:p>
            <a:pPr algn="ctr">
              <a:lnSpc>
                <a:spcPct val="125000"/>
              </a:lnSpc>
            </a:pPr>
            <a:r>
              <a:rPr lang="zh-CN" altLang="en-US" b="1" dirty="0">
                <a:solidFill>
                  <a:schemeClr val="bg1"/>
                </a:solidFill>
                <a:latin typeface="宋体" panose="02010600030101010101" pitchFamily="2" charset="-122"/>
                <a:ea typeface="宋体" panose="02010600030101010101" pitchFamily="2" charset="-122"/>
              </a:rPr>
              <a:t>影响因素</a:t>
            </a:r>
          </a:p>
        </p:txBody>
      </p:sp>
      <p:sp>
        <p:nvSpPr>
          <p:cNvPr id="20" name="矩形 19"/>
          <p:cNvSpPr/>
          <p:nvPr/>
        </p:nvSpPr>
        <p:spPr>
          <a:xfrm>
            <a:off x="1254177" y="4446626"/>
            <a:ext cx="2831996" cy="204625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400" dirty="0">
                <a:solidFill>
                  <a:schemeClr val="tx1"/>
                </a:solidFill>
                <a:latin typeface="Times New Roman" panose="02020603050405020304" pitchFamily="18" charset="0"/>
                <a:ea typeface="宋体" panose="02010600030101010101" pitchFamily="2" charset="-122"/>
              </a:rPr>
              <a:t>根系探测敏感因素</a:t>
            </a:r>
            <a:r>
              <a:rPr lang="en-US" altLang="zh-CN" sz="1400" dirty="0">
                <a:solidFill>
                  <a:schemeClr val="tx1"/>
                </a:solidFill>
                <a:latin typeface="Times New Roman" panose="02020603050405020304" pitchFamily="18" charset="0"/>
                <a:ea typeface="宋体" panose="02010600030101010101" pitchFamily="2" charset="-122"/>
              </a:rPr>
              <a:t>:</a:t>
            </a:r>
          </a:p>
          <a:p>
            <a:pPr marL="285750" indent="-285750">
              <a:lnSpc>
                <a:spcPct val="150000"/>
              </a:lnSpc>
              <a:buFont typeface="Arial" panose="020B0604020202020204" pitchFamily="34" charset="0"/>
              <a:buChar char="•"/>
            </a:pPr>
            <a:r>
              <a:rPr lang="zh-CN" altLang="en-US" sz="1400" dirty="0">
                <a:solidFill>
                  <a:schemeClr val="tx1"/>
                </a:solidFill>
                <a:latin typeface="Times New Roman" panose="02020603050405020304" pitchFamily="18" charset="0"/>
                <a:ea typeface="宋体" panose="02010600030101010101" pitchFamily="2" charset="-122"/>
              </a:rPr>
              <a:t>天线频率：</a:t>
            </a:r>
            <a:r>
              <a:rPr lang="en-US" altLang="zh-CN" sz="1400" dirty="0">
                <a:solidFill>
                  <a:schemeClr val="tx1"/>
                </a:solidFill>
                <a:latin typeface="Times New Roman" panose="02020603050405020304" pitchFamily="18" charset="0"/>
                <a:ea typeface="宋体" panose="02010600030101010101" pitchFamily="2" charset="-122"/>
              </a:rPr>
              <a:t>400/900/1500 MHz</a:t>
            </a:r>
          </a:p>
          <a:p>
            <a:pPr marL="285750" indent="-285750">
              <a:lnSpc>
                <a:spcPct val="150000"/>
              </a:lnSpc>
              <a:buFont typeface="Arial" panose="020B0604020202020204" pitchFamily="34" charset="0"/>
              <a:buChar char="•"/>
            </a:pPr>
            <a:r>
              <a:rPr lang="zh-CN" altLang="en-US" sz="1400" dirty="0">
                <a:solidFill>
                  <a:schemeClr val="tx1"/>
                </a:solidFill>
                <a:latin typeface="Times New Roman" panose="02020603050405020304" pitchFamily="18" charset="0"/>
                <a:ea typeface="宋体" panose="02010600030101010101" pitchFamily="2" charset="-122"/>
              </a:rPr>
              <a:t>土壤异质性</a:t>
            </a:r>
            <a:endParaRPr lang="en-US" altLang="zh-CN" sz="1400" dirty="0">
              <a:solidFill>
                <a:schemeClr val="tx1"/>
              </a:solidFill>
              <a:latin typeface="Times New Roman" panose="02020603050405020304" pitchFamily="18" charset="0"/>
              <a:ea typeface="宋体" panose="02010600030101010101" pitchFamily="2" charset="-122"/>
            </a:endParaRPr>
          </a:p>
          <a:p>
            <a:pPr marL="285750" indent="-285750">
              <a:lnSpc>
                <a:spcPct val="150000"/>
              </a:lnSpc>
              <a:buFont typeface="Arial" panose="020B0604020202020204" pitchFamily="34" charset="0"/>
              <a:buChar char="•"/>
            </a:pPr>
            <a:r>
              <a:rPr lang="zh-CN" altLang="en-US" sz="1400" dirty="0">
                <a:solidFill>
                  <a:schemeClr val="tx1"/>
                </a:solidFill>
                <a:latin typeface="Times New Roman" panose="02020603050405020304" pitchFamily="18" charset="0"/>
                <a:ea typeface="宋体" panose="02010600030101010101" pitchFamily="2" charset="-122"/>
              </a:rPr>
              <a:t>根系直径：直径过小难以形成清晰可辨的双曲线波形</a:t>
            </a:r>
            <a:endParaRPr lang="en-US" altLang="zh-CN" sz="1400" dirty="0">
              <a:solidFill>
                <a:schemeClr val="tx1"/>
              </a:solidFill>
              <a:latin typeface="Times New Roman" panose="02020603050405020304" pitchFamily="18" charset="0"/>
              <a:ea typeface="宋体" panose="02010600030101010101" pitchFamily="2" charset="-122"/>
            </a:endParaRPr>
          </a:p>
        </p:txBody>
      </p:sp>
      <p:pic>
        <p:nvPicPr>
          <p:cNvPr id="21" name="图片 20"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4177" y="2510337"/>
            <a:ext cx="2831996" cy="1874987"/>
          </a:xfrm>
          <a:prstGeom prst="rect">
            <a:avLst/>
          </a:prstGeom>
        </p:spPr>
      </p:pic>
      <p:sp>
        <p:nvSpPr>
          <p:cNvPr id="32" name="矩形 31"/>
          <p:cNvSpPr/>
          <p:nvPr/>
        </p:nvSpPr>
        <p:spPr>
          <a:xfrm>
            <a:off x="5307088" y="1560075"/>
            <a:ext cx="3060000" cy="5040000"/>
          </a:xfrm>
          <a:prstGeom prst="rect">
            <a:avLst/>
          </a:prstGeom>
          <a:solidFill>
            <a:srgbClr val="EFEF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3" name="文本框 32"/>
          <p:cNvSpPr txBox="1"/>
          <p:nvPr/>
        </p:nvSpPr>
        <p:spPr>
          <a:xfrm>
            <a:off x="5421090" y="1673802"/>
            <a:ext cx="2831996" cy="737189"/>
          </a:xfrm>
          <a:prstGeom prst="rect">
            <a:avLst/>
          </a:prstGeom>
          <a:solidFill>
            <a:srgbClr val="00569F"/>
          </a:solidFill>
        </p:spPr>
        <p:txBody>
          <a:bodyPr wrap="square" rtlCol="0">
            <a:spAutoFit/>
          </a:bodyPr>
          <a:lstStyle/>
          <a:p>
            <a:pPr algn="ctr">
              <a:lnSpc>
                <a:spcPct val="125000"/>
              </a:lnSpc>
            </a:pPr>
            <a:r>
              <a:rPr lang="zh-CN" altLang="en-US" b="1" dirty="0">
                <a:solidFill>
                  <a:schemeClr val="bg1"/>
                </a:solidFill>
                <a:latin typeface="宋体" panose="02010600030101010101" pitchFamily="2" charset="-122"/>
                <a:ea typeface="宋体" panose="02010600030101010101" pitchFamily="2" charset="-122"/>
              </a:rPr>
              <a:t>② 根系识别定位与特征</a:t>
            </a:r>
            <a:endParaRPr lang="en-US" altLang="zh-CN" b="1" dirty="0">
              <a:solidFill>
                <a:schemeClr val="bg1"/>
              </a:solidFill>
              <a:latin typeface="宋体" panose="02010600030101010101" pitchFamily="2" charset="-122"/>
              <a:ea typeface="宋体" panose="02010600030101010101" pitchFamily="2" charset="-122"/>
            </a:endParaRPr>
          </a:p>
          <a:p>
            <a:pPr algn="ctr">
              <a:lnSpc>
                <a:spcPct val="125000"/>
              </a:lnSpc>
            </a:pPr>
            <a:r>
              <a:rPr lang="zh-CN" altLang="en-US" b="1" dirty="0">
                <a:solidFill>
                  <a:schemeClr val="bg1"/>
                </a:solidFill>
                <a:latin typeface="宋体" panose="02010600030101010101" pitchFamily="2" charset="-122"/>
                <a:ea typeface="宋体" panose="02010600030101010101" pitchFamily="2" charset="-122"/>
              </a:rPr>
              <a:t>参数估测</a:t>
            </a:r>
          </a:p>
        </p:txBody>
      </p:sp>
      <p:sp>
        <p:nvSpPr>
          <p:cNvPr id="34" name="矩形 33"/>
          <p:cNvSpPr/>
          <p:nvPr/>
        </p:nvSpPr>
        <p:spPr>
          <a:xfrm>
            <a:off x="5433090" y="4456222"/>
            <a:ext cx="2831996" cy="204625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400" dirty="0">
                <a:solidFill>
                  <a:schemeClr val="tx1"/>
                </a:solidFill>
                <a:latin typeface="Times New Roman" panose="02020603050405020304" pitchFamily="18" charset="0"/>
                <a:ea typeface="宋体" panose="02010600030101010101" pitchFamily="2" charset="-122"/>
              </a:rPr>
              <a:t>根系识别定位与特征参数估测</a:t>
            </a:r>
            <a:r>
              <a:rPr lang="en-US" altLang="zh-CN" sz="1400" dirty="0">
                <a:solidFill>
                  <a:schemeClr val="tx1"/>
                </a:solidFill>
                <a:latin typeface="Times New Roman" panose="02020603050405020304" pitchFamily="18" charset="0"/>
                <a:ea typeface="宋体" panose="02010600030101010101" pitchFamily="2" charset="-122"/>
              </a:rPr>
              <a:t>:</a:t>
            </a:r>
          </a:p>
          <a:p>
            <a:pPr marL="285750" indent="-285750">
              <a:lnSpc>
                <a:spcPct val="150000"/>
              </a:lnSpc>
              <a:buFont typeface="Arial" panose="020B0604020202020204" pitchFamily="34" charset="0"/>
              <a:buChar char="•"/>
            </a:pPr>
            <a:r>
              <a:rPr lang="en-US" altLang="zh-CN" sz="1400" dirty="0">
                <a:solidFill>
                  <a:schemeClr val="tx1"/>
                </a:solidFill>
                <a:latin typeface="Times New Roman" panose="02020603050405020304" pitchFamily="18" charset="0"/>
                <a:ea typeface="宋体" panose="02010600030101010101" pitchFamily="2" charset="-122"/>
              </a:rPr>
              <a:t>GPR</a:t>
            </a:r>
            <a:r>
              <a:rPr lang="zh-CN" altLang="en-US" sz="1400" dirty="0">
                <a:solidFill>
                  <a:schemeClr val="tx1"/>
                </a:solidFill>
                <a:latin typeface="Times New Roman" panose="02020603050405020304" pitchFamily="18" charset="0"/>
                <a:ea typeface="宋体" panose="02010600030101010101" pitchFamily="2" charset="-122"/>
              </a:rPr>
              <a:t>图像预处理方法</a:t>
            </a:r>
            <a:endParaRPr lang="en-US" altLang="zh-CN" sz="1400" dirty="0">
              <a:solidFill>
                <a:schemeClr val="tx1"/>
              </a:solidFill>
              <a:latin typeface="Times New Roman" panose="02020603050405020304" pitchFamily="18" charset="0"/>
              <a:ea typeface="宋体" panose="02010600030101010101" pitchFamily="2" charset="-122"/>
            </a:endParaRPr>
          </a:p>
          <a:p>
            <a:pPr marL="285750" indent="-285750">
              <a:lnSpc>
                <a:spcPct val="150000"/>
              </a:lnSpc>
              <a:buFont typeface="Arial" panose="020B0604020202020204" pitchFamily="34" charset="0"/>
              <a:buChar char="•"/>
            </a:pPr>
            <a:r>
              <a:rPr lang="zh-CN" altLang="en-US" sz="1400" dirty="0">
                <a:solidFill>
                  <a:schemeClr val="tx1"/>
                </a:solidFill>
                <a:latin typeface="Times New Roman" panose="02020603050405020304" pitchFamily="18" charset="0"/>
                <a:ea typeface="宋体" panose="02010600030101010101" pitchFamily="2" charset="-122"/>
              </a:rPr>
              <a:t>根系反射特征提取不足</a:t>
            </a:r>
            <a:endParaRPr lang="en-US" altLang="zh-CN" sz="1400" dirty="0">
              <a:solidFill>
                <a:schemeClr val="tx1"/>
              </a:solidFill>
              <a:latin typeface="Times New Roman" panose="02020603050405020304" pitchFamily="18" charset="0"/>
              <a:ea typeface="宋体" panose="02010600030101010101" pitchFamily="2" charset="-122"/>
            </a:endParaRPr>
          </a:p>
          <a:p>
            <a:pPr marL="285750" indent="-285750">
              <a:lnSpc>
                <a:spcPct val="150000"/>
              </a:lnSpc>
              <a:buFont typeface="Arial" panose="020B0604020202020204" pitchFamily="34" charset="0"/>
              <a:buChar char="•"/>
            </a:pPr>
            <a:r>
              <a:rPr lang="zh-CN" altLang="en-US" sz="1400" dirty="0">
                <a:solidFill>
                  <a:schemeClr val="tx1"/>
                </a:solidFill>
                <a:latin typeface="Times New Roman" panose="02020603050405020304" pitchFamily="18" charset="0"/>
                <a:ea typeface="宋体" panose="02010600030101010101" pitchFamily="2" charset="-122"/>
              </a:rPr>
              <a:t>识别定位准确率有待提高</a:t>
            </a:r>
            <a:endParaRPr lang="en-US" altLang="zh-CN" sz="1400" dirty="0">
              <a:solidFill>
                <a:schemeClr val="tx1"/>
              </a:solidFill>
              <a:latin typeface="Times New Roman" panose="02020603050405020304" pitchFamily="18" charset="0"/>
              <a:ea typeface="宋体" panose="02010600030101010101" pitchFamily="2" charset="-122"/>
            </a:endParaRPr>
          </a:p>
          <a:p>
            <a:pPr marL="285750" indent="-285750">
              <a:lnSpc>
                <a:spcPct val="150000"/>
              </a:lnSpc>
              <a:buFont typeface="Arial" panose="020B0604020202020204" pitchFamily="34" charset="0"/>
              <a:buChar char="•"/>
            </a:pPr>
            <a:r>
              <a:rPr lang="zh-CN" altLang="en-US" sz="1400" dirty="0">
                <a:solidFill>
                  <a:schemeClr val="tx1"/>
                </a:solidFill>
                <a:latin typeface="Times New Roman" panose="02020603050405020304" pitchFamily="18" charset="0"/>
                <a:ea typeface="宋体" panose="02010600030101010101" pitchFamily="2" charset="-122"/>
              </a:rPr>
              <a:t>粗根参数估测准确性不足</a:t>
            </a:r>
            <a:endParaRPr lang="en-US" altLang="zh-CN" sz="1400" dirty="0">
              <a:solidFill>
                <a:schemeClr val="tx1"/>
              </a:solidFill>
              <a:latin typeface="Times New Roman" panose="02020603050405020304" pitchFamily="18" charset="0"/>
              <a:ea typeface="宋体" panose="02010600030101010101" pitchFamily="2" charset="-122"/>
            </a:endParaRPr>
          </a:p>
        </p:txBody>
      </p:sp>
      <p:pic>
        <p:nvPicPr>
          <p:cNvPr id="46" name="图片 45"/>
          <p:cNvPicPr>
            <a:picLocks noChangeAspect="1"/>
          </p:cNvPicPr>
          <p:nvPr/>
        </p:nvPicPr>
        <p:blipFill>
          <a:blip r:embed="rId5"/>
          <a:stretch>
            <a:fillRect/>
          </a:stretch>
        </p:blipFill>
        <p:spPr>
          <a:xfrm>
            <a:off x="5397808" y="2510337"/>
            <a:ext cx="2808000" cy="1874987"/>
          </a:xfrm>
          <a:prstGeom prst="rect">
            <a:avLst/>
          </a:prstGeom>
        </p:spPr>
      </p:pic>
      <p:sp>
        <p:nvSpPr>
          <p:cNvPr id="23" name="矩形 22"/>
          <p:cNvSpPr/>
          <p:nvPr/>
        </p:nvSpPr>
        <p:spPr>
          <a:xfrm>
            <a:off x="9522096" y="1560075"/>
            <a:ext cx="2275169" cy="4932800"/>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25000"/>
              </a:lnSpc>
            </a:pPr>
            <a:r>
              <a:rPr lang="zh-CN" altLang="zh-CN"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现有</a:t>
            </a:r>
            <a:r>
              <a:rPr lang="en-US" altLang="zh-CN"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GPR</a:t>
            </a:r>
            <a:r>
              <a:rPr lang="zh-CN" altLang="zh-CN"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技术在根系检测中存在复杂环境</a:t>
            </a:r>
            <a:r>
              <a:rPr lang="zh-CN"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干扰抑制不足</a:t>
            </a:r>
            <a:r>
              <a:rPr lang="zh-CN" altLang="zh-CN"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根系反射特征提取不足、</a:t>
            </a:r>
            <a:r>
              <a:rPr lang="zh-CN" altLang="en-US"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根系</a:t>
            </a:r>
            <a:r>
              <a:rPr lang="zh-CN" altLang="zh-CN"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参数</a:t>
            </a:r>
            <a:r>
              <a:rPr lang="zh-CN"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反演精度受限</a:t>
            </a:r>
            <a:r>
              <a:rPr lang="zh-CN" altLang="zh-CN"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等问题。</a:t>
            </a:r>
            <a:r>
              <a:rPr lang="zh-CN" altLang="en-US"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如何结合深度学习提取特征，精确检测和分析图像中双曲线波形的空间分布，并准确估测</a:t>
            </a:r>
            <a:r>
              <a:rPr lang="zh-CN" altLang="zh-CN"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粗根特征参数</a:t>
            </a:r>
            <a:r>
              <a:rPr lang="zh-CN" altLang="en-US"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是</a:t>
            </a:r>
            <a:r>
              <a:rPr lang="zh-CN" altLang="zh-CN"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根系无损检测技术应用的核心挑战。</a:t>
            </a:r>
            <a:endParaRPr lang="zh-CN" altLang="en-US" dirty="0">
              <a:solidFill>
                <a:schemeClr val="tx1"/>
              </a:solidFill>
            </a:endParaRPr>
          </a:p>
        </p:txBody>
      </p:sp>
    </p:spTree>
    <p:extLst>
      <p:ext uri="{BB962C8B-B14F-4D97-AF65-F5344CB8AC3E}">
        <p14:creationId xmlns:p14="http://schemas.microsoft.com/office/powerpoint/2010/main" val="12945128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1"/>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二、国内外研究现状</a:t>
            </a:r>
          </a:p>
        </p:txBody>
      </p:sp>
      <p:pic>
        <p:nvPicPr>
          <p:cNvPr id="5" name="图片 4" descr="校标与各学院中英文名称左右组合.pdf - Adobe Reade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8</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9DB24E3-4CFE-63C6-48E2-EBA3A63D1ECA}"/>
              </a:ext>
            </a:extLst>
          </p:cNvPr>
          <p:cNvSpPr txBox="1"/>
          <p:nvPr/>
        </p:nvSpPr>
        <p:spPr>
          <a:xfrm>
            <a:off x="0" y="884445"/>
            <a:ext cx="3838222"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2.2</a:t>
            </a:r>
            <a:r>
              <a:rPr lang="zh-CN" altLang="en-US" sz="2000" b="1" dirty="0">
                <a:solidFill>
                  <a:srgbClr val="394761"/>
                </a:solidFill>
                <a:latin typeface="微软雅黑" panose="020B0503020204020204" pitchFamily="34" charset="-122"/>
                <a:ea typeface="微软雅黑" panose="020B0503020204020204" pitchFamily="34" charset="-122"/>
              </a:rPr>
              <a:t> 关键问题与创新点</a:t>
            </a:r>
          </a:p>
        </p:txBody>
      </p:sp>
      <p:sp>
        <p:nvSpPr>
          <p:cNvPr id="30" name="矩形 29"/>
          <p:cNvSpPr/>
          <p:nvPr/>
        </p:nvSpPr>
        <p:spPr>
          <a:xfrm>
            <a:off x="322443" y="2968917"/>
            <a:ext cx="7421736" cy="1440000"/>
          </a:xfrm>
          <a:prstGeom prst="rect">
            <a:avLst/>
          </a:prstGeom>
          <a:solidFill>
            <a:srgbClr val="E0E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dirty="0">
                <a:solidFill>
                  <a:schemeClr val="tx1"/>
                </a:solidFill>
                <a:latin typeface="Times New Roman" panose="02020603050405020304" pitchFamily="18" charset="0"/>
                <a:ea typeface="宋体" panose="02010600030101010101" pitchFamily="2" charset="-122"/>
              </a:rPr>
              <a:t>（</a:t>
            </a:r>
            <a:r>
              <a:rPr lang="en-US" altLang="zh-CN" dirty="0">
                <a:solidFill>
                  <a:schemeClr val="tx1"/>
                </a:solidFill>
                <a:latin typeface="Times New Roman" panose="02020603050405020304" pitchFamily="18" charset="0"/>
                <a:ea typeface="宋体" panose="02010600030101010101" pitchFamily="2" charset="-122"/>
              </a:rPr>
              <a:t>1</a:t>
            </a:r>
            <a:r>
              <a:rPr lang="zh-CN" altLang="en-US" dirty="0">
                <a:solidFill>
                  <a:schemeClr val="tx1"/>
                </a:solidFill>
                <a:latin typeface="Times New Roman" panose="02020603050405020304" pitchFamily="18" charset="0"/>
                <a:ea typeface="宋体" panose="02010600030101010101" pitchFamily="2" charset="-122"/>
              </a:rPr>
              <a:t>）数据域适配难；</a:t>
            </a:r>
          </a:p>
          <a:p>
            <a:pPr>
              <a:lnSpc>
                <a:spcPct val="150000"/>
              </a:lnSpc>
            </a:pPr>
            <a:r>
              <a:rPr lang="zh-CN" altLang="en-US" dirty="0">
                <a:solidFill>
                  <a:schemeClr val="tx1"/>
                </a:solidFill>
                <a:latin typeface="Times New Roman" panose="02020603050405020304" pitchFamily="18" charset="0"/>
                <a:ea typeface="宋体" panose="02010600030101010101" pitchFamily="2" charset="-122"/>
              </a:rPr>
              <a:t>（</a:t>
            </a:r>
            <a:r>
              <a:rPr lang="en-US" altLang="zh-CN" dirty="0">
                <a:solidFill>
                  <a:schemeClr val="tx1"/>
                </a:solidFill>
                <a:latin typeface="Times New Roman" panose="02020603050405020304" pitchFamily="18" charset="0"/>
                <a:ea typeface="宋体" panose="02010600030101010101" pitchFamily="2" charset="-122"/>
              </a:rPr>
              <a:t>2</a:t>
            </a:r>
            <a:r>
              <a:rPr lang="zh-CN" altLang="en-US" dirty="0">
                <a:solidFill>
                  <a:schemeClr val="tx1"/>
                </a:solidFill>
                <a:latin typeface="Times New Roman" panose="02020603050405020304" pitchFamily="18" charset="0"/>
                <a:ea typeface="宋体" panose="02010600030101010101" pitchFamily="2" charset="-122"/>
              </a:rPr>
              <a:t>）根系特征识别定位与粗根参数预测结果不准确；</a:t>
            </a:r>
          </a:p>
          <a:p>
            <a:pPr>
              <a:lnSpc>
                <a:spcPct val="150000"/>
              </a:lnSpc>
            </a:pPr>
            <a:r>
              <a:rPr lang="zh-CN" altLang="en-US" dirty="0">
                <a:solidFill>
                  <a:schemeClr val="tx1"/>
                </a:solidFill>
                <a:latin typeface="Times New Roman" panose="02020603050405020304" pitchFamily="18" charset="0"/>
                <a:ea typeface="宋体" panose="02010600030101010101" pitchFamily="2" charset="-122"/>
              </a:rPr>
              <a:t>（</a:t>
            </a:r>
            <a:r>
              <a:rPr lang="en-US" altLang="zh-CN" dirty="0">
                <a:solidFill>
                  <a:schemeClr val="tx1"/>
                </a:solidFill>
                <a:latin typeface="Times New Roman" panose="02020603050405020304" pitchFamily="18" charset="0"/>
                <a:ea typeface="宋体" panose="02010600030101010101" pitchFamily="2" charset="-122"/>
              </a:rPr>
              <a:t>3</a:t>
            </a:r>
            <a:r>
              <a:rPr lang="zh-CN" altLang="en-US" dirty="0">
                <a:solidFill>
                  <a:schemeClr val="tx1"/>
                </a:solidFill>
                <a:latin typeface="Times New Roman" panose="02020603050405020304" pitchFamily="18" charset="0"/>
                <a:ea typeface="宋体" panose="02010600030101010101" pitchFamily="2" charset="-122"/>
              </a:rPr>
              <a:t>）多任务优化平衡问题；</a:t>
            </a:r>
          </a:p>
        </p:txBody>
      </p:sp>
      <p:sp>
        <p:nvSpPr>
          <p:cNvPr id="31" name="矩形 30"/>
          <p:cNvSpPr/>
          <p:nvPr/>
        </p:nvSpPr>
        <p:spPr>
          <a:xfrm>
            <a:off x="322443" y="5052875"/>
            <a:ext cx="7421736" cy="1439999"/>
          </a:xfrm>
          <a:prstGeom prst="rect">
            <a:avLst/>
          </a:prstGeom>
          <a:solidFill>
            <a:srgbClr val="DFE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dirty="0">
                <a:solidFill>
                  <a:schemeClr val="tx1"/>
                </a:solidFill>
                <a:latin typeface="Times New Roman" panose="02020603050405020304" pitchFamily="18" charset="0"/>
                <a:ea typeface="宋体" panose="02010600030101010101" pitchFamily="2" charset="-122"/>
              </a:rPr>
              <a:t>（</a:t>
            </a:r>
            <a:r>
              <a:rPr lang="en-US" altLang="zh-CN" dirty="0">
                <a:solidFill>
                  <a:schemeClr val="tx1"/>
                </a:solidFill>
                <a:latin typeface="Times New Roman" panose="02020603050405020304" pitchFamily="18" charset="0"/>
                <a:ea typeface="宋体" panose="02010600030101010101" pitchFamily="2" charset="-122"/>
              </a:rPr>
              <a:t>1</a:t>
            </a:r>
            <a:r>
              <a:rPr lang="zh-CN" altLang="en-US" dirty="0">
                <a:solidFill>
                  <a:schemeClr val="tx1"/>
                </a:solidFill>
                <a:latin typeface="Times New Roman" panose="02020603050405020304" pitchFamily="18" charset="0"/>
                <a:ea typeface="宋体" panose="02010600030101010101" pitchFamily="2" charset="-122"/>
              </a:rPr>
              <a:t>）构建仿真实测数据域迁移模型，解决数据不足问题；</a:t>
            </a:r>
            <a:endParaRPr lang="en-US" altLang="zh-CN" dirty="0">
              <a:solidFill>
                <a:schemeClr val="tx1"/>
              </a:solidFill>
              <a:latin typeface="Times New Roman" panose="02020603050405020304" pitchFamily="18" charset="0"/>
              <a:ea typeface="宋体" panose="02010600030101010101" pitchFamily="2" charset="-122"/>
            </a:endParaRPr>
          </a:p>
          <a:p>
            <a:pPr>
              <a:lnSpc>
                <a:spcPct val="150000"/>
              </a:lnSpc>
            </a:pPr>
            <a:r>
              <a:rPr lang="zh-CN" altLang="en-US" dirty="0">
                <a:solidFill>
                  <a:schemeClr val="tx1"/>
                </a:solidFill>
                <a:latin typeface="Times New Roman" panose="02020603050405020304" pitchFamily="18" charset="0"/>
                <a:ea typeface="宋体" panose="02010600030101010101" pitchFamily="2" charset="-122"/>
              </a:rPr>
              <a:t>（</a:t>
            </a:r>
            <a:r>
              <a:rPr lang="en-US" altLang="zh-CN" dirty="0">
                <a:solidFill>
                  <a:schemeClr val="tx1"/>
                </a:solidFill>
                <a:latin typeface="Times New Roman" panose="02020603050405020304" pitchFamily="18" charset="0"/>
                <a:ea typeface="宋体" panose="02010600030101010101" pitchFamily="2" charset="-122"/>
              </a:rPr>
              <a:t>2</a:t>
            </a:r>
            <a:r>
              <a:rPr lang="zh-CN" altLang="en-US" dirty="0">
                <a:solidFill>
                  <a:schemeClr val="tx1"/>
                </a:solidFill>
                <a:latin typeface="Times New Roman" panose="02020603050405020304" pitchFamily="18" charset="0"/>
                <a:ea typeface="宋体" panose="02010600030101010101" pitchFamily="2" charset="-122"/>
              </a:rPr>
              <a:t>）设计检测任务与预测任务的多任务学习框架并创新性地引入物理约束损失函数；</a:t>
            </a: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32" name="文本框 31"/>
          <p:cNvSpPr txBox="1"/>
          <p:nvPr/>
        </p:nvSpPr>
        <p:spPr>
          <a:xfrm>
            <a:off x="322445" y="2535411"/>
            <a:ext cx="1648170" cy="432000"/>
          </a:xfrm>
          <a:prstGeom prst="rect">
            <a:avLst/>
          </a:prstGeom>
          <a:solidFill>
            <a:srgbClr val="00569F"/>
          </a:solidFill>
        </p:spPr>
        <p:txBody>
          <a:bodyPr wrap="square" rtlCol="0">
            <a:spAutoFit/>
          </a:bodyPr>
          <a:lstStyle/>
          <a:p>
            <a:pPr algn="ctr">
              <a:lnSpc>
                <a:spcPct val="125000"/>
              </a:lnSpc>
            </a:pPr>
            <a:r>
              <a:rPr lang="zh-CN" altLang="en-US" b="1" dirty="0">
                <a:solidFill>
                  <a:schemeClr val="bg1"/>
                </a:solidFill>
                <a:latin typeface="宋体" panose="02010600030101010101" pitchFamily="2" charset="-122"/>
                <a:ea typeface="宋体" panose="02010600030101010101" pitchFamily="2" charset="-122"/>
              </a:rPr>
              <a:t>关键问题</a:t>
            </a:r>
          </a:p>
        </p:txBody>
      </p:sp>
      <p:sp>
        <p:nvSpPr>
          <p:cNvPr id="33" name="文本框 32"/>
          <p:cNvSpPr txBox="1"/>
          <p:nvPr/>
        </p:nvSpPr>
        <p:spPr>
          <a:xfrm>
            <a:off x="322444" y="4625133"/>
            <a:ext cx="1648171" cy="432000"/>
          </a:xfrm>
          <a:prstGeom prst="rect">
            <a:avLst/>
          </a:prstGeom>
          <a:solidFill>
            <a:srgbClr val="00569F"/>
          </a:solidFill>
        </p:spPr>
        <p:txBody>
          <a:bodyPr wrap="square" rtlCol="0">
            <a:spAutoFit/>
          </a:bodyPr>
          <a:lstStyle/>
          <a:p>
            <a:pPr algn="ctr">
              <a:lnSpc>
                <a:spcPct val="125000"/>
              </a:lnSpc>
            </a:pPr>
            <a:r>
              <a:rPr lang="zh-CN" altLang="en-US" b="1" dirty="0">
                <a:solidFill>
                  <a:schemeClr val="bg1"/>
                </a:solidFill>
                <a:latin typeface="宋体" panose="02010600030101010101" pitchFamily="2" charset="-122"/>
                <a:ea typeface="宋体" panose="02010600030101010101" pitchFamily="2" charset="-122"/>
              </a:rPr>
              <a:t>项目创新点</a:t>
            </a:r>
          </a:p>
        </p:txBody>
      </p:sp>
      <p:sp>
        <p:nvSpPr>
          <p:cNvPr id="34" name="文本框 33"/>
          <p:cNvSpPr txBox="1"/>
          <p:nvPr/>
        </p:nvSpPr>
        <p:spPr>
          <a:xfrm>
            <a:off x="322445" y="1456171"/>
            <a:ext cx="1648170" cy="432000"/>
          </a:xfrm>
          <a:prstGeom prst="rect">
            <a:avLst/>
          </a:prstGeom>
          <a:solidFill>
            <a:srgbClr val="00569F"/>
          </a:solidFill>
        </p:spPr>
        <p:txBody>
          <a:bodyPr wrap="square" rtlCol="0">
            <a:spAutoFit/>
          </a:bodyPr>
          <a:lstStyle/>
          <a:p>
            <a:pPr algn="ctr">
              <a:lnSpc>
                <a:spcPct val="125000"/>
              </a:lnSpc>
            </a:pPr>
            <a:r>
              <a:rPr lang="zh-CN" altLang="en-US" b="1" dirty="0">
                <a:solidFill>
                  <a:schemeClr val="bg1"/>
                </a:solidFill>
                <a:latin typeface="宋体" panose="02010600030101010101" pitchFamily="2" charset="-122"/>
                <a:ea typeface="宋体" panose="02010600030101010101" pitchFamily="2" charset="-122"/>
              </a:rPr>
              <a:t>研究主题</a:t>
            </a:r>
          </a:p>
        </p:txBody>
      </p:sp>
      <p:sp>
        <p:nvSpPr>
          <p:cNvPr id="35" name="矩形 34"/>
          <p:cNvSpPr/>
          <p:nvPr/>
        </p:nvSpPr>
        <p:spPr>
          <a:xfrm>
            <a:off x="322443" y="1888171"/>
            <a:ext cx="7421737" cy="43066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latin typeface="宋体" panose="02010600030101010101" pitchFamily="2" charset="-122"/>
                <a:ea typeface="宋体" panose="02010600030101010101" pitchFamily="2" charset="-122"/>
              </a:rPr>
              <a:t>基于深度学习的树木根系表型多参数雷达波解析方法研究</a:t>
            </a:r>
          </a:p>
        </p:txBody>
      </p:sp>
      <p:pic>
        <p:nvPicPr>
          <p:cNvPr id="13" name="图片 12"/>
          <p:cNvPicPr>
            <a:picLocks noChangeAspect="1"/>
          </p:cNvPicPr>
          <p:nvPr/>
        </p:nvPicPr>
        <p:blipFill rotWithShape="1">
          <a:blip r:embed="rId4"/>
          <a:srcRect t="10622" r="324"/>
          <a:stretch/>
        </p:blipFill>
        <p:spPr>
          <a:xfrm>
            <a:off x="8362807" y="1888171"/>
            <a:ext cx="3210565" cy="2160000"/>
          </a:xfrm>
          <a:prstGeom prst="rect">
            <a:avLst/>
          </a:prstGeom>
        </p:spPr>
      </p:pic>
      <p:pic>
        <p:nvPicPr>
          <p:cNvPr id="15" name="图片 14"/>
          <p:cNvPicPr>
            <a:picLocks noChangeAspect="1"/>
          </p:cNvPicPr>
          <p:nvPr/>
        </p:nvPicPr>
        <p:blipFill>
          <a:blip r:embed="rId5"/>
          <a:stretch>
            <a:fillRect/>
          </a:stretch>
        </p:blipFill>
        <p:spPr>
          <a:xfrm>
            <a:off x="8362806" y="4332874"/>
            <a:ext cx="3210566" cy="2160000"/>
          </a:xfrm>
          <a:prstGeom prst="rect">
            <a:avLst/>
          </a:prstGeom>
        </p:spPr>
      </p:pic>
    </p:spTree>
    <p:extLst>
      <p:ext uri="{BB962C8B-B14F-4D97-AF65-F5344CB8AC3E}">
        <p14:creationId xmlns:p14="http://schemas.microsoft.com/office/powerpoint/2010/main" val="36957256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3120571" cy="6858000"/>
          </a:xfrm>
          <a:prstGeom prst="rect">
            <a:avLst/>
          </a:prstGeom>
          <a:solidFill>
            <a:srgbClr val="0056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5" name="powerpoint template design by DAJU_PPT正版来源小红书大橘PPT微信DAJU_PPT请勿抄袭搬运！盗版必究！">
            <a:extLst>
              <a:ext uri="{FF2B5EF4-FFF2-40B4-BE49-F238E27FC236}">
                <a16:creationId xmlns:a16="http://schemas.microsoft.com/office/drawing/2014/main" id="{600EBE13-6021-4DDA-AABE-7D0C6DF6E6F4}"/>
              </a:ext>
            </a:extLst>
          </p:cNvPr>
          <p:cNvSpPr/>
          <p:nvPr/>
        </p:nvSpPr>
        <p:spPr>
          <a:xfrm>
            <a:off x="306196" y="931271"/>
            <a:ext cx="2481192" cy="634020"/>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en-US" sz="3200" b="1" dirty="0">
                <a:solidFill>
                  <a:schemeClr val="bg2"/>
                </a:solidFill>
                <a:latin typeface="+mj-ea"/>
                <a:ea typeface="+mj-ea"/>
                <a:cs typeface="+mn-ea"/>
                <a:sym typeface="+mn-lt"/>
              </a:rPr>
              <a:t>CONTENTS</a:t>
            </a:r>
          </a:p>
        </p:txBody>
      </p:sp>
      <p:sp>
        <p:nvSpPr>
          <p:cNvPr id="6" name="powerpoint template design by DAJU_PPT正版来源小红书大橘PPT微信DAJU_PPT请勿抄袭搬运！盗版必究！">
            <a:extLst>
              <a:ext uri="{FF2B5EF4-FFF2-40B4-BE49-F238E27FC236}">
                <a16:creationId xmlns:a16="http://schemas.microsoft.com/office/drawing/2014/main" id="{04D810FB-B2CF-4AD5-BA71-D18E8234D0A7}"/>
              </a:ext>
            </a:extLst>
          </p:cNvPr>
          <p:cNvSpPr/>
          <p:nvPr/>
        </p:nvSpPr>
        <p:spPr>
          <a:xfrm>
            <a:off x="890203" y="314625"/>
            <a:ext cx="1313180" cy="837152"/>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zh-CN" altLang="en-US" sz="4400" b="1" dirty="0">
                <a:solidFill>
                  <a:schemeClr val="bg2"/>
                </a:solidFill>
                <a:latin typeface="+mj-ea"/>
                <a:ea typeface="+mj-ea"/>
                <a:cs typeface="+mn-ea"/>
                <a:sym typeface="+mn-lt"/>
              </a:rPr>
              <a:t>目录</a:t>
            </a:r>
            <a:endParaRPr lang="en-US" sz="4400" b="1" dirty="0">
              <a:solidFill>
                <a:schemeClr val="bg2"/>
              </a:solidFill>
              <a:latin typeface="+mj-ea"/>
              <a:ea typeface="+mj-ea"/>
              <a:cs typeface="+mn-ea"/>
              <a:sym typeface="+mn-lt"/>
            </a:endParaRPr>
          </a:p>
        </p:txBody>
      </p:sp>
      <p:sp>
        <p:nvSpPr>
          <p:cNvPr id="7"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9</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圆角矩形 7"/>
          <p:cNvSpPr/>
          <p:nvPr/>
        </p:nvSpPr>
        <p:spPr>
          <a:xfrm>
            <a:off x="2072742" y="195399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9" name="圆角矩形 8"/>
          <p:cNvSpPr/>
          <p:nvPr/>
        </p:nvSpPr>
        <p:spPr>
          <a:xfrm>
            <a:off x="2873171" y="200799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1</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0" name="圆角矩形 9"/>
          <p:cNvSpPr/>
          <p:nvPr/>
        </p:nvSpPr>
        <p:spPr>
          <a:xfrm>
            <a:off x="3606643" y="1970417"/>
            <a:ext cx="4693601" cy="468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研究背景与意义</a:t>
            </a:r>
          </a:p>
        </p:txBody>
      </p:sp>
      <p:sp>
        <p:nvSpPr>
          <p:cNvPr id="11" name="圆角矩形 10"/>
          <p:cNvSpPr/>
          <p:nvPr/>
        </p:nvSpPr>
        <p:spPr>
          <a:xfrm>
            <a:off x="2072742" y="267957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12" name="圆角矩形 11"/>
          <p:cNvSpPr/>
          <p:nvPr/>
        </p:nvSpPr>
        <p:spPr>
          <a:xfrm>
            <a:off x="2873171" y="273357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2</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3" name="圆角矩形 12"/>
          <p:cNvSpPr/>
          <p:nvPr/>
        </p:nvSpPr>
        <p:spPr>
          <a:xfrm>
            <a:off x="3606643" y="2695997"/>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国内外研究现状</a:t>
            </a:r>
          </a:p>
        </p:txBody>
      </p:sp>
      <p:sp>
        <p:nvSpPr>
          <p:cNvPr id="14" name="圆角矩形 13"/>
          <p:cNvSpPr/>
          <p:nvPr/>
        </p:nvSpPr>
        <p:spPr>
          <a:xfrm>
            <a:off x="2072742" y="3405155"/>
            <a:ext cx="7020000" cy="504000"/>
          </a:xfrm>
          <a:prstGeom prst="roundRect">
            <a:avLst/>
          </a:prstGeom>
          <a:solidFill>
            <a:srgbClr val="ABB7CD"/>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5" name="圆角矩形 14"/>
          <p:cNvSpPr/>
          <p:nvPr/>
        </p:nvSpPr>
        <p:spPr>
          <a:xfrm>
            <a:off x="2873171" y="345915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3</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6" name="圆角矩形 15"/>
          <p:cNvSpPr/>
          <p:nvPr/>
        </p:nvSpPr>
        <p:spPr>
          <a:xfrm>
            <a:off x="3606643" y="3421577"/>
            <a:ext cx="4693601" cy="468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rgbClr val="1A5FFA"/>
                </a:solidFill>
                <a:latin typeface="楷体" panose="02010609060101010101" pitchFamily="49" charset="-122"/>
                <a:ea typeface="楷体" panose="02010609060101010101" pitchFamily="49" charset="-122"/>
                <a:cs typeface="Times New Roman" panose="02020603050405020304" pitchFamily="18" charset="0"/>
              </a:rPr>
              <a:t>研究思路与技术路线</a:t>
            </a:r>
          </a:p>
        </p:txBody>
      </p:sp>
      <p:sp>
        <p:nvSpPr>
          <p:cNvPr id="17" name="圆角矩形 16"/>
          <p:cNvSpPr/>
          <p:nvPr/>
        </p:nvSpPr>
        <p:spPr>
          <a:xfrm>
            <a:off x="2072742" y="4129958"/>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18" name="圆角矩形 17"/>
          <p:cNvSpPr/>
          <p:nvPr/>
        </p:nvSpPr>
        <p:spPr>
          <a:xfrm>
            <a:off x="2873171" y="4183958"/>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4</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9" name="圆角矩形 18"/>
          <p:cNvSpPr/>
          <p:nvPr/>
        </p:nvSpPr>
        <p:spPr>
          <a:xfrm>
            <a:off x="3606643" y="4146380"/>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研究内容与方案</a:t>
            </a:r>
          </a:p>
        </p:txBody>
      </p:sp>
      <p:sp>
        <p:nvSpPr>
          <p:cNvPr id="20" name="圆角矩形 19"/>
          <p:cNvSpPr/>
          <p:nvPr/>
        </p:nvSpPr>
        <p:spPr>
          <a:xfrm>
            <a:off x="2072742" y="4848839"/>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21" name="圆角矩形 20"/>
          <p:cNvSpPr/>
          <p:nvPr/>
        </p:nvSpPr>
        <p:spPr>
          <a:xfrm>
            <a:off x="2873171" y="4902839"/>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5</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22" name="圆角矩形 21"/>
          <p:cNvSpPr/>
          <p:nvPr/>
        </p:nvSpPr>
        <p:spPr>
          <a:xfrm>
            <a:off x="3606643" y="4865261"/>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研究计划与预期成果</a:t>
            </a:r>
          </a:p>
        </p:txBody>
      </p:sp>
    </p:spTree>
    <p:extLst>
      <p:ext uri="{BB962C8B-B14F-4D97-AF65-F5344CB8AC3E}">
        <p14:creationId xmlns:p14="http://schemas.microsoft.com/office/powerpoint/2010/main" val="3581982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0286" y="-72000"/>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三、研究思路与技术路线</a:t>
            </a:r>
          </a:p>
        </p:txBody>
      </p:sp>
      <p:pic>
        <p:nvPicPr>
          <p:cNvPr id="5" name="图片 4" descr="校标与各学院中英文名称左右组合.pdf - Adobe Reade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10</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9DB24E3-4CFE-63C6-48E2-EBA3A63D1ECA}"/>
              </a:ext>
            </a:extLst>
          </p:cNvPr>
          <p:cNvSpPr txBox="1"/>
          <p:nvPr/>
        </p:nvSpPr>
        <p:spPr>
          <a:xfrm>
            <a:off x="0" y="884445"/>
            <a:ext cx="3838222"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3.1</a:t>
            </a:r>
            <a:r>
              <a:rPr lang="zh-CN" altLang="en-US" sz="2000" b="1" dirty="0">
                <a:solidFill>
                  <a:srgbClr val="394761"/>
                </a:solidFill>
                <a:latin typeface="微软雅黑" panose="020B0503020204020204" pitchFamily="34" charset="-122"/>
                <a:ea typeface="微软雅黑" panose="020B0503020204020204" pitchFamily="34" charset="-122"/>
              </a:rPr>
              <a:t> 数据域适配</a:t>
            </a:r>
          </a:p>
        </p:txBody>
      </p:sp>
      <p:sp>
        <p:nvSpPr>
          <p:cNvPr id="50" name="文本框 49">
            <a:extLst>
              <a:ext uri="{FF2B5EF4-FFF2-40B4-BE49-F238E27FC236}">
                <a16:creationId xmlns:a16="http://schemas.microsoft.com/office/drawing/2014/main" id="{CBD0C8D8-4BCE-4660-BF81-E93BFC0275ED}"/>
              </a:ext>
            </a:extLst>
          </p:cNvPr>
          <p:cNvSpPr txBox="1"/>
          <p:nvPr/>
        </p:nvSpPr>
        <p:spPr>
          <a:xfrm>
            <a:off x="682245" y="4422842"/>
            <a:ext cx="1005142" cy="369332"/>
          </a:xfrm>
          <a:prstGeom prst="rect">
            <a:avLst/>
          </a:prstGeom>
          <a:noFill/>
        </p:spPr>
        <p:txBody>
          <a:bodyPr wrap="square" rtlCol="0">
            <a:spAutoFit/>
          </a:bodyPr>
          <a:lstStyle/>
          <a:p>
            <a:r>
              <a:rPr lang="en-US" altLang="zh-CN" dirty="0"/>
              <a:t>B-scan</a:t>
            </a:r>
            <a:endParaRPr lang="zh-CN" altLang="en-US" dirty="0"/>
          </a:p>
        </p:txBody>
      </p:sp>
      <p:grpSp>
        <p:nvGrpSpPr>
          <p:cNvPr id="54" name="组合 53">
            <a:extLst>
              <a:ext uri="{FF2B5EF4-FFF2-40B4-BE49-F238E27FC236}">
                <a16:creationId xmlns:a16="http://schemas.microsoft.com/office/drawing/2014/main" id="{A67FE6DF-48FE-4092-8C5B-E9CC92B806FA}"/>
              </a:ext>
            </a:extLst>
          </p:cNvPr>
          <p:cNvGrpSpPr/>
          <p:nvPr/>
        </p:nvGrpSpPr>
        <p:grpSpPr>
          <a:xfrm>
            <a:off x="581660" y="1687314"/>
            <a:ext cx="6868160" cy="3861768"/>
            <a:chOff x="581660" y="1687314"/>
            <a:chExt cx="6868160" cy="3861768"/>
          </a:xfrm>
        </p:grpSpPr>
        <p:pic>
          <p:nvPicPr>
            <p:cNvPr id="48" name="图片 47">
              <a:extLst>
                <a:ext uri="{FF2B5EF4-FFF2-40B4-BE49-F238E27FC236}">
                  <a16:creationId xmlns:a16="http://schemas.microsoft.com/office/drawing/2014/main" id="{AB2E45A2-4458-4A2A-8035-CDD121640E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1660" y="1687314"/>
              <a:ext cx="6868160" cy="3861768"/>
            </a:xfrm>
            <a:prstGeom prst="rect">
              <a:avLst/>
            </a:prstGeom>
            <a:ln>
              <a:noFill/>
            </a:ln>
            <a:effectLst>
              <a:softEdge rad="112500"/>
            </a:effectLst>
          </p:spPr>
        </p:pic>
        <p:pic>
          <p:nvPicPr>
            <p:cNvPr id="46" name="图片 45">
              <a:extLst>
                <a:ext uri="{FF2B5EF4-FFF2-40B4-BE49-F238E27FC236}">
                  <a16:creationId xmlns:a16="http://schemas.microsoft.com/office/drawing/2014/main" id="{C35B05C7-6769-43B4-A718-F83C19C08B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9296" y="4403770"/>
              <a:ext cx="1916182" cy="605109"/>
            </a:xfrm>
            <a:prstGeom prst="rect">
              <a:avLst/>
            </a:prstGeom>
          </p:spPr>
        </p:pic>
        <p:sp>
          <p:nvSpPr>
            <p:cNvPr id="49" name="文本框 48">
              <a:extLst>
                <a:ext uri="{FF2B5EF4-FFF2-40B4-BE49-F238E27FC236}">
                  <a16:creationId xmlns:a16="http://schemas.microsoft.com/office/drawing/2014/main" id="{9E110C03-2FC7-4293-A526-4FBE415F3E18}"/>
                </a:ext>
              </a:extLst>
            </p:cNvPr>
            <p:cNvSpPr txBox="1"/>
            <p:nvPr/>
          </p:nvSpPr>
          <p:spPr>
            <a:xfrm>
              <a:off x="928360" y="4990552"/>
              <a:ext cx="1528654" cy="369332"/>
            </a:xfrm>
            <a:prstGeom prst="rect">
              <a:avLst/>
            </a:prstGeom>
            <a:noFill/>
          </p:spPr>
          <p:txBody>
            <a:bodyPr wrap="square" rtlCol="0">
              <a:spAutoFit/>
            </a:bodyPr>
            <a:lstStyle/>
            <a:p>
              <a:r>
                <a:rPr lang="en-US" altLang="zh-CN" dirty="0" err="1">
                  <a:solidFill>
                    <a:schemeClr val="bg2"/>
                  </a:solidFill>
                </a:rPr>
                <a:t>gprMax</a:t>
              </a:r>
              <a:r>
                <a:rPr lang="zh-CN" altLang="en-US" dirty="0">
                  <a:solidFill>
                    <a:schemeClr val="bg2"/>
                  </a:solidFill>
                </a:rPr>
                <a:t>仿真</a:t>
              </a:r>
            </a:p>
          </p:txBody>
        </p:sp>
        <p:sp>
          <p:nvSpPr>
            <p:cNvPr id="51" name="文本框 50">
              <a:extLst>
                <a:ext uri="{FF2B5EF4-FFF2-40B4-BE49-F238E27FC236}">
                  <a16:creationId xmlns:a16="http://schemas.microsoft.com/office/drawing/2014/main" id="{F4604C66-CDFF-4F8F-9A0B-7B935019E84E}"/>
                </a:ext>
              </a:extLst>
            </p:cNvPr>
            <p:cNvSpPr txBox="1"/>
            <p:nvPr/>
          </p:nvSpPr>
          <p:spPr>
            <a:xfrm>
              <a:off x="3202617" y="4990552"/>
              <a:ext cx="1854093" cy="369332"/>
            </a:xfrm>
            <a:prstGeom prst="rect">
              <a:avLst/>
            </a:prstGeom>
            <a:noFill/>
          </p:spPr>
          <p:txBody>
            <a:bodyPr wrap="square" rtlCol="0">
              <a:spAutoFit/>
            </a:bodyPr>
            <a:lstStyle/>
            <a:p>
              <a:r>
                <a:rPr lang="zh-CN" altLang="en-US" dirty="0">
                  <a:solidFill>
                    <a:schemeClr val="bg1"/>
                  </a:solidFill>
                </a:rPr>
                <a:t>野外数据实测</a:t>
              </a:r>
            </a:p>
          </p:txBody>
        </p:sp>
      </p:grpSp>
      <p:sp>
        <p:nvSpPr>
          <p:cNvPr id="55" name="文本框 54">
            <a:extLst>
              <a:ext uri="{FF2B5EF4-FFF2-40B4-BE49-F238E27FC236}">
                <a16:creationId xmlns:a16="http://schemas.microsoft.com/office/drawing/2014/main" id="{D93E3962-4CD9-4FA4-83F2-E4BD8B4D9146}"/>
              </a:ext>
            </a:extLst>
          </p:cNvPr>
          <p:cNvSpPr txBox="1"/>
          <p:nvPr/>
        </p:nvSpPr>
        <p:spPr>
          <a:xfrm>
            <a:off x="5381699" y="2896763"/>
            <a:ext cx="1033061" cy="246221"/>
          </a:xfrm>
          <a:prstGeom prst="rect">
            <a:avLst/>
          </a:prstGeom>
          <a:noFill/>
        </p:spPr>
        <p:txBody>
          <a:bodyPr wrap="square" rtlCol="0">
            <a:spAutoFit/>
          </a:bodyPr>
          <a:lstStyle/>
          <a:p>
            <a:r>
              <a:rPr lang="en-US" altLang="zh-CN" sz="1000" dirty="0"/>
              <a:t>G-sim-to-real</a:t>
            </a:r>
            <a:endParaRPr lang="zh-CN" altLang="en-US" sz="1000" dirty="0"/>
          </a:p>
        </p:txBody>
      </p:sp>
      <p:sp>
        <p:nvSpPr>
          <p:cNvPr id="56" name="文本框 55">
            <a:extLst>
              <a:ext uri="{FF2B5EF4-FFF2-40B4-BE49-F238E27FC236}">
                <a16:creationId xmlns:a16="http://schemas.microsoft.com/office/drawing/2014/main" id="{48D100A8-6AAD-4DF6-B37F-A79B2731C138}"/>
              </a:ext>
            </a:extLst>
          </p:cNvPr>
          <p:cNvSpPr txBox="1"/>
          <p:nvPr/>
        </p:nvSpPr>
        <p:spPr>
          <a:xfrm>
            <a:off x="5374718" y="4275653"/>
            <a:ext cx="1033061" cy="246221"/>
          </a:xfrm>
          <a:prstGeom prst="rect">
            <a:avLst/>
          </a:prstGeom>
          <a:noFill/>
        </p:spPr>
        <p:txBody>
          <a:bodyPr wrap="square" rtlCol="0">
            <a:spAutoFit/>
          </a:bodyPr>
          <a:lstStyle/>
          <a:p>
            <a:r>
              <a:rPr lang="en-US" altLang="zh-CN" sz="1000" dirty="0"/>
              <a:t>G-real-to-sim</a:t>
            </a:r>
            <a:endParaRPr lang="zh-CN" altLang="en-US" sz="1000" dirty="0"/>
          </a:p>
        </p:txBody>
      </p:sp>
      <p:sp>
        <p:nvSpPr>
          <p:cNvPr id="58" name="文本框 57">
            <a:extLst>
              <a:ext uri="{FF2B5EF4-FFF2-40B4-BE49-F238E27FC236}">
                <a16:creationId xmlns:a16="http://schemas.microsoft.com/office/drawing/2014/main" id="{6693AF49-5524-446B-8D34-C872C49F2AEA}"/>
              </a:ext>
            </a:extLst>
          </p:cNvPr>
          <p:cNvSpPr txBox="1"/>
          <p:nvPr/>
        </p:nvSpPr>
        <p:spPr>
          <a:xfrm>
            <a:off x="6538926" y="3482921"/>
            <a:ext cx="1153202" cy="400110"/>
          </a:xfrm>
          <a:prstGeom prst="rect">
            <a:avLst/>
          </a:prstGeom>
          <a:noFill/>
        </p:spPr>
        <p:txBody>
          <a:bodyPr wrap="square" rtlCol="0">
            <a:spAutoFit/>
          </a:bodyPr>
          <a:lstStyle/>
          <a:p>
            <a:r>
              <a:rPr lang="en-US" altLang="zh-CN" sz="1000" dirty="0" err="1"/>
              <a:t>CycleGan</a:t>
            </a:r>
            <a:endParaRPr lang="en-US" altLang="zh-CN" sz="1000" dirty="0"/>
          </a:p>
          <a:p>
            <a:r>
              <a:rPr lang="zh-CN" altLang="en-US" sz="1000" dirty="0"/>
              <a:t>  域适配</a:t>
            </a:r>
          </a:p>
        </p:txBody>
      </p:sp>
      <p:sp>
        <p:nvSpPr>
          <p:cNvPr id="59" name="文本框 58">
            <a:extLst>
              <a:ext uri="{FF2B5EF4-FFF2-40B4-BE49-F238E27FC236}">
                <a16:creationId xmlns:a16="http://schemas.microsoft.com/office/drawing/2014/main" id="{1F589AAD-14B5-43B1-A27D-33940A01B578}"/>
              </a:ext>
            </a:extLst>
          </p:cNvPr>
          <p:cNvSpPr txBox="1"/>
          <p:nvPr/>
        </p:nvSpPr>
        <p:spPr>
          <a:xfrm>
            <a:off x="5381699" y="3636810"/>
            <a:ext cx="1996322" cy="246221"/>
          </a:xfrm>
          <a:prstGeom prst="rect">
            <a:avLst/>
          </a:prstGeom>
          <a:noFill/>
        </p:spPr>
        <p:txBody>
          <a:bodyPr wrap="square" rtlCol="0">
            <a:spAutoFit/>
          </a:bodyPr>
          <a:lstStyle/>
          <a:p>
            <a:r>
              <a:rPr lang="zh-CN" altLang="en-US" sz="1000" dirty="0">
                <a:solidFill>
                  <a:schemeClr val="bg2"/>
                </a:solidFill>
              </a:rPr>
              <a:t>循环一致性最小化</a:t>
            </a:r>
          </a:p>
        </p:txBody>
      </p:sp>
      <p:pic>
        <p:nvPicPr>
          <p:cNvPr id="70" name="图片 69">
            <a:extLst>
              <a:ext uri="{FF2B5EF4-FFF2-40B4-BE49-F238E27FC236}">
                <a16:creationId xmlns:a16="http://schemas.microsoft.com/office/drawing/2014/main" id="{5B707A4D-7126-4DE0-B8F3-E7B3A13C07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59165" y="1765214"/>
            <a:ext cx="1701887" cy="16637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2" name="图片 71">
            <a:extLst>
              <a:ext uri="{FF2B5EF4-FFF2-40B4-BE49-F238E27FC236}">
                <a16:creationId xmlns:a16="http://schemas.microsoft.com/office/drawing/2014/main" id="{CAD80485-EDA2-49FE-9E82-8B0B1FDDE3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06805" y="1765214"/>
            <a:ext cx="1701887" cy="16637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2" name="图片 81">
            <a:extLst>
              <a:ext uri="{FF2B5EF4-FFF2-40B4-BE49-F238E27FC236}">
                <a16:creationId xmlns:a16="http://schemas.microsoft.com/office/drawing/2014/main" id="{4A16EC0C-B02C-48BD-B8D1-3093C954D180}"/>
              </a:ext>
            </a:extLst>
          </p:cNvPr>
          <p:cNvPicPr>
            <a:picLocks noChangeAspect="1"/>
          </p:cNvPicPr>
          <p:nvPr/>
        </p:nvPicPr>
        <p:blipFill rotWithShape="1">
          <a:blip r:embed="rId8">
            <a:extLst>
              <a:ext uri="{28A0092B-C50C-407E-A947-70E740481C1C}">
                <a14:useLocalDpi xmlns:a14="http://schemas.microsoft.com/office/drawing/2010/main" val="0"/>
              </a:ext>
            </a:extLst>
          </a:blip>
          <a:srcRect r="3663"/>
          <a:stretch/>
        </p:blipFill>
        <p:spPr>
          <a:xfrm>
            <a:off x="10465846" y="3780386"/>
            <a:ext cx="1602838" cy="16637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4" name="图片 83">
            <a:extLst>
              <a:ext uri="{FF2B5EF4-FFF2-40B4-BE49-F238E27FC236}">
                <a16:creationId xmlns:a16="http://schemas.microsoft.com/office/drawing/2014/main" id="{79785C5F-2D5A-49FB-8218-11BCDA688D1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85900" y="3781926"/>
            <a:ext cx="1663787" cy="166378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5" name="文本框 84">
            <a:extLst>
              <a:ext uri="{FF2B5EF4-FFF2-40B4-BE49-F238E27FC236}">
                <a16:creationId xmlns:a16="http://schemas.microsoft.com/office/drawing/2014/main" id="{27EEAB7C-8CE3-4B81-8E22-E47B45BDD985}"/>
              </a:ext>
            </a:extLst>
          </p:cNvPr>
          <p:cNvSpPr txBox="1"/>
          <p:nvPr/>
        </p:nvSpPr>
        <p:spPr>
          <a:xfrm>
            <a:off x="8557308" y="1457437"/>
            <a:ext cx="1292380" cy="307777"/>
          </a:xfrm>
          <a:prstGeom prst="rect">
            <a:avLst/>
          </a:prstGeom>
          <a:noFill/>
        </p:spPr>
        <p:txBody>
          <a:bodyPr wrap="square" rtlCol="0">
            <a:spAutoFit/>
          </a:bodyPr>
          <a:lstStyle/>
          <a:p>
            <a:r>
              <a:rPr lang="zh-CN" altLang="en-US" sz="1400" dirty="0"/>
              <a:t>仿真数据</a:t>
            </a:r>
          </a:p>
        </p:txBody>
      </p:sp>
      <p:sp>
        <p:nvSpPr>
          <p:cNvPr id="86" name="文本框 85">
            <a:extLst>
              <a:ext uri="{FF2B5EF4-FFF2-40B4-BE49-F238E27FC236}">
                <a16:creationId xmlns:a16="http://schemas.microsoft.com/office/drawing/2014/main" id="{ADF309B1-7990-4778-ACF9-AA352856FCCE}"/>
              </a:ext>
            </a:extLst>
          </p:cNvPr>
          <p:cNvSpPr txBox="1"/>
          <p:nvPr/>
        </p:nvSpPr>
        <p:spPr>
          <a:xfrm>
            <a:off x="10570397" y="1457437"/>
            <a:ext cx="1464317" cy="307777"/>
          </a:xfrm>
          <a:prstGeom prst="rect">
            <a:avLst/>
          </a:prstGeom>
          <a:noFill/>
        </p:spPr>
        <p:txBody>
          <a:bodyPr wrap="square" rtlCol="0">
            <a:spAutoFit/>
          </a:bodyPr>
          <a:lstStyle/>
          <a:p>
            <a:r>
              <a:rPr lang="zh-CN" altLang="en-US" sz="1400" dirty="0"/>
              <a:t>仿真转实测数据</a:t>
            </a:r>
          </a:p>
        </p:txBody>
      </p:sp>
      <p:sp>
        <p:nvSpPr>
          <p:cNvPr id="87" name="文本框 86">
            <a:extLst>
              <a:ext uri="{FF2B5EF4-FFF2-40B4-BE49-F238E27FC236}">
                <a16:creationId xmlns:a16="http://schemas.microsoft.com/office/drawing/2014/main" id="{D21E1ADB-7669-4E94-B2E0-7744CBA67699}"/>
              </a:ext>
            </a:extLst>
          </p:cNvPr>
          <p:cNvSpPr txBox="1"/>
          <p:nvPr/>
        </p:nvSpPr>
        <p:spPr>
          <a:xfrm>
            <a:off x="8517165" y="3472609"/>
            <a:ext cx="1343888" cy="307777"/>
          </a:xfrm>
          <a:prstGeom prst="rect">
            <a:avLst/>
          </a:prstGeom>
          <a:noFill/>
        </p:spPr>
        <p:txBody>
          <a:bodyPr wrap="square" rtlCol="0">
            <a:spAutoFit/>
          </a:bodyPr>
          <a:lstStyle/>
          <a:p>
            <a:r>
              <a:rPr lang="zh-CN" altLang="en-US" sz="1400" dirty="0"/>
              <a:t>实测数据</a:t>
            </a:r>
          </a:p>
        </p:txBody>
      </p:sp>
      <p:sp>
        <p:nvSpPr>
          <p:cNvPr id="88" name="文本框 87">
            <a:extLst>
              <a:ext uri="{FF2B5EF4-FFF2-40B4-BE49-F238E27FC236}">
                <a16:creationId xmlns:a16="http://schemas.microsoft.com/office/drawing/2014/main" id="{6D82A244-C190-4B72-877F-1675DEAA395D}"/>
              </a:ext>
            </a:extLst>
          </p:cNvPr>
          <p:cNvSpPr txBox="1"/>
          <p:nvPr/>
        </p:nvSpPr>
        <p:spPr>
          <a:xfrm>
            <a:off x="10570397" y="3495791"/>
            <a:ext cx="1464317" cy="307777"/>
          </a:xfrm>
          <a:prstGeom prst="rect">
            <a:avLst/>
          </a:prstGeom>
          <a:noFill/>
        </p:spPr>
        <p:txBody>
          <a:bodyPr wrap="square" rtlCol="0">
            <a:spAutoFit/>
          </a:bodyPr>
          <a:lstStyle/>
          <a:p>
            <a:r>
              <a:rPr lang="zh-CN" altLang="en-US" sz="1400" dirty="0"/>
              <a:t>实测转仿真数据</a:t>
            </a:r>
          </a:p>
        </p:txBody>
      </p:sp>
      <p:cxnSp>
        <p:nvCxnSpPr>
          <p:cNvPr id="90" name="直接箭头连接符 89">
            <a:extLst>
              <a:ext uri="{FF2B5EF4-FFF2-40B4-BE49-F238E27FC236}">
                <a16:creationId xmlns:a16="http://schemas.microsoft.com/office/drawing/2014/main" id="{A8159F11-1AA0-4A32-93CD-1CD1B9BBAFD3}"/>
              </a:ext>
            </a:extLst>
          </p:cNvPr>
          <p:cNvCxnSpPr>
            <a:cxnSpLocks/>
            <a:stCxn id="85" idx="3"/>
          </p:cNvCxnSpPr>
          <p:nvPr/>
        </p:nvCxnSpPr>
        <p:spPr>
          <a:xfrm>
            <a:off x="9849688" y="1611326"/>
            <a:ext cx="7207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3" name="直接箭头连接符 92">
            <a:extLst>
              <a:ext uri="{FF2B5EF4-FFF2-40B4-BE49-F238E27FC236}">
                <a16:creationId xmlns:a16="http://schemas.microsoft.com/office/drawing/2014/main" id="{8043255A-E631-444E-99DE-64B4FDDE6C8B}"/>
              </a:ext>
            </a:extLst>
          </p:cNvPr>
          <p:cNvCxnSpPr>
            <a:cxnSpLocks/>
          </p:cNvCxnSpPr>
          <p:nvPr/>
        </p:nvCxnSpPr>
        <p:spPr>
          <a:xfrm>
            <a:off x="9861052" y="3636810"/>
            <a:ext cx="7207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0887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1"/>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BAAF4D7E-AB84-4069-B550-BAB18D3F83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8454" y="1479446"/>
            <a:ext cx="8215091" cy="4619108"/>
          </a:xfrm>
          <a:prstGeom prst="rect">
            <a:avLst/>
          </a:prstGeom>
          <a:ln>
            <a:noFill/>
          </a:ln>
          <a:effectLst>
            <a:softEdge rad="112500"/>
          </a:effectLst>
        </p:spPr>
      </p:pic>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三、研究思路与技术路线</a:t>
            </a:r>
          </a:p>
        </p:txBody>
      </p:sp>
      <p:pic>
        <p:nvPicPr>
          <p:cNvPr id="5" name="图片 4" descr="校标与各学院中英文名称左右组合.pdf - Adobe Reade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11</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9DB24E3-4CFE-63C6-48E2-EBA3A63D1ECA}"/>
              </a:ext>
            </a:extLst>
          </p:cNvPr>
          <p:cNvSpPr txBox="1"/>
          <p:nvPr/>
        </p:nvSpPr>
        <p:spPr>
          <a:xfrm>
            <a:off x="0" y="884445"/>
            <a:ext cx="3838222"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3.2</a:t>
            </a:r>
            <a:r>
              <a:rPr lang="zh-CN" altLang="en-US" sz="2000" b="1" dirty="0">
                <a:solidFill>
                  <a:srgbClr val="394761"/>
                </a:solidFill>
                <a:latin typeface="微软雅黑" panose="020B0503020204020204" pitchFamily="34" charset="-122"/>
                <a:ea typeface="微软雅黑" panose="020B0503020204020204" pitchFamily="34" charset="-122"/>
              </a:rPr>
              <a:t> 技术路线</a:t>
            </a:r>
          </a:p>
        </p:txBody>
      </p:sp>
      <p:pic>
        <p:nvPicPr>
          <p:cNvPr id="13" name="图片 12">
            <a:extLst>
              <a:ext uri="{FF2B5EF4-FFF2-40B4-BE49-F238E27FC236}">
                <a16:creationId xmlns:a16="http://schemas.microsoft.com/office/drawing/2014/main" id="{711C2FF0-A94C-4789-A40D-D33CBCF58BB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9234"/>
          <a:stretch/>
        </p:blipFill>
        <p:spPr>
          <a:xfrm>
            <a:off x="2234119" y="4245745"/>
            <a:ext cx="1489141" cy="1346755"/>
          </a:xfrm>
          <a:prstGeom prst="rect">
            <a:avLst/>
          </a:prstGeom>
        </p:spPr>
      </p:pic>
      <p:pic>
        <p:nvPicPr>
          <p:cNvPr id="15" name="图片 14">
            <a:extLst>
              <a:ext uri="{FF2B5EF4-FFF2-40B4-BE49-F238E27FC236}">
                <a16:creationId xmlns:a16="http://schemas.microsoft.com/office/drawing/2014/main" id="{83091A56-D747-425F-B8CF-F4FD414F1A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09551" y="4558907"/>
            <a:ext cx="1688112" cy="1238471"/>
          </a:xfrm>
          <a:prstGeom prst="rect">
            <a:avLst/>
          </a:prstGeom>
        </p:spPr>
      </p:pic>
    </p:spTree>
    <p:extLst>
      <p:ext uri="{BB962C8B-B14F-4D97-AF65-F5344CB8AC3E}">
        <p14:creationId xmlns:p14="http://schemas.microsoft.com/office/powerpoint/2010/main" val="11233905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3120571" cy="6858000"/>
          </a:xfrm>
          <a:prstGeom prst="rect">
            <a:avLst/>
          </a:prstGeom>
          <a:solidFill>
            <a:srgbClr val="0056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5" name="powerpoint template design by DAJU_PPT正版来源小红书大橘PPT微信DAJU_PPT请勿抄袭搬运！盗版必究！">
            <a:extLst>
              <a:ext uri="{FF2B5EF4-FFF2-40B4-BE49-F238E27FC236}">
                <a16:creationId xmlns:a16="http://schemas.microsoft.com/office/drawing/2014/main" id="{600EBE13-6021-4DDA-AABE-7D0C6DF6E6F4}"/>
              </a:ext>
            </a:extLst>
          </p:cNvPr>
          <p:cNvSpPr/>
          <p:nvPr/>
        </p:nvSpPr>
        <p:spPr>
          <a:xfrm>
            <a:off x="306196" y="931271"/>
            <a:ext cx="2481192" cy="634020"/>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en-US" sz="3200" b="1" dirty="0">
                <a:solidFill>
                  <a:schemeClr val="bg2"/>
                </a:solidFill>
                <a:latin typeface="+mj-ea"/>
                <a:ea typeface="+mj-ea"/>
                <a:cs typeface="+mn-ea"/>
                <a:sym typeface="+mn-lt"/>
              </a:rPr>
              <a:t>CONTENTS</a:t>
            </a:r>
          </a:p>
        </p:txBody>
      </p:sp>
      <p:sp>
        <p:nvSpPr>
          <p:cNvPr id="6" name="powerpoint template design by DAJU_PPT正版来源小红书大橘PPT微信DAJU_PPT请勿抄袭搬运！盗版必究！">
            <a:extLst>
              <a:ext uri="{FF2B5EF4-FFF2-40B4-BE49-F238E27FC236}">
                <a16:creationId xmlns:a16="http://schemas.microsoft.com/office/drawing/2014/main" id="{04D810FB-B2CF-4AD5-BA71-D18E8234D0A7}"/>
              </a:ext>
            </a:extLst>
          </p:cNvPr>
          <p:cNvSpPr/>
          <p:nvPr/>
        </p:nvSpPr>
        <p:spPr>
          <a:xfrm>
            <a:off x="890203" y="314625"/>
            <a:ext cx="1313180" cy="837152"/>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zh-CN" altLang="en-US" sz="4400" b="1" dirty="0">
                <a:solidFill>
                  <a:schemeClr val="bg2"/>
                </a:solidFill>
                <a:latin typeface="+mj-ea"/>
                <a:ea typeface="+mj-ea"/>
                <a:cs typeface="+mn-ea"/>
                <a:sym typeface="+mn-lt"/>
              </a:rPr>
              <a:t>目录</a:t>
            </a:r>
            <a:endParaRPr lang="en-US" sz="4400" b="1" dirty="0">
              <a:solidFill>
                <a:schemeClr val="bg2"/>
              </a:solidFill>
              <a:latin typeface="+mj-ea"/>
              <a:ea typeface="+mj-ea"/>
              <a:cs typeface="+mn-ea"/>
              <a:sym typeface="+mn-lt"/>
            </a:endParaRPr>
          </a:p>
        </p:txBody>
      </p:sp>
      <p:sp>
        <p:nvSpPr>
          <p:cNvPr id="7"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12</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圆角矩形 7"/>
          <p:cNvSpPr/>
          <p:nvPr/>
        </p:nvSpPr>
        <p:spPr>
          <a:xfrm>
            <a:off x="2072742" y="195399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9" name="圆角矩形 8"/>
          <p:cNvSpPr/>
          <p:nvPr/>
        </p:nvSpPr>
        <p:spPr>
          <a:xfrm>
            <a:off x="2873171" y="200799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1</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0" name="圆角矩形 9"/>
          <p:cNvSpPr/>
          <p:nvPr/>
        </p:nvSpPr>
        <p:spPr>
          <a:xfrm>
            <a:off x="3606643" y="1970417"/>
            <a:ext cx="4693601" cy="468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研究背景与意义</a:t>
            </a:r>
          </a:p>
        </p:txBody>
      </p:sp>
      <p:sp>
        <p:nvSpPr>
          <p:cNvPr id="11" name="圆角矩形 10"/>
          <p:cNvSpPr/>
          <p:nvPr/>
        </p:nvSpPr>
        <p:spPr>
          <a:xfrm>
            <a:off x="2072742" y="267957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12" name="圆角矩形 11"/>
          <p:cNvSpPr/>
          <p:nvPr/>
        </p:nvSpPr>
        <p:spPr>
          <a:xfrm>
            <a:off x="2873171" y="273357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2</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3" name="圆角矩形 12"/>
          <p:cNvSpPr/>
          <p:nvPr/>
        </p:nvSpPr>
        <p:spPr>
          <a:xfrm>
            <a:off x="3606643" y="2695997"/>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国内外研究现状</a:t>
            </a:r>
          </a:p>
        </p:txBody>
      </p:sp>
      <p:sp>
        <p:nvSpPr>
          <p:cNvPr id="14" name="圆角矩形 13"/>
          <p:cNvSpPr/>
          <p:nvPr/>
        </p:nvSpPr>
        <p:spPr>
          <a:xfrm>
            <a:off x="2072742" y="340515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15" name="圆角矩形 14"/>
          <p:cNvSpPr/>
          <p:nvPr/>
        </p:nvSpPr>
        <p:spPr>
          <a:xfrm>
            <a:off x="2873171" y="345915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3</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6" name="圆角矩形 15"/>
          <p:cNvSpPr/>
          <p:nvPr/>
        </p:nvSpPr>
        <p:spPr>
          <a:xfrm>
            <a:off x="3606643" y="3421577"/>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研究思路与技术路线</a:t>
            </a:r>
          </a:p>
        </p:txBody>
      </p:sp>
      <p:sp>
        <p:nvSpPr>
          <p:cNvPr id="17" name="圆角矩形 16"/>
          <p:cNvSpPr/>
          <p:nvPr/>
        </p:nvSpPr>
        <p:spPr>
          <a:xfrm>
            <a:off x="2072742" y="4129958"/>
            <a:ext cx="7020000" cy="504000"/>
          </a:xfrm>
          <a:prstGeom prst="roundRect">
            <a:avLst/>
          </a:prstGeom>
          <a:solidFill>
            <a:srgbClr val="ABB7CD"/>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8" name="圆角矩形 17"/>
          <p:cNvSpPr/>
          <p:nvPr/>
        </p:nvSpPr>
        <p:spPr>
          <a:xfrm>
            <a:off x="2873171" y="4183958"/>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4</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9" name="圆角矩形 18"/>
          <p:cNvSpPr/>
          <p:nvPr/>
        </p:nvSpPr>
        <p:spPr>
          <a:xfrm>
            <a:off x="3606643" y="4146380"/>
            <a:ext cx="4693601" cy="468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rgbClr val="1A5FFA"/>
                </a:solidFill>
                <a:latin typeface="楷体" panose="02010609060101010101" pitchFamily="49" charset="-122"/>
                <a:ea typeface="楷体" panose="02010609060101010101" pitchFamily="49" charset="-122"/>
                <a:cs typeface="Times New Roman" panose="02020603050405020304" pitchFamily="18" charset="0"/>
              </a:rPr>
              <a:t>研究内容与方案</a:t>
            </a:r>
          </a:p>
        </p:txBody>
      </p:sp>
      <p:sp>
        <p:nvSpPr>
          <p:cNvPr id="20" name="圆角矩形 19"/>
          <p:cNvSpPr/>
          <p:nvPr/>
        </p:nvSpPr>
        <p:spPr>
          <a:xfrm>
            <a:off x="2072742" y="4848839"/>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000</a:t>
            </a:r>
            <a:endParaRPr lang="zh-CN" altLang="en-US" dirty="0"/>
          </a:p>
        </p:txBody>
      </p:sp>
      <p:sp>
        <p:nvSpPr>
          <p:cNvPr id="21" name="圆角矩形 20"/>
          <p:cNvSpPr/>
          <p:nvPr/>
        </p:nvSpPr>
        <p:spPr>
          <a:xfrm>
            <a:off x="2873171" y="4902839"/>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5</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22" name="圆角矩形 21"/>
          <p:cNvSpPr/>
          <p:nvPr/>
        </p:nvSpPr>
        <p:spPr>
          <a:xfrm>
            <a:off x="3606643" y="4865261"/>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研究计划与预期成果</a:t>
            </a:r>
          </a:p>
        </p:txBody>
      </p:sp>
    </p:spTree>
    <p:extLst>
      <p:ext uri="{BB962C8B-B14F-4D97-AF65-F5344CB8AC3E}">
        <p14:creationId xmlns:p14="http://schemas.microsoft.com/office/powerpoint/2010/main" val="5687917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四、研究内容与方案</a:t>
            </a:r>
          </a:p>
        </p:txBody>
      </p:sp>
      <p:pic>
        <p:nvPicPr>
          <p:cNvPr id="5" name="图片 4" descr="校标与各学院中英文名称左右组合.pdf - Adobe Reade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13</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9DB24E3-4CFE-63C6-48E2-EBA3A63D1ECA}"/>
              </a:ext>
            </a:extLst>
          </p:cNvPr>
          <p:cNvSpPr txBox="1"/>
          <p:nvPr/>
        </p:nvSpPr>
        <p:spPr>
          <a:xfrm>
            <a:off x="0" y="884445"/>
            <a:ext cx="3838222"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4.1 </a:t>
            </a:r>
            <a:r>
              <a:rPr lang="zh-CN" altLang="en-US" sz="2000" b="1" dirty="0">
                <a:solidFill>
                  <a:srgbClr val="394761"/>
                </a:solidFill>
                <a:latin typeface="微软雅黑" panose="020B0503020204020204" pitchFamily="34" charset="-122"/>
                <a:ea typeface="微软雅黑" panose="020B0503020204020204" pitchFamily="34" charset="-122"/>
              </a:rPr>
              <a:t>研究内容与方案</a:t>
            </a:r>
          </a:p>
        </p:txBody>
      </p:sp>
      <p:sp>
        <p:nvSpPr>
          <p:cNvPr id="9" name="文本框 8"/>
          <p:cNvSpPr txBox="1"/>
          <p:nvPr/>
        </p:nvSpPr>
        <p:spPr>
          <a:xfrm>
            <a:off x="338666" y="1343293"/>
            <a:ext cx="9561690" cy="437877"/>
          </a:xfrm>
          <a:prstGeom prst="rect">
            <a:avLst/>
          </a:prstGeom>
          <a:solidFill>
            <a:schemeClr val="accent3">
              <a:lumMod val="20000"/>
              <a:lumOff val="80000"/>
            </a:schemeClr>
          </a:solidFill>
          <a:ln>
            <a:solidFill>
              <a:schemeClr val="tx1"/>
            </a:solidFill>
          </a:ln>
        </p:spPr>
        <p:txBody>
          <a:bodyPr wrap="square" rtlCol="0">
            <a:spAutoFit/>
          </a:bodyPr>
          <a:lstStyle/>
          <a:p>
            <a:pPr marL="342900" indent="-342900">
              <a:lnSpc>
                <a:spcPct val="125000"/>
              </a:lnSpc>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a:t>
            </a:r>
            <a:r>
              <a:rPr lang="zh-CN" altLang="en-US" sz="2000" dirty="0">
                <a:latin typeface="Times New Roman" panose="02020603050405020304" pitchFamily="18" charset="0"/>
                <a:ea typeface="宋体" panose="02010600030101010101" pitchFamily="2" charset="-122"/>
              </a:rPr>
              <a:t>）构建电磁</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土壤</a:t>
            </a:r>
            <a:r>
              <a:rPr lang="en-US" altLang="zh-CN" sz="2000" dirty="0">
                <a:latin typeface="Times New Roman" panose="02020603050405020304" pitchFamily="18" charset="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根系训练数据集</a:t>
            </a:r>
          </a:p>
        </p:txBody>
      </p:sp>
      <p:sp>
        <p:nvSpPr>
          <p:cNvPr id="18" name="矩形 17"/>
          <p:cNvSpPr/>
          <p:nvPr/>
        </p:nvSpPr>
        <p:spPr>
          <a:xfrm>
            <a:off x="485986" y="4535420"/>
            <a:ext cx="10757894" cy="2140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首先在</a:t>
            </a:r>
            <a:r>
              <a:rPr lang="en-US" altLang="zh-CN" sz="18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gprMax</a:t>
            </a:r>
            <a:r>
              <a:rPr lang="zh-CN" altLang="en-US"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上</a:t>
            </a:r>
            <a:r>
              <a:rPr lang="zh-CN" altLang="zh-CN"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模拟场景</a:t>
            </a:r>
            <a:r>
              <a:rPr lang="zh-CN" altLang="en-US"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，范围是</a:t>
            </a:r>
            <a:r>
              <a:rPr lang="en-US" altLang="zh-CN" sz="1800" dirty="0">
                <a:solidFill>
                  <a:schemeClr val="tx1"/>
                </a:solidFill>
                <a:effectLst/>
                <a:latin typeface="Times New Roman" panose="02020603050405020304" pitchFamily="18" charset="0"/>
                <a:ea typeface="宋体" panose="02010600030101010101" pitchFamily="2" charset="-122"/>
              </a:rPr>
              <a:t>200cm</a:t>
            </a:r>
            <a:r>
              <a:rPr lang="zh-CN" altLang="zh-CN"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chemeClr val="tx1"/>
                </a:solidFill>
                <a:effectLst/>
                <a:latin typeface="Times New Roman" panose="02020603050405020304" pitchFamily="18" charset="0"/>
                <a:ea typeface="宋体" panose="02010600030101010101" pitchFamily="2" charset="-122"/>
              </a:rPr>
              <a:t>50cm</a:t>
            </a:r>
            <a:r>
              <a:rPr lang="zh-CN" altLang="zh-CN"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大小的模型空间内；</a:t>
            </a:r>
            <a:endParaRPr lang="en-US" altLang="zh-CN"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1800" dirty="0">
                <a:solidFill>
                  <a:schemeClr val="tx1"/>
                </a:solidFill>
                <a:effectLst/>
                <a:latin typeface="Times New Roman" panose="02020603050405020304" pitchFamily="18" charset="0"/>
                <a:ea typeface="宋体" panose="02010600030101010101" pitchFamily="2" charset="-122"/>
              </a:rPr>
              <a:t> GPR</a:t>
            </a:r>
            <a:r>
              <a:rPr lang="zh-CN" altLang="zh-CN"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天线运动范围限制在</a:t>
            </a:r>
            <a:r>
              <a:rPr lang="en-US" altLang="zh-CN" sz="1800" dirty="0">
                <a:solidFill>
                  <a:schemeClr val="tx1"/>
                </a:solidFill>
                <a:effectLst/>
                <a:latin typeface="Times New Roman" panose="02020603050405020304" pitchFamily="18" charset="0"/>
                <a:ea typeface="宋体" panose="02010600030101010101" pitchFamily="2" charset="-122"/>
              </a:rPr>
              <a:t>[X=(15,185,Y=0)]</a:t>
            </a:r>
            <a:r>
              <a:rPr lang="zh-CN" altLang="zh-CN"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处，确保始终处于模型空间</a:t>
            </a:r>
            <a:r>
              <a:rPr lang="zh-CN" altLang="en-US"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内。</a:t>
            </a:r>
            <a:endParaRPr lang="en-US" altLang="zh-CN" sz="18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en-US" altLang="zh-CN" dirty="0">
              <a:solidFill>
                <a:schemeClr val="tx1"/>
              </a:solidFill>
              <a:latin typeface="Times New Roman" panose="02020603050405020304" pitchFamily="18" charset="0"/>
              <a:ea typeface="宋体" panose="02010600030101010101" pitchFamily="2" charset="-122"/>
            </a:endParaRPr>
          </a:p>
        </p:txBody>
      </p:sp>
      <p:sp>
        <p:nvSpPr>
          <p:cNvPr id="7" name="矩形 6"/>
          <p:cNvSpPr/>
          <p:nvPr/>
        </p:nvSpPr>
        <p:spPr>
          <a:xfrm>
            <a:off x="295184" y="2798614"/>
            <a:ext cx="2160000" cy="947176"/>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nvGrpSpPr>
        <p:grpSpPr>
          <a:xfrm>
            <a:off x="290917" y="2045670"/>
            <a:ext cx="11610166" cy="2502483"/>
            <a:chOff x="287308" y="1978859"/>
            <a:chExt cx="11610166" cy="2502483"/>
          </a:xfrm>
        </p:grpSpPr>
        <p:sp>
          <p:nvSpPr>
            <p:cNvPr id="16" name="矩形 15"/>
            <p:cNvSpPr/>
            <p:nvPr/>
          </p:nvSpPr>
          <p:spPr>
            <a:xfrm>
              <a:off x="5546009" y="4018686"/>
              <a:ext cx="1914974" cy="374654"/>
            </a:xfrm>
            <a:prstGeom prst="rect">
              <a:avLst/>
            </a:prstGeom>
          </p:spPr>
          <p:txBody>
            <a:bodyPr wrap="square">
              <a:spAutoFit/>
            </a:bodyPr>
            <a:lstStyle/>
            <a:p>
              <a:pPr algn="ctr">
                <a:lnSpc>
                  <a:spcPct val="150000"/>
                </a:lnSpc>
              </a:pPr>
              <a:r>
                <a:rPr lang="zh-CN" altLang="en-US" sz="1400" dirty="0">
                  <a:latin typeface="Times New Roman" panose="02020603050405020304" pitchFamily="18" charset="0"/>
                  <a:ea typeface="宋体" panose="02010600030101010101" pitchFamily="2" charset="-122"/>
                </a:rPr>
                <a:t>均质土壤环境仿真</a:t>
              </a:r>
              <a:endParaRPr lang="en-US" altLang="zh-CN" sz="1400" dirty="0">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4"/>
            <a:stretch>
              <a:fillRect/>
            </a:stretch>
          </p:blipFill>
          <p:spPr>
            <a:xfrm>
              <a:off x="377308" y="2821538"/>
              <a:ext cx="1980000" cy="565714"/>
            </a:xfrm>
            <a:prstGeom prst="rect">
              <a:avLst/>
            </a:prstGeom>
          </p:spPr>
        </p:pic>
        <p:sp>
          <p:nvSpPr>
            <p:cNvPr id="19" name="矩形 18"/>
            <p:cNvSpPr/>
            <p:nvPr/>
          </p:nvSpPr>
          <p:spPr>
            <a:xfrm>
              <a:off x="287308" y="3291873"/>
              <a:ext cx="2160000" cy="415498"/>
            </a:xfrm>
            <a:prstGeom prst="rect">
              <a:avLst/>
            </a:prstGeom>
          </p:spPr>
          <p:txBody>
            <a:bodyPr wrap="square">
              <a:spAutoFit/>
            </a:bodyPr>
            <a:lstStyle/>
            <a:p>
              <a:pPr algn="ctr">
                <a:lnSpc>
                  <a:spcPct val="150000"/>
                </a:lnSpc>
              </a:pPr>
              <a:r>
                <a:rPr lang="zh-CN" altLang="en-US" sz="1600" dirty="0">
                  <a:latin typeface="Times New Roman" panose="02020603050405020304" pitchFamily="18" charset="0"/>
                  <a:ea typeface="宋体" panose="02010600030101010101" pitchFamily="2" charset="-122"/>
                </a:rPr>
                <a:t>电磁波传播仿真软件</a:t>
              </a:r>
              <a:endParaRPr lang="en-US" altLang="zh-CN" sz="1600" dirty="0">
                <a:latin typeface="Times New Roman" panose="02020603050405020304" pitchFamily="18" charset="0"/>
                <a:ea typeface="宋体" panose="02010600030101010101" pitchFamily="2" charset="-122"/>
              </a:endParaRPr>
            </a:p>
          </p:txBody>
        </p:sp>
        <p:sp>
          <p:nvSpPr>
            <p:cNvPr id="12" name="矩形 11"/>
            <p:cNvSpPr/>
            <p:nvPr/>
          </p:nvSpPr>
          <p:spPr>
            <a:xfrm>
              <a:off x="3996647" y="1978859"/>
              <a:ext cx="7900827" cy="25024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9330335" y="4083242"/>
              <a:ext cx="2298490" cy="374654"/>
            </a:xfrm>
            <a:prstGeom prst="rect">
              <a:avLst/>
            </a:prstGeom>
          </p:spPr>
          <p:txBody>
            <a:bodyPr wrap="square">
              <a:spAutoFit/>
            </a:bodyPr>
            <a:lstStyle/>
            <a:p>
              <a:pPr algn="ctr">
                <a:lnSpc>
                  <a:spcPct val="150000"/>
                </a:lnSpc>
              </a:pPr>
              <a:r>
                <a:rPr lang="zh-CN" altLang="en-US" sz="1400" dirty="0">
                  <a:latin typeface="Times New Roman" panose="02020603050405020304" pitchFamily="18" charset="0"/>
                  <a:ea typeface="宋体" panose="02010600030101010101" pitchFamily="2" charset="-122"/>
                </a:rPr>
                <a:t>根系仿真</a:t>
              </a:r>
              <a:r>
                <a:rPr lang="en-US" altLang="zh-CN" sz="1400" dirty="0" err="1">
                  <a:latin typeface="Times New Roman" panose="02020603050405020304" pitchFamily="18" charset="0"/>
                  <a:ea typeface="宋体" panose="02010600030101010101" pitchFamily="2" charset="-122"/>
                </a:rPr>
                <a:t>Bscan</a:t>
              </a:r>
              <a:endParaRPr lang="en-US" altLang="zh-CN" sz="1400" dirty="0">
                <a:latin typeface="Times New Roman" panose="02020603050405020304" pitchFamily="18" charset="0"/>
                <a:ea typeface="宋体" panose="02010600030101010101" pitchFamily="2" charset="-122"/>
              </a:endParaRPr>
            </a:p>
          </p:txBody>
        </p:sp>
        <p:sp>
          <p:nvSpPr>
            <p:cNvPr id="26" name="右箭头 25"/>
            <p:cNvSpPr/>
            <p:nvPr/>
          </p:nvSpPr>
          <p:spPr>
            <a:xfrm>
              <a:off x="2463060" y="3126616"/>
              <a:ext cx="1525711" cy="291172"/>
            </a:xfrm>
            <a:prstGeom prst="rightArrow">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2430646" y="2823413"/>
              <a:ext cx="1556836" cy="369332"/>
            </a:xfrm>
            <a:prstGeom prst="rect">
              <a:avLst/>
            </a:prstGeom>
          </p:spPr>
          <p:txBody>
            <a:bodyPr wrap="none">
              <a:spAutoFit/>
            </a:bodyPr>
            <a:lstStyle/>
            <a:p>
              <a:r>
                <a:rPr lang="en-US" altLang="zh-CN" dirty="0">
                  <a:latin typeface="Times New Roman" panose="02020603050405020304" pitchFamily="18" charset="0"/>
                  <a:ea typeface="宋体" panose="02010600030101010101" pitchFamily="2" charset="-122"/>
                </a:rPr>
                <a:t>GPR</a:t>
              </a:r>
              <a:r>
                <a:rPr lang="zh-CN" altLang="en-US" dirty="0">
                  <a:latin typeface="Times New Roman" panose="02020603050405020304" pitchFamily="18" charset="0"/>
                  <a:ea typeface="宋体" panose="02010600030101010101" pitchFamily="2" charset="-122"/>
                </a:rPr>
                <a:t>仿真扫描</a:t>
              </a:r>
              <a:endParaRPr lang="zh-CN" altLang="en-US" dirty="0"/>
            </a:p>
          </p:txBody>
        </p:sp>
      </p:grpSp>
      <p:pic>
        <p:nvPicPr>
          <p:cNvPr id="1026" name="图片 5">
            <a:extLst>
              <a:ext uri="{FF2B5EF4-FFF2-40B4-BE49-F238E27FC236}">
                <a16:creationId xmlns:a16="http://schemas.microsoft.com/office/drawing/2014/main" id="{D35FF917-99AE-4EA0-B936-BF70EF14CE4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52815" y="2487929"/>
            <a:ext cx="4518530" cy="1432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图片 35">
            <a:extLst>
              <a:ext uri="{FF2B5EF4-FFF2-40B4-BE49-F238E27FC236}">
                <a16:creationId xmlns:a16="http://schemas.microsoft.com/office/drawing/2014/main" id="{48832602-203A-4DAE-93EF-21AD97B16BA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23904" y="2453851"/>
            <a:ext cx="3249434" cy="1447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81319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四、研究内容与方案</a:t>
            </a:r>
          </a:p>
        </p:txBody>
      </p:sp>
      <p:pic>
        <p:nvPicPr>
          <p:cNvPr id="5" name="图片 4" descr="校标与各学院中英文名称左右组合.pdf - Adobe Reade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14</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9DB24E3-4CFE-63C6-48E2-EBA3A63D1ECA}"/>
              </a:ext>
            </a:extLst>
          </p:cNvPr>
          <p:cNvSpPr txBox="1"/>
          <p:nvPr/>
        </p:nvSpPr>
        <p:spPr>
          <a:xfrm>
            <a:off x="0" y="884445"/>
            <a:ext cx="3838222"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4.1 </a:t>
            </a:r>
            <a:r>
              <a:rPr lang="zh-CN" altLang="en-US" sz="2000" b="1" dirty="0">
                <a:solidFill>
                  <a:srgbClr val="394761"/>
                </a:solidFill>
                <a:latin typeface="微软雅黑" panose="020B0503020204020204" pitchFamily="34" charset="-122"/>
                <a:ea typeface="微软雅黑" panose="020B0503020204020204" pitchFamily="34" charset="-122"/>
              </a:rPr>
              <a:t>研究内容与方案</a:t>
            </a:r>
          </a:p>
        </p:txBody>
      </p:sp>
      <p:sp>
        <p:nvSpPr>
          <p:cNvPr id="13" name="文本框 12"/>
          <p:cNvSpPr txBox="1"/>
          <p:nvPr/>
        </p:nvSpPr>
        <p:spPr>
          <a:xfrm>
            <a:off x="338666" y="1343293"/>
            <a:ext cx="9561690" cy="437877"/>
          </a:xfrm>
          <a:prstGeom prst="rect">
            <a:avLst/>
          </a:prstGeom>
          <a:solidFill>
            <a:schemeClr val="accent3">
              <a:lumMod val="20000"/>
              <a:lumOff val="80000"/>
            </a:schemeClr>
          </a:solidFill>
          <a:ln>
            <a:solidFill>
              <a:schemeClr val="tx1"/>
            </a:solidFill>
          </a:ln>
        </p:spPr>
        <p:txBody>
          <a:bodyPr wrap="square" rtlCol="0">
            <a:spAutoFit/>
          </a:bodyPr>
          <a:lstStyle/>
          <a:p>
            <a:pPr marL="342900" indent="-342900">
              <a:lnSpc>
                <a:spcPct val="125000"/>
              </a:lnSpc>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a:t>
            </a:r>
            <a:r>
              <a:rPr lang="zh-CN" altLang="en-US" sz="2000" dirty="0">
                <a:latin typeface="Times New Roman" panose="02020603050405020304" pitchFamily="18" charset="0"/>
                <a:ea typeface="宋体" panose="02010600030101010101" pitchFamily="2" charset="-122"/>
              </a:rPr>
              <a:t>）构建根系目标自动识别定位算法</a:t>
            </a:r>
          </a:p>
        </p:txBody>
      </p:sp>
      <p:sp>
        <p:nvSpPr>
          <p:cNvPr id="27" name="矩形 26"/>
          <p:cNvSpPr/>
          <p:nvPr/>
        </p:nvSpPr>
        <p:spPr>
          <a:xfrm>
            <a:off x="338666" y="1928420"/>
            <a:ext cx="11770026" cy="1701748"/>
          </a:xfrm>
          <a:prstGeom prst="rect">
            <a:avLst/>
          </a:prstGeom>
        </p:spPr>
        <p:txBody>
          <a:bodyPr wrap="square">
            <a:spAutoFit/>
          </a:bodyPr>
          <a:lstStyle/>
          <a:p>
            <a:pPr>
              <a:lnSpc>
                <a:spcPct val="150000"/>
              </a:lnSpc>
            </a:pPr>
            <a:r>
              <a:rPr lang="zh-CN" altLang="en-US" dirty="0">
                <a:latin typeface="Times New Roman" panose="02020603050405020304" pitchFamily="18" charset="0"/>
                <a:ea typeface="宋体" panose="02010600030101010101" pitchFamily="2" charset="-122"/>
              </a:rPr>
              <a:t>步骤</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GPR </a:t>
            </a:r>
            <a:r>
              <a:rPr lang="zh-CN" altLang="en-US" dirty="0">
                <a:latin typeface="Times New Roman" panose="02020603050405020304" pitchFamily="18" charset="0"/>
                <a:ea typeface="宋体" panose="02010600030101010101" pitchFamily="2" charset="-122"/>
              </a:rPr>
              <a:t>数据预处理，包括数据增强等；</a:t>
            </a:r>
            <a:endParaRPr lang="en-US" altLang="zh-CN"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步骤</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：根系目标识别定位，采用</a:t>
            </a:r>
            <a:r>
              <a:rPr lang="en-US" altLang="zh-CN" dirty="0">
                <a:latin typeface="Times New Roman" panose="02020603050405020304" pitchFamily="18" charset="0"/>
                <a:ea typeface="宋体" panose="02010600030101010101" pitchFamily="2" charset="-122"/>
              </a:rPr>
              <a:t>YOLOv11</a:t>
            </a:r>
            <a:r>
              <a:rPr lang="zh-CN" altLang="en-US" dirty="0">
                <a:latin typeface="Times New Roman" panose="02020603050405020304" pitchFamily="18" charset="0"/>
                <a:ea typeface="宋体" panose="02010600030101010101" pitchFamily="2" charset="-122"/>
              </a:rPr>
              <a:t>作为基线模型，引入了改进的</a:t>
            </a:r>
            <a:r>
              <a:rPr lang="en-US" altLang="zh-CN" dirty="0">
                <a:latin typeface="Times New Roman" panose="02020603050405020304" pitchFamily="18" charset="0"/>
                <a:ea typeface="宋体" panose="02010600030101010101" pitchFamily="2" charset="-122"/>
              </a:rPr>
              <a:t>CSP (Cross Stage Partial) </a:t>
            </a:r>
            <a:r>
              <a:rPr lang="zh-CN" altLang="en-US" dirty="0">
                <a:latin typeface="Times New Roman" panose="02020603050405020304" pitchFamily="18" charset="0"/>
                <a:ea typeface="宋体" panose="02010600030101010101" pitchFamily="2" charset="-122"/>
              </a:rPr>
              <a:t>架构，包括</a:t>
            </a:r>
            <a:r>
              <a:rPr lang="en-US" altLang="zh-CN" dirty="0">
                <a:latin typeface="Times New Roman" panose="02020603050405020304" pitchFamily="18" charset="0"/>
                <a:ea typeface="宋体" panose="02010600030101010101" pitchFamily="2" charset="-122"/>
              </a:rPr>
              <a:t>C3K2</a:t>
            </a:r>
            <a:r>
              <a:rPr lang="zh-CN" altLang="en-US" dirty="0">
                <a:latin typeface="Times New Roman" panose="02020603050405020304" pitchFamily="18" charset="0"/>
                <a:ea typeface="宋体" panose="02010600030101010101" pitchFamily="2" charset="-122"/>
              </a:rPr>
              <a:t>块、</a:t>
            </a:r>
            <a:r>
              <a:rPr lang="en-US" altLang="zh-CN" dirty="0">
                <a:latin typeface="Times New Roman" panose="02020603050405020304" pitchFamily="18" charset="0"/>
                <a:ea typeface="宋体" panose="02010600030101010101" pitchFamily="2" charset="-122"/>
              </a:rPr>
              <a:t>SPFF</a:t>
            </a:r>
            <a:r>
              <a:rPr lang="zh-CN" altLang="en-US" dirty="0">
                <a:latin typeface="Times New Roman" panose="02020603050405020304" pitchFamily="18" charset="0"/>
                <a:ea typeface="宋体" panose="02010600030101010101" pitchFamily="2" charset="-122"/>
              </a:rPr>
              <a:t>模块和</a:t>
            </a:r>
            <a:r>
              <a:rPr lang="en-US" altLang="zh-CN" dirty="0">
                <a:latin typeface="Times New Roman" panose="02020603050405020304" pitchFamily="18" charset="0"/>
                <a:ea typeface="宋体" panose="02010600030101010101" pitchFamily="2" charset="-122"/>
              </a:rPr>
              <a:t>C2PSA</a:t>
            </a:r>
            <a:r>
              <a:rPr lang="zh-CN" altLang="en-US" dirty="0">
                <a:latin typeface="Times New Roman" panose="02020603050405020304" pitchFamily="18" charset="0"/>
                <a:ea typeface="宋体" panose="02010600030101010101" pitchFamily="2" charset="-122"/>
              </a:rPr>
              <a:t>块，显著增强特征提取能力并降低计算开销。模型输入为预处理后的</a:t>
            </a:r>
            <a:r>
              <a:rPr lang="en-US" altLang="zh-CN" dirty="0">
                <a:latin typeface="Times New Roman" panose="02020603050405020304" pitchFamily="18" charset="0"/>
                <a:ea typeface="宋体" panose="02010600030101010101" pitchFamily="2" charset="-122"/>
              </a:rPr>
              <a:t>B-Scan</a:t>
            </a:r>
            <a:r>
              <a:rPr lang="zh-CN" altLang="en-US" dirty="0">
                <a:latin typeface="Times New Roman" panose="02020603050405020304" pitchFamily="18" charset="0"/>
                <a:ea typeface="宋体" panose="02010600030101010101" pitchFamily="2" charset="-122"/>
              </a:rPr>
              <a:t>图像，通过卷积层和注意力模块（</a:t>
            </a:r>
            <a:r>
              <a:rPr lang="en-US" altLang="zh-CN" dirty="0">
                <a:latin typeface="Times New Roman" panose="02020603050405020304" pitchFamily="18" charset="0"/>
                <a:ea typeface="宋体" panose="02010600030101010101" pitchFamily="2" charset="-122"/>
              </a:rPr>
              <a:t>CBAM</a:t>
            </a:r>
            <a:r>
              <a:rPr lang="zh-CN" altLang="en-US" dirty="0">
                <a:latin typeface="Times New Roman" panose="02020603050405020304" pitchFamily="18" charset="0"/>
                <a:ea typeface="宋体" panose="02010600030101010101" pitchFamily="2" charset="-122"/>
              </a:rPr>
              <a:t>）捕捉双曲线的高频反射信号特征；</a:t>
            </a:r>
            <a:endParaRPr lang="en-US" altLang="zh-CN" dirty="0">
              <a:latin typeface="Times New Roman" panose="02020603050405020304" pitchFamily="18" charset="0"/>
              <a:ea typeface="宋体" panose="02010600030101010101" pitchFamily="2" charset="-122"/>
            </a:endParaRPr>
          </a:p>
        </p:txBody>
      </p:sp>
      <p:pic>
        <p:nvPicPr>
          <p:cNvPr id="2052" name="图片 39">
            <a:extLst>
              <a:ext uri="{FF2B5EF4-FFF2-40B4-BE49-F238E27FC236}">
                <a16:creationId xmlns:a16="http://schemas.microsoft.com/office/drawing/2014/main" id="{F9E0A72B-D59C-49A3-932D-D0E3C3E17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2512" y="4144057"/>
            <a:ext cx="3294062" cy="138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图片 42">
            <a:extLst>
              <a:ext uri="{FF2B5EF4-FFF2-40B4-BE49-F238E27FC236}">
                <a16:creationId xmlns:a16="http://schemas.microsoft.com/office/drawing/2014/main" id="{4EC7405B-A884-46FC-9971-A1730F36925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61589" y="3429000"/>
            <a:ext cx="2867525" cy="272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134514A0-1C44-4224-9E23-DC2B6A418A9A}"/>
              </a:ext>
            </a:extLst>
          </p:cNvPr>
          <p:cNvSpPr txBox="1"/>
          <p:nvPr/>
        </p:nvSpPr>
        <p:spPr>
          <a:xfrm>
            <a:off x="1727200" y="5604223"/>
            <a:ext cx="2492990" cy="369332"/>
          </a:xfrm>
          <a:prstGeom prst="rect">
            <a:avLst/>
          </a:prstGeom>
          <a:noFill/>
        </p:spPr>
        <p:txBody>
          <a:bodyPr wrap="none" rtlCol="0">
            <a:spAutoFit/>
          </a:bodyPr>
          <a:lstStyle/>
          <a:p>
            <a:r>
              <a:rPr lang="zh-CN" altLang="en-US" dirty="0"/>
              <a:t>数据增强，翻转平移等</a:t>
            </a:r>
          </a:p>
        </p:txBody>
      </p:sp>
      <p:sp>
        <p:nvSpPr>
          <p:cNvPr id="7" name="文本框 6">
            <a:extLst>
              <a:ext uri="{FF2B5EF4-FFF2-40B4-BE49-F238E27FC236}">
                <a16:creationId xmlns:a16="http://schemas.microsoft.com/office/drawing/2014/main" id="{D4603D90-C09A-4DF5-B896-53CA29C66344}"/>
              </a:ext>
            </a:extLst>
          </p:cNvPr>
          <p:cNvSpPr txBox="1"/>
          <p:nvPr/>
        </p:nvSpPr>
        <p:spPr>
          <a:xfrm>
            <a:off x="6612276" y="6164906"/>
            <a:ext cx="3871573" cy="369332"/>
          </a:xfrm>
          <a:prstGeom prst="rect">
            <a:avLst/>
          </a:prstGeom>
          <a:noFill/>
        </p:spPr>
        <p:txBody>
          <a:bodyPr wrap="none" rtlCol="0">
            <a:spAutoFit/>
          </a:bodyPr>
          <a:lstStyle/>
          <a:p>
            <a:r>
              <a:rPr lang="zh-CN" altLang="en-US" dirty="0"/>
              <a:t>算法针对</a:t>
            </a:r>
            <a:r>
              <a:rPr lang="en-US" altLang="zh-CN" dirty="0" err="1"/>
              <a:t>Bscan</a:t>
            </a:r>
            <a:r>
              <a:rPr lang="zh-CN" altLang="en-US" dirty="0"/>
              <a:t>图特征的识别及定位</a:t>
            </a:r>
          </a:p>
        </p:txBody>
      </p:sp>
    </p:spTree>
    <p:extLst>
      <p:ext uri="{BB962C8B-B14F-4D97-AF65-F5344CB8AC3E}">
        <p14:creationId xmlns:p14="http://schemas.microsoft.com/office/powerpoint/2010/main" val="17437468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四、研究内容与方案</a:t>
            </a:r>
          </a:p>
        </p:txBody>
      </p:sp>
      <p:pic>
        <p:nvPicPr>
          <p:cNvPr id="5" name="图片 4" descr="校标与各学院中英文名称左右组合.pdf - Adobe Reade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15</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9DB24E3-4CFE-63C6-48E2-EBA3A63D1ECA}"/>
              </a:ext>
            </a:extLst>
          </p:cNvPr>
          <p:cNvSpPr txBox="1"/>
          <p:nvPr/>
        </p:nvSpPr>
        <p:spPr>
          <a:xfrm>
            <a:off x="0" y="884445"/>
            <a:ext cx="3838222"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4.1 </a:t>
            </a:r>
            <a:r>
              <a:rPr lang="zh-CN" altLang="en-US" sz="2000" b="1" dirty="0">
                <a:solidFill>
                  <a:srgbClr val="394761"/>
                </a:solidFill>
                <a:latin typeface="微软雅黑" panose="020B0503020204020204" pitchFamily="34" charset="-122"/>
                <a:ea typeface="微软雅黑" panose="020B0503020204020204" pitchFamily="34" charset="-122"/>
              </a:rPr>
              <a:t>研究内容与方案</a:t>
            </a:r>
          </a:p>
        </p:txBody>
      </p:sp>
      <p:sp>
        <p:nvSpPr>
          <p:cNvPr id="13" name="文本框 12"/>
          <p:cNvSpPr txBox="1"/>
          <p:nvPr/>
        </p:nvSpPr>
        <p:spPr>
          <a:xfrm>
            <a:off x="338665" y="1343293"/>
            <a:ext cx="10273187" cy="437877"/>
          </a:xfrm>
          <a:prstGeom prst="rect">
            <a:avLst/>
          </a:prstGeom>
          <a:solidFill>
            <a:schemeClr val="accent3">
              <a:lumMod val="20000"/>
              <a:lumOff val="80000"/>
            </a:schemeClr>
          </a:solidFill>
          <a:ln>
            <a:solidFill>
              <a:schemeClr val="tx1"/>
            </a:solidFill>
          </a:ln>
        </p:spPr>
        <p:txBody>
          <a:bodyPr wrap="square" rtlCol="0">
            <a:spAutoFit/>
          </a:bodyPr>
          <a:lstStyle/>
          <a:p>
            <a:pPr marL="342900" indent="-342900">
              <a:lnSpc>
                <a:spcPct val="125000"/>
              </a:lnSpc>
              <a:buFont typeface="Wingdings" panose="05000000000000000000" pitchFamily="2" charset="2"/>
              <a:buChar char="n"/>
            </a:pP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3</a:t>
            </a:r>
            <a:r>
              <a:rPr lang="zh-CN" altLang="en-US" sz="2000" dirty="0">
                <a:latin typeface="Times New Roman" panose="02020603050405020304" pitchFamily="18" charset="0"/>
                <a:ea typeface="宋体" panose="02010600030101010101" pitchFamily="2" charset="-122"/>
              </a:rPr>
              <a:t>）开发根系的多任务学习框架，实现</a:t>
            </a:r>
            <a:r>
              <a:rPr lang="zh-CN" altLang="zh-CN" sz="2000" dirty="0">
                <a:latin typeface="Times New Roman" panose="02020603050405020304" pitchFamily="18" charset="0"/>
                <a:ea typeface="宋体" panose="02010600030101010101" pitchFamily="2" charset="-122"/>
              </a:rPr>
              <a:t>树根半径（</a:t>
            </a:r>
            <a:r>
              <a:rPr lang="en-US" altLang="zh-CN" sz="2000" dirty="0">
                <a:latin typeface="Times New Roman" panose="02020603050405020304" pitchFamily="18" charset="0"/>
                <a:ea typeface="宋体" panose="02010600030101010101" pitchFamily="2" charset="-122"/>
              </a:rPr>
              <a:t>r</a:t>
            </a:r>
            <a:r>
              <a:rPr lang="zh-CN" altLang="zh-CN" sz="2000" dirty="0">
                <a:latin typeface="Times New Roman" panose="02020603050405020304" pitchFamily="18" charset="0"/>
                <a:ea typeface="宋体" panose="02010600030101010101" pitchFamily="2" charset="-122"/>
              </a:rPr>
              <a:t>）和相对介电常数（</a:t>
            </a:r>
            <a:r>
              <a:rPr lang="en-US" altLang="zh-CN" sz="2000" dirty="0">
                <a:latin typeface="Times New Roman" panose="02020603050405020304" pitchFamily="18" charset="0"/>
                <a:ea typeface="宋体" panose="02010600030101010101" pitchFamily="2" charset="-122"/>
              </a:rPr>
              <a:t>ε</a:t>
            </a:r>
            <a:r>
              <a:rPr lang="zh-CN" altLang="zh-CN" sz="2000" dirty="0">
                <a:latin typeface="Times New Roman" panose="02020603050405020304" pitchFamily="18" charset="0"/>
                <a:ea typeface="宋体" panose="02010600030101010101" pitchFamily="2" charset="-122"/>
              </a:rPr>
              <a:t>）的协同预测</a:t>
            </a:r>
            <a:endParaRPr lang="zh-CN" altLang="en-US" sz="2000" dirty="0">
              <a:latin typeface="Times New Roman" panose="02020603050405020304" pitchFamily="18" charset="0"/>
              <a:ea typeface="宋体" panose="02010600030101010101" pitchFamily="2" charset="-122"/>
            </a:endParaRPr>
          </a:p>
        </p:txBody>
      </p:sp>
      <p:pic>
        <p:nvPicPr>
          <p:cNvPr id="2" name="图片 1">
            <a:extLst>
              <a:ext uri="{FF2B5EF4-FFF2-40B4-BE49-F238E27FC236}">
                <a16:creationId xmlns:a16="http://schemas.microsoft.com/office/drawing/2014/main" id="{2C6886C4-FFCD-4495-9203-483FB088BA71}"/>
              </a:ext>
            </a:extLst>
          </p:cNvPr>
          <p:cNvPicPr>
            <a:picLocks noChangeAspect="1"/>
          </p:cNvPicPr>
          <p:nvPr/>
        </p:nvPicPr>
        <p:blipFill>
          <a:blip r:embed="rId4"/>
          <a:stretch>
            <a:fillRect/>
          </a:stretch>
        </p:blipFill>
        <p:spPr>
          <a:xfrm>
            <a:off x="172410" y="2309091"/>
            <a:ext cx="3557286" cy="2356224"/>
          </a:xfrm>
          <a:prstGeom prst="rect">
            <a:avLst/>
          </a:prstGeom>
        </p:spPr>
      </p:pic>
      <p:pic>
        <p:nvPicPr>
          <p:cNvPr id="6" name="图片 5">
            <a:extLst>
              <a:ext uri="{FF2B5EF4-FFF2-40B4-BE49-F238E27FC236}">
                <a16:creationId xmlns:a16="http://schemas.microsoft.com/office/drawing/2014/main" id="{E0867A13-E626-48EF-8575-108BF579EB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04336" y="2309091"/>
            <a:ext cx="3557286" cy="2356224"/>
          </a:xfrm>
          <a:prstGeom prst="rect">
            <a:avLst/>
          </a:prstGeom>
        </p:spPr>
      </p:pic>
      <p:pic>
        <p:nvPicPr>
          <p:cNvPr id="12" name="图片 11">
            <a:extLst>
              <a:ext uri="{FF2B5EF4-FFF2-40B4-BE49-F238E27FC236}">
                <a16:creationId xmlns:a16="http://schemas.microsoft.com/office/drawing/2014/main" id="{1B9EA582-5B3B-4D05-A247-2C078E97796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15530" y="2242656"/>
            <a:ext cx="4495531" cy="2717272"/>
          </a:xfrm>
          <a:prstGeom prst="rect">
            <a:avLst/>
          </a:prstGeom>
        </p:spPr>
      </p:pic>
    </p:spTree>
    <p:extLst>
      <p:ext uri="{BB962C8B-B14F-4D97-AF65-F5344CB8AC3E}">
        <p14:creationId xmlns:p14="http://schemas.microsoft.com/office/powerpoint/2010/main" val="3217548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
            <a:ext cx="12192000" cy="6858000"/>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3120571" cy="6858000"/>
          </a:xfrm>
          <a:prstGeom prst="rect">
            <a:avLst/>
          </a:prstGeom>
          <a:solidFill>
            <a:srgbClr val="0056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2060"/>
              </a:solidFill>
            </a:endParaRPr>
          </a:p>
        </p:txBody>
      </p:sp>
      <p:sp>
        <p:nvSpPr>
          <p:cNvPr id="5" name="powerpoint template design by DAJU_PPT正版来源小红书大橘PPT微信DAJU_PPT请勿抄袭搬运！盗版必究！">
            <a:extLst>
              <a:ext uri="{FF2B5EF4-FFF2-40B4-BE49-F238E27FC236}">
                <a16:creationId xmlns:a16="http://schemas.microsoft.com/office/drawing/2014/main" id="{600EBE13-6021-4DDA-AABE-7D0C6DF6E6F4}"/>
              </a:ext>
            </a:extLst>
          </p:cNvPr>
          <p:cNvSpPr/>
          <p:nvPr/>
        </p:nvSpPr>
        <p:spPr>
          <a:xfrm>
            <a:off x="306196" y="931271"/>
            <a:ext cx="2481192" cy="634020"/>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en-US" sz="3200" b="1" dirty="0">
                <a:solidFill>
                  <a:schemeClr val="bg2"/>
                </a:solidFill>
                <a:latin typeface="+mj-ea"/>
                <a:ea typeface="+mj-ea"/>
                <a:cs typeface="+mn-ea"/>
                <a:sym typeface="+mn-lt"/>
              </a:rPr>
              <a:t>CONTENTS</a:t>
            </a:r>
          </a:p>
        </p:txBody>
      </p:sp>
      <p:sp>
        <p:nvSpPr>
          <p:cNvPr id="6" name="powerpoint template design by DAJU_PPT正版来源小红书大橘PPT微信DAJU_PPT请勿抄袭搬运！盗版必究！">
            <a:extLst>
              <a:ext uri="{FF2B5EF4-FFF2-40B4-BE49-F238E27FC236}">
                <a16:creationId xmlns:a16="http://schemas.microsoft.com/office/drawing/2014/main" id="{04D810FB-B2CF-4AD5-BA71-D18E8234D0A7}"/>
              </a:ext>
            </a:extLst>
          </p:cNvPr>
          <p:cNvSpPr/>
          <p:nvPr/>
        </p:nvSpPr>
        <p:spPr>
          <a:xfrm>
            <a:off x="890203" y="314625"/>
            <a:ext cx="1313180" cy="837152"/>
          </a:xfrm>
          <a:prstGeom prst="rect">
            <a:avLst/>
          </a:prstGeom>
        </p:spPr>
        <p:txBody>
          <a:bodyPr vert="horz"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800">
              <a:lnSpc>
                <a:spcPct val="110000"/>
              </a:lnSpc>
              <a:defRPr/>
            </a:pPr>
            <a:r>
              <a:rPr lang="zh-CN" altLang="en-US" sz="4400" b="1" dirty="0">
                <a:solidFill>
                  <a:schemeClr val="bg2"/>
                </a:solidFill>
                <a:latin typeface="+mj-ea"/>
                <a:ea typeface="+mj-ea"/>
                <a:cs typeface="+mn-ea"/>
                <a:sym typeface="+mn-lt"/>
              </a:rPr>
              <a:t>目录</a:t>
            </a:r>
            <a:endParaRPr lang="en-US" sz="4400" b="1" dirty="0">
              <a:solidFill>
                <a:schemeClr val="bg2"/>
              </a:solidFill>
              <a:latin typeface="+mj-ea"/>
              <a:ea typeface="+mj-ea"/>
              <a:cs typeface="+mn-ea"/>
              <a:sym typeface="+mn-lt"/>
            </a:endParaRPr>
          </a:p>
        </p:txBody>
      </p:sp>
      <p:sp>
        <p:nvSpPr>
          <p:cNvPr id="7"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16</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圆角矩形 7"/>
          <p:cNvSpPr/>
          <p:nvPr/>
        </p:nvSpPr>
        <p:spPr>
          <a:xfrm>
            <a:off x="2072742" y="195399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9" name="圆角矩形 8"/>
          <p:cNvSpPr/>
          <p:nvPr/>
        </p:nvSpPr>
        <p:spPr>
          <a:xfrm>
            <a:off x="2873171" y="200799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1</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0" name="圆角矩形 9"/>
          <p:cNvSpPr/>
          <p:nvPr/>
        </p:nvSpPr>
        <p:spPr>
          <a:xfrm>
            <a:off x="3606643" y="1970417"/>
            <a:ext cx="4693601" cy="468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研究背景与意义</a:t>
            </a:r>
          </a:p>
        </p:txBody>
      </p:sp>
      <p:sp>
        <p:nvSpPr>
          <p:cNvPr id="11" name="圆角矩形 10"/>
          <p:cNvSpPr/>
          <p:nvPr/>
        </p:nvSpPr>
        <p:spPr>
          <a:xfrm>
            <a:off x="2072742" y="267957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2" name="圆角矩形 11"/>
          <p:cNvSpPr/>
          <p:nvPr/>
        </p:nvSpPr>
        <p:spPr>
          <a:xfrm>
            <a:off x="2873171" y="273357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2</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3" name="圆角矩形 12"/>
          <p:cNvSpPr/>
          <p:nvPr/>
        </p:nvSpPr>
        <p:spPr>
          <a:xfrm>
            <a:off x="3606643" y="2695997"/>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国内外研究现状</a:t>
            </a:r>
          </a:p>
        </p:txBody>
      </p:sp>
      <p:sp>
        <p:nvSpPr>
          <p:cNvPr id="14" name="圆角矩形 13"/>
          <p:cNvSpPr/>
          <p:nvPr/>
        </p:nvSpPr>
        <p:spPr>
          <a:xfrm>
            <a:off x="2072742" y="3405155"/>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5" name="圆角矩形 14"/>
          <p:cNvSpPr/>
          <p:nvPr/>
        </p:nvSpPr>
        <p:spPr>
          <a:xfrm>
            <a:off x="2873171" y="3459155"/>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3</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6" name="圆角矩形 15"/>
          <p:cNvSpPr/>
          <p:nvPr/>
        </p:nvSpPr>
        <p:spPr>
          <a:xfrm>
            <a:off x="3606643" y="3421577"/>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研究思路与技术路线</a:t>
            </a:r>
          </a:p>
        </p:txBody>
      </p:sp>
      <p:sp>
        <p:nvSpPr>
          <p:cNvPr id="17" name="圆角矩形 16"/>
          <p:cNvSpPr/>
          <p:nvPr/>
        </p:nvSpPr>
        <p:spPr>
          <a:xfrm>
            <a:off x="2072742" y="4129958"/>
            <a:ext cx="7020000" cy="504000"/>
          </a:xfrm>
          <a:prstGeom prst="roundRect">
            <a:avLst/>
          </a:prstGeom>
          <a:solidFill>
            <a:schemeClr val="bg1"/>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8" name="圆角矩形 17"/>
          <p:cNvSpPr/>
          <p:nvPr/>
        </p:nvSpPr>
        <p:spPr>
          <a:xfrm>
            <a:off x="2873171" y="4183958"/>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4</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19" name="圆角矩形 18"/>
          <p:cNvSpPr/>
          <p:nvPr/>
        </p:nvSpPr>
        <p:spPr>
          <a:xfrm>
            <a:off x="3606643" y="4146380"/>
            <a:ext cx="4693601" cy="468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tx1"/>
                </a:solidFill>
                <a:latin typeface="楷体" panose="02010609060101010101" pitchFamily="49" charset="-122"/>
                <a:ea typeface="楷体" panose="02010609060101010101" pitchFamily="49" charset="-122"/>
                <a:cs typeface="Times New Roman" panose="02020603050405020304" pitchFamily="18" charset="0"/>
              </a:rPr>
              <a:t>研究内容与方案</a:t>
            </a:r>
          </a:p>
        </p:txBody>
      </p:sp>
      <p:sp>
        <p:nvSpPr>
          <p:cNvPr id="20" name="圆角矩形 19"/>
          <p:cNvSpPr/>
          <p:nvPr/>
        </p:nvSpPr>
        <p:spPr>
          <a:xfrm>
            <a:off x="2072742" y="4848839"/>
            <a:ext cx="7020000" cy="504000"/>
          </a:xfrm>
          <a:prstGeom prst="roundRect">
            <a:avLst/>
          </a:prstGeom>
          <a:solidFill>
            <a:srgbClr val="ABB7CD"/>
          </a:solidFill>
          <a:ln w="9525">
            <a:solidFill>
              <a:srgbClr val="00569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1" name="圆角矩形 20"/>
          <p:cNvSpPr/>
          <p:nvPr/>
        </p:nvSpPr>
        <p:spPr>
          <a:xfrm>
            <a:off x="2873171" y="4902839"/>
            <a:ext cx="468000" cy="360000"/>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Times New Roman" panose="02020603050405020304" pitchFamily="18" charset="0"/>
                <a:cs typeface="Times New Roman" panose="02020603050405020304" pitchFamily="18" charset="0"/>
              </a:rPr>
              <a:t>5</a:t>
            </a:r>
            <a:endParaRPr lang="zh-CN" altLang="en-US" sz="3200" b="1" dirty="0">
              <a:solidFill>
                <a:schemeClr val="bg1"/>
              </a:solidFill>
              <a:latin typeface="Times New Roman" panose="02020603050405020304" pitchFamily="18" charset="0"/>
              <a:cs typeface="Times New Roman" panose="02020603050405020304" pitchFamily="18" charset="0"/>
            </a:endParaRPr>
          </a:p>
        </p:txBody>
      </p:sp>
      <p:sp>
        <p:nvSpPr>
          <p:cNvPr id="22" name="圆角矩形 21"/>
          <p:cNvSpPr/>
          <p:nvPr/>
        </p:nvSpPr>
        <p:spPr>
          <a:xfrm>
            <a:off x="3606643" y="4865261"/>
            <a:ext cx="4693601" cy="468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rgbClr val="1A5FFA"/>
                </a:solidFill>
                <a:latin typeface="楷体" panose="02010609060101010101" pitchFamily="49" charset="-122"/>
                <a:ea typeface="楷体" panose="02010609060101010101" pitchFamily="49" charset="-122"/>
                <a:cs typeface="Times New Roman" panose="02020603050405020304" pitchFamily="18" charset="0"/>
              </a:rPr>
              <a:t>研究计划与预期成果</a:t>
            </a:r>
          </a:p>
        </p:txBody>
      </p:sp>
    </p:spTree>
    <p:extLst>
      <p:ext uri="{BB962C8B-B14F-4D97-AF65-F5344CB8AC3E}">
        <p14:creationId xmlns:p14="http://schemas.microsoft.com/office/powerpoint/2010/main" val="3808004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85"/>
          <p:cNvSpPr>
            <a:spLocks noChangeArrowheads="1"/>
          </p:cNvSpPr>
          <p:nvPr/>
        </p:nvSpPr>
        <p:spPr bwMode="auto">
          <a:xfrm>
            <a:off x="0" y="0"/>
            <a:ext cx="12192000" cy="720000"/>
          </a:xfrm>
          <a:prstGeom prst="rect">
            <a:avLst/>
          </a:prstGeom>
          <a:gradFill flip="none" rotWithShape="1">
            <a:gsLst>
              <a:gs pos="10000">
                <a:schemeClr val="accent1">
                  <a:lumMod val="67000"/>
                </a:schemeClr>
              </a:gs>
              <a:gs pos="48000">
                <a:schemeClr val="accent1">
                  <a:lumMod val="97000"/>
                  <a:lumOff val="3000"/>
                </a:schemeClr>
              </a:gs>
              <a:gs pos="100000">
                <a:schemeClr val="accent1">
                  <a:lumMod val="60000"/>
                  <a:lumOff val="40000"/>
                </a:schemeClr>
              </a:gs>
            </a:gsLst>
            <a:lin ang="2700000" scaled="1"/>
            <a:tileRect/>
          </a:gra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PMingLiU" panose="02020500000000000000" pitchFamily="18" charset="-12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PMingLiU" panose="02020500000000000000" pitchFamily="18" charset="-12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ea typeface="PMingLiU" panose="02020500000000000000" pitchFamily="18" charset="-120"/>
              </a:defRPr>
            </a:lvl9pPr>
          </a:lstStyle>
          <a:p>
            <a:pPr>
              <a:lnSpc>
                <a:spcPct val="100000"/>
              </a:lnSpc>
              <a:spcBef>
                <a:spcPct val="0"/>
              </a:spcBef>
              <a:buNone/>
            </a:pPr>
            <a:r>
              <a:rPr lang="zh-CN" altLang="en-US" sz="3200" b="1" dirty="0">
                <a:solidFill>
                  <a:srgbClr val="FFFFFF"/>
                </a:solidFill>
                <a:latin typeface="宋体" panose="02010600030101010101" pitchFamily="2" charset="-122"/>
                <a:ea typeface="宋体" panose="02010600030101010101" pitchFamily="2" charset="-122"/>
                <a:sym typeface="宋体" panose="02010600030101010101" pitchFamily="2" charset="-122"/>
              </a:rPr>
              <a:t> 五、研究计划与预期成果</a:t>
            </a:r>
          </a:p>
        </p:txBody>
      </p:sp>
      <p:pic>
        <p:nvPicPr>
          <p:cNvPr id="5" name="图片 4" descr="校标与各学院中英文名称左右组合.pdf - Adobe Reade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2724" t="64109" r="42021" b="21587"/>
          <a:stretch/>
        </p:blipFill>
        <p:spPr>
          <a:xfrm>
            <a:off x="10054314" y="72000"/>
            <a:ext cx="2054378" cy="576000"/>
          </a:xfrm>
          <a:prstGeom prst="rect">
            <a:avLst/>
          </a:prstGeom>
        </p:spPr>
      </p:pic>
      <p:sp>
        <p:nvSpPr>
          <p:cNvPr id="11" name="灯片编号占位符 5"/>
          <p:cNvSpPr txBox="1">
            <a:spLocks/>
          </p:cNvSpPr>
          <p:nvPr/>
        </p:nvSpPr>
        <p:spPr>
          <a:xfrm>
            <a:off x="10054314" y="6492875"/>
            <a:ext cx="20574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457200">
              <a:defRPr/>
            </a:pPr>
            <a:r>
              <a:rPr lang="en-US" altLang="zh-CN" b="1" dirty="0">
                <a:latin typeface="Times New Roman" panose="02020603050405020304" pitchFamily="18" charset="0"/>
                <a:ea typeface="等线" panose="02010600030101010101" pitchFamily="2" charset="-122"/>
                <a:cs typeface="Times New Roman" panose="02020603050405020304" pitchFamily="18" charset="0"/>
              </a:rPr>
              <a:t>- </a:t>
            </a:r>
            <a:fld id="{4F8D4620-62F6-4081-A137-9BCEAEAFF46C}" type="slidenum">
              <a:rPr lang="zh-CN" altLang="en-US" b="1" smtClean="0">
                <a:latin typeface="Times New Roman" panose="02020603050405020304" pitchFamily="18" charset="0"/>
                <a:ea typeface="等线" panose="02010600030101010101" pitchFamily="2" charset="-122"/>
                <a:cs typeface="Times New Roman" panose="02020603050405020304" pitchFamily="18" charset="0"/>
              </a:rPr>
              <a:pPr algn="r" defTabSz="457200">
                <a:defRPr/>
              </a:pPr>
              <a:t>17</a:t>
            </a:fld>
            <a:r>
              <a:rPr lang="zh-CN" altLang="en-US" b="1"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b="1" dirty="0">
                <a:latin typeface="Times New Roman" panose="02020603050405020304" pitchFamily="18" charset="0"/>
                <a:ea typeface="等线" panose="02010600030101010101" pitchFamily="2" charset="-122"/>
                <a:cs typeface="Times New Roman" panose="02020603050405020304" pitchFamily="18" charset="0"/>
              </a:rPr>
              <a:t>-</a:t>
            </a:r>
            <a:endParaRPr lang="zh-CN" altLang="en-US" b="1" dirty="0">
              <a:latin typeface="Times New Roman" panose="02020603050405020304" pitchFamily="18" charset="0"/>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9DB24E3-4CFE-63C6-48E2-EBA3A63D1ECA}"/>
              </a:ext>
            </a:extLst>
          </p:cNvPr>
          <p:cNvSpPr txBox="1"/>
          <p:nvPr/>
        </p:nvSpPr>
        <p:spPr>
          <a:xfrm>
            <a:off x="0" y="884445"/>
            <a:ext cx="3838222"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5.1 </a:t>
            </a:r>
            <a:r>
              <a:rPr lang="zh-CN" altLang="en-US" sz="2000" b="1" dirty="0">
                <a:solidFill>
                  <a:srgbClr val="394761"/>
                </a:solidFill>
                <a:latin typeface="微软雅黑" panose="020B0503020204020204" pitchFamily="34" charset="-122"/>
                <a:ea typeface="微软雅黑" panose="020B0503020204020204" pitchFamily="34" charset="-122"/>
              </a:rPr>
              <a:t>研究计划</a:t>
            </a:r>
          </a:p>
        </p:txBody>
      </p:sp>
      <p:sp>
        <p:nvSpPr>
          <p:cNvPr id="14" name="文本框 13">
            <a:extLst>
              <a:ext uri="{FF2B5EF4-FFF2-40B4-BE49-F238E27FC236}">
                <a16:creationId xmlns:a16="http://schemas.microsoft.com/office/drawing/2014/main" id="{C9DB24E3-4CFE-63C6-48E2-EBA3A63D1ECA}"/>
              </a:ext>
            </a:extLst>
          </p:cNvPr>
          <p:cNvSpPr txBox="1"/>
          <p:nvPr/>
        </p:nvSpPr>
        <p:spPr>
          <a:xfrm>
            <a:off x="15376" y="4619052"/>
            <a:ext cx="3838222" cy="400110"/>
          </a:xfrm>
          <a:prstGeom prst="rect">
            <a:avLst/>
          </a:prstGeom>
          <a:noFill/>
        </p:spPr>
        <p:txBody>
          <a:bodyPr wrap="square" rtlCol="0">
            <a:spAutoFit/>
          </a:bodyPr>
          <a:lstStyle/>
          <a:p>
            <a:pPr marL="342900" indent="-342900">
              <a:buSzPct val="120000"/>
              <a:buFont typeface="Wingdings" panose="05000000000000000000" pitchFamily="2" charset="2"/>
              <a:buChar char="p"/>
            </a:pPr>
            <a:r>
              <a:rPr lang="en-US" altLang="zh-CN" sz="2000" b="1" dirty="0">
                <a:solidFill>
                  <a:srgbClr val="394761"/>
                </a:solidFill>
                <a:latin typeface="微软雅黑" panose="020B0503020204020204" pitchFamily="34" charset="-122"/>
                <a:ea typeface="微软雅黑" panose="020B0503020204020204" pitchFamily="34" charset="-122"/>
              </a:rPr>
              <a:t>5.2 </a:t>
            </a:r>
            <a:r>
              <a:rPr lang="zh-CN" altLang="en-US" sz="2000" b="1" dirty="0">
                <a:solidFill>
                  <a:srgbClr val="394761"/>
                </a:solidFill>
                <a:latin typeface="微软雅黑" panose="020B0503020204020204" pitchFamily="34" charset="-122"/>
                <a:ea typeface="微软雅黑" panose="020B0503020204020204" pitchFamily="34" charset="-122"/>
              </a:rPr>
              <a:t>预期成果</a:t>
            </a:r>
          </a:p>
        </p:txBody>
      </p:sp>
      <p:sp>
        <p:nvSpPr>
          <p:cNvPr id="7" name="矩形 6"/>
          <p:cNvSpPr/>
          <p:nvPr/>
        </p:nvSpPr>
        <p:spPr>
          <a:xfrm>
            <a:off x="824090" y="5005836"/>
            <a:ext cx="8421510" cy="1754326"/>
          </a:xfrm>
          <a:prstGeom prst="rect">
            <a:avLst/>
          </a:prstGeom>
        </p:spPr>
        <p:txBody>
          <a:bodyPr wrap="square">
            <a:spAutoFit/>
          </a:bodyPr>
          <a:lstStyle/>
          <a:p>
            <a:pPr marL="285750" indent="-285750" algn="just">
              <a:lnSpc>
                <a:spcPct val="150000"/>
              </a:lnSpc>
              <a:buFont typeface="Arial" panose="020B0604020202020204" pitchFamily="34" charset="0"/>
              <a:buChar char="•"/>
              <a:tabLst>
                <a:tab pos="604520" algn="l"/>
              </a:tabLst>
            </a:pPr>
            <a:r>
              <a:rPr lang="zh-CN" altLang="zh-CN" kern="0" dirty="0">
                <a:solidFill>
                  <a:srgbClr val="000000"/>
                </a:solidFill>
                <a:latin typeface="Times New Roman" panose="02020603050405020304" pitchFamily="18" charset="0"/>
                <a:ea typeface="宋体" panose="02010600030101010101" pitchFamily="2" charset="-122"/>
              </a:rPr>
              <a:t>提出一种基于探地雷达的根系自动识别与定位方法；</a:t>
            </a:r>
            <a:endParaRPr lang="en-US" altLang="zh-CN" kern="0" dirty="0">
              <a:solidFill>
                <a:srgbClr val="000000"/>
              </a:solidFill>
              <a:latin typeface="Times New Roman" panose="02020603050405020304" pitchFamily="18" charset="0"/>
              <a:ea typeface="宋体" panose="02010600030101010101" pitchFamily="2" charset="-122"/>
            </a:endParaRPr>
          </a:p>
          <a:p>
            <a:pPr marL="285750" indent="-285750" algn="just">
              <a:lnSpc>
                <a:spcPct val="150000"/>
              </a:lnSpc>
              <a:buFont typeface="Arial" panose="020B0604020202020204" pitchFamily="34" charset="0"/>
              <a:buChar char="•"/>
              <a:tabLst>
                <a:tab pos="604520" algn="l"/>
              </a:tabLst>
            </a:pPr>
            <a:r>
              <a:rPr lang="zh-CN" altLang="zh-CN" kern="0" dirty="0">
                <a:solidFill>
                  <a:srgbClr val="000000"/>
                </a:solidFill>
                <a:latin typeface="Times New Roman" panose="02020603050405020304" pitchFamily="18" charset="0"/>
                <a:ea typeface="宋体" panose="02010600030101010101" pitchFamily="2" charset="-122"/>
              </a:rPr>
              <a:t>提出一种基于探地雷达的树木根系特征参数估测方法；</a:t>
            </a:r>
          </a:p>
          <a:p>
            <a:pPr marL="285750" indent="-285750" algn="just">
              <a:lnSpc>
                <a:spcPct val="150000"/>
              </a:lnSpc>
              <a:buFont typeface="Arial" panose="020B0604020202020204" pitchFamily="34" charset="0"/>
              <a:buChar char="•"/>
              <a:tabLst>
                <a:tab pos="604520" algn="l"/>
              </a:tabLst>
            </a:pPr>
            <a:r>
              <a:rPr lang="zh-CN" altLang="zh-CN" kern="0" dirty="0">
                <a:solidFill>
                  <a:srgbClr val="000000"/>
                </a:solidFill>
                <a:latin typeface="Times New Roman" panose="02020603050405020304" pitchFamily="18" charset="0"/>
                <a:ea typeface="宋体" panose="02010600030101010101" pitchFamily="2" charset="-122"/>
              </a:rPr>
              <a:t>提出一种基于探地雷达的根系构型空间分布反演方法；</a:t>
            </a:r>
          </a:p>
          <a:p>
            <a:pPr marL="285750" indent="-285750" algn="just">
              <a:lnSpc>
                <a:spcPct val="150000"/>
              </a:lnSpc>
              <a:buFont typeface="Arial" panose="020B0604020202020204" pitchFamily="34" charset="0"/>
              <a:buChar char="•"/>
              <a:tabLst>
                <a:tab pos="604520" algn="l"/>
              </a:tabLst>
            </a:pPr>
            <a:r>
              <a:rPr lang="zh-CN" altLang="zh-CN" kern="0" dirty="0">
                <a:solidFill>
                  <a:srgbClr val="000000"/>
                </a:solidFill>
                <a:latin typeface="Times New Roman" panose="02020603050405020304" pitchFamily="18" charset="0"/>
                <a:ea typeface="宋体" panose="02010600030101010101" pitchFamily="2" charset="-122"/>
              </a:rPr>
              <a:t>研究成果申请专利</a:t>
            </a:r>
            <a:r>
              <a:rPr lang="en-US" altLang="zh-CN" kern="0" dirty="0">
                <a:solidFill>
                  <a:srgbClr val="000000"/>
                </a:solidFill>
                <a:latin typeface="Times New Roman" panose="02020603050405020304" pitchFamily="18" charset="0"/>
                <a:ea typeface="宋体" panose="02010600030101010101" pitchFamily="2" charset="-122"/>
              </a:rPr>
              <a:t>1</a:t>
            </a:r>
            <a:r>
              <a:rPr lang="zh-CN" altLang="zh-CN" kern="0" dirty="0">
                <a:solidFill>
                  <a:srgbClr val="000000"/>
                </a:solidFill>
                <a:latin typeface="Times New Roman" panose="02020603050405020304" pitchFamily="18" charset="0"/>
                <a:ea typeface="宋体" panose="02010600030101010101" pitchFamily="2" charset="-122"/>
              </a:rPr>
              <a:t>项，软著</a:t>
            </a:r>
            <a:r>
              <a:rPr lang="en-US" altLang="zh-CN" kern="0" dirty="0">
                <a:solidFill>
                  <a:srgbClr val="000000"/>
                </a:solidFill>
                <a:latin typeface="Times New Roman" panose="02020603050405020304" pitchFamily="18" charset="0"/>
                <a:ea typeface="宋体" panose="02010600030101010101" pitchFamily="2" charset="-122"/>
              </a:rPr>
              <a:t>1-2</a:t>
            </a:r>
            <a:r>
              <a:rPr lang="zh-CN" altLang="zh-CN" kern="0" dirty="0">
                <a:solidFill>
                  <a:srgbClr val="000000"/>
                </a:solidFill>
                <a:latin typeface="Times New Roman" panose="02020603050405020304" pitchFamily="18" charset="0"/>
                <a:ea typeface="宋体" panose="02010600030101010101" pitchFamily="2" charset="-122"/>
              </a:rPr>
              <a:t>项，论文</a:t>
            </a:r>
            <a:r>
              <a:rPr lang="en-US" altLang="zh-CN" kern="0" dirty="0">
                <a:solidFill>
                  <a:srgbClr val="000000"/>
                </a:solidFill>
                <a:latin typeface="Times New Roman" panose="02020603050405020304" pitchFamily="18" charset="0"/>
                <a:ea typeface="宋体" panose="02010600030101010101" pitchFamily="2" charset="-122"/>
              </a:rPr>
              <a:t>1-2</a:t>
            </a:r>
            <a:r>
              <a:rPr lang="zh-CN" altLang="zh-CN" kern="0" dirty="0">
                <a:solidFill>
                  <a:srgbClr val="000000"/>
                </a:solidFill>
                <a:latin typeface="Times New Roman" panose="02020603050405020304" pitchFamily="18" charset="0"/>
                <a:ea typeface="宋体" panose="02010600030101010101" pitchFamily="2" charset="-122"/>
              </a:rPr>
              <a:t>篇，完成结题报告</a:t>
            </a:r>
            <a:r>
              <a:rPr lang="zh-CN" altLang="en-US" kern="0" dirty="0">
                <a:solidFill>
                  <a:srgbClr val="000000"/>
                </a:solidFill>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p:txBody>
      </p:sp>
      <p:grpSp>
        <p:nvGrpSpPr>
          <p:cNvPr id="2" name="组合 1"/>
          <p:cNvGrpSpPr/>
          <p:nvPr/>
        </p:nvGrpSpPr>
        <p:grpSpPr>
          <a:xfrm>
            <a:off x="824090" y="1361633"/>
            <a:ext cx="10488679" cy="3178070"/>
            <a:chOff x="824090" y="1361633"/>
            <a:chExt cx="11251009" cy="3178070"/>
          </a:xfrm>
        </p:grpSpPr>
        <p:sp>
          <p:nvSpPr>
            <p:cNvPr id="10" name="powerpoint template design by DAJU_PPT正版来源小红书大橘PPT微信DAJU_PPT请勿抄袭搬运！盗版必究！-1">
              <a:extLst>
                <a:ext uri="{FF2B5EF4-FFF2-40B4-BE49-F238E27FC236}">
                  <a16:creationId xmlns:a16="http://schemas.microsoft.com/office/drawing/2014/main" id="{E1F38379-91BE-437F-8D13-A0A4F3CC9A97}"/>
                </a:ext>
              </a:extLst>
            </p:cNvPr>
            <p:cNvSpPr/>
            <p:nvPr/>
          </p:nvSpPr>
          <p:spPr>
            <a:xfrm>
              <a:off x="824090" y="1361635"/>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12" name="powerpoint template design by DAJU_PPT正版来源小红书大橘PPT微信DAJU_PPT请勿抄袭搬运！盗版必究！-2">
              <a:extLst>
                <a:ext uri="{FF2B5EF4-FFF2-40B4-BE49-F238E27FC236}">
                  <a16:creationId xmlns:a16="http://schemas.microsoft.com/office/drawing/2014/main" id="{3F71A3DF-8214-449F-A0F4-F63D4F00DA77}"/>
                </a:ext>
              </a:extLst>
            </p:cNvPr>
            <p:cNvSpPr/>
            <p:nvPr/>
          </p:nvSpPr>
          <p:spPr>
            <a:xfrm>
              <a:off x="1780130" y="1361633"/>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13" name="powerpoint template design by DAJU_PPT正版来源小红书大橘PPT微信DAJU_PPT请勿抄袭搬运！盗版必究！-3">
              <a:extLst>
                <a:ext uri="{FF2B5EF4-FFF2-40B4-BE49-F238E27FC236}">
                  <a16:creationId xmlns:a16="http://schemas.microsoft.com/office/drawing/2014/main" id="{56CDC4DA-FC99-43CF-ADA9-16510030CB60}"/>
                </a:ext>
              </a:extLst>
            </p:cNvPr>
            <p:cNvSpPr/>
            <p:nvPr/>
          </p:nvSpPr>
          <p:spPr>
            <a:xfrm>
              <a:off x="2736170" y="1361635"/>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15" name="powerpoint template design by DAJU_PPT正版来源小红书大橘PPT微信DAJU_PPT请勿抄袭搬运！盗版必究！-4">
              <a:extLst>
                <a:ext uri="{FF2B5EF4-FFF2-40B4-BE49-F238E27FC236}">
                  <a16:creationId xmlns:a16="http://schemas.microsoft.com/office/drawing/2014/main" id="{9309F5DF-AB7A-486B-917E-C4CC64C4E382}"/>
                </a:ext>
              </a:extLst>
            </p:cNvPr>
            <p:cNvSpPr/>
            <p:nvPr/>
          </p:nvSpPr>
          <p:spPr>
            <a:xfrm>
              <a:off x="3692210" y="1361633"/>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16" name="powerpoint template design by DAJU_PPT正版来源小红书大橘PPT微信DAJU_PPT请勿抄袭搬运！盗版必究！-5">
              <a:extLst>
                <a:ext uri="{FF2B5EF4-FFF2-40B4-BE49-F238E27FC236}">
                  <a16:creationId xmlns:a16="http://schemas.microsoft.com/office/drawing/2014/main" id="{58769961-3049-4E65-AE03-7432AA591FA6}"/>
                </a:ext>
              </a:extLst>
            </p:cNvPr>
            <p:cNvSpPr/>
            <p:nvPr/>
          </p:nvSpPr>
          <p:spPr>
            <a:xfrm>
              <a:off x="4648250" y="1361635"/>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17" name="powerpoint template design by DAJU_PPT正版来源小红书大橘PPT微信DAJU_PPT请勿抄袭搬运！盗版必究！-6">
              <a:extLst>
                <a:ext uri="{FF2B5EF4-FFF2-40B4-BE49-F238E27FC236}">
                  <a16:creationId xmlns:a16="http://schemas.microsoft.com/office/drawing/2014/main" id="{73E4BA48-0B48-49D1-8D33-8C79A418414C}"/>
                </a:ext>
              </a:extLst>
            </p:cNvPr>
            <p:cNvSpPr/>
            <p:nvPr/>
          </p:nvSpPr>
          <p:spPr>
            <a:xfrm>
              <a:off x="5604290" y="1361633"/>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18" name="powerpoint template design by DAJU_PPT正版来源小红书大橘PPT微信DAJU_PPT请勿抄袭搬运！盗版必究！-7">
              <a:extLst>
                <a:ext uri="{FF2B5EF4-FFF2-40B4-BE49-F238E27FC236}">
                  <a16:creationId xmlns:a16="http://schemas.microsoft.com/office/drawing/2014/main" id="{A13747F2-E663-40C4-8CA8-03AD7B21DF71}"/>
                </a:ext>
              </a:extLst>
            </p:cNvPr>
            <p:cNvSpPr/>
            <p:nvPr/>
          </p:nvSpPr>
          <p:spPr>
            <a:xfrm>
              <a:off x="6552997" y="1361635"/>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19" name="powerpoint template design by DAJU_PPT正版来源小红书大橘PPT微信DAJU_PPT请勿抄袭搬运！盗版必究！-8">
              <a:extLst>
                <a:ext uri="{FF2B5EF4-FFF2-40B4-BE49-F238E27FC236}">
                  <a16:creationId xmlns:a16="http://schemas.microsoft.com/office/drawing/2014/main" id="{CEE1B1C2-3B63-4066-93A8-F2DA71C4B535}"/>
                </a:ext>
              </a:extLst>
            </p:cNvPr>
            <p:cNvSpPr/>
            <p:nvPr/>
          </p:nvSpPr>
          <p:spPr>
            <a:xfrm>
              <a:off x="7509037" y="1361633"/>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20" name="powerpoint template design by DAJU_PPT正版来源小红书大橘PPT微信DAJU_PPT请勿抄袭搬运！盗版必究！-9">
              <a:extLst>
                <a:ext uri="{FF2B5EF4-FFF2-40B4-BE49-F238E27FC236}">
                  <a16:creationId xmlns:a16="http://schemas.microsoft.com/office/drawing/2014/main" id="{41ED3448-80CE-4351-BA3A-C275CC82F12D}"/>
                </a:ext>
              </a:extLst>
            </p:cNvPr>
            <p:cNvSpPr txBox="1"/>
            <p:nvPr/>
          </p:nvSpPr>
          <p:spPr>
            <a:xfrm>
              <a:off x="960507" y="4262704"/>
              <a:ext cx="45945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dirty="0">
                  <a:latin typeface="+mn-ea"/>
                </a:rPr>
                <a:t>3</a:t>
              </a:r>
              <a:r>
                <a:rPr lang="zh-CN" altLang="en-US" sz="1200" dirty="0">
                  <a:latin typeface="+mn-ea"/>
                </a:rPr>
                <a:t>月</a:t>
              </a:r>
              <a:endParaRPr lang="id-ID" sz="1200" dirty="0">
                <a:latin typeface="+mn-ea"/>
              </a:endParaRPr>
            </a:p>
          </p:txBody>
        </p:sp>
        <p:sp>
          <p:nvSpPr>
            <p:cNvPr id="21" name="powerpoint template design by DAJU_PPT正版来源小红书大橘PPT微信DAJU_PPT请勿抄袭搬运！盗版必究！-10">
              <a:extLst>
                <a:ext uri="{FF2B5EF4-FFF2-40B4-BE49-F238E27FC236}">
                  <a16:creationId xmlns:a16="http://schemas.microsoft.com/office/drawing/2014/main" id="{E695B952-9228-49F4-93AB-8AC6473520C0}"/>
                </a:ext>
              </a:extLst>
            </p:cNvPr>
            <p:cNvSpPr txBox="1"/>
            <p:nvPr/>
          </p:nvSpPr>
          <p:spPr>
            <a:xfrm>
              <a:off x="1912881" y="4262704"/>
              <a:ext cx="45945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4</a:t>
              </a:r>
              <a:r>
                <a:rPr lang="zh-CN" altLang="en-US" sz="1200" dirty="0">
                  <a:latin typeface="+mn-ea"/>
                </a:rPr>
                <a:t>月</a:t>
              </a:r>
              <a:endParaRPr lang="id-ID" sz="1200" dirty="0">
                <a:latin typeface="+mn-ea"/>
              </a:endParaRPr>
            </a:p>
          </p:txBody>
        </p:sp>
        <p:sp>
          <p:nvSpPr>
            <p:cNvPr id="22" name="powerpoint template design by DAJU_PPT正版来源小红书大橘PPT微信DAJU_PPT请勿抄袭搬运！盗版必究！-11">
              <a:extLst>
                <a:ext uri="{FF2B5EF4-FFF2-40B4-BE49-F238E27FC236}">
                  <a16:creationId xmlns:a16="http://schemas.microsoft.com/office/drawing/2014/main" id="{73919114-20A3-4728-AD9D-3B5E57270450}"/>
                </a:ext>
              </a:extLst>
            </p:cNvPr>
            <p:cNvSpPr txBox="1"/>
            <p:nvPr/>
          </p:nvSpPr>
          <p:spPr>
            <a:xfrm>
              <a:off x="2846333" y="4262704"/>
              <a:ext cx="459454"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5</a:t>
              </a:r>
              <a:r>
                <a:rPr lang="zh-CN" altLang="en-US" sz="1200" dirty="0">
                  <a:latin typeface="+mn-ea"/>
                </a:rPr>
                <a:t>月</a:t>
              </a:r>
              <a:endParaRPr lang="id-ID" altLang="zh-CN" sz="1200" dirty="0">
                <a:latin typeface="+mn-ea"/>
              </a:endParaRPr>
            </a:p>
          </p:txBody>
        </p:sp>
        <p:sp>
          <p:nvSpPr>
            <p:cNvPr id="23" name="powerpoint template design by DAJU_PPT正版来源小红书大橘PPT微信DAJU_PPT请勿抄袭搬运！盗版必究！-12">
              <a:extLst>
                <a:ext uri="{FF2B5EF4-FFF2-40B4-BE49-F238E27FC236}">
                  <a16:creationId xmlns:a16="http://schemas.microsoft.com/office/drawing/2014/main" id="{4207B064-20C3-457A-B960-59F32957B6A7}"/>
                </a:ext>
              </a:extLst>
            </p:cNvPr>
            <p:cNvSpPr txBox="1"/>
            <p:nvPr/>
          </p:nvSpPr>
          <p:spPr>
            <a:xfrm>
              <a:off x="3798706" y="4262704"/>
              <a:ext cx="459454"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6</a:t>
              </a:r>
              <a:r>
                <a:rPr lang="zh-CN" altLang="en-US" sz="1200" dirty="0">
                  <a:latin typeface="+mn-ea"/>
                </a:rPr>
                <a:t>月</a:t>
              </a:r>
              <a:endParaRPr lang="id-ID" altLang="zh-CN" sz="1200" dirty="0">
                <a:latin typeface="+mn-ea"/>
              </a:endParaRPr>
            </a:p>
          </p:txBody>
        </p:sp>
        <p:sp>
          <p:nvSpPr>
            <p:cNvPr id="24" name="powerpoint template design by DAJU_PPT正版来源小红书大橘PPT微信DAJU_PPT请勿抄袭搬运！盗版必究！-13">
              <a:extLst>
                <a:ext uri="{FF2B5EF4-FFF2-40B4-BE49-F238E27FC236}">
                  <a16:creationId xmlns:a16="http://schemas.microsoft.com/office/drawing/2014/main" id="{B2F70163-A16F-4604-983E-718C45E70282}"/>
                </a:ext>
              </a:extLst>
            </p:cNvPr>
            <p:cNvSpPr txBox="1"/>
            <p:nvPr/>
          </p:nvSpPr>
          <p:spPr>
            <a:xfrm>
              <a:off x="4764837" y="4262704"/>
              <a:ext cx="459454"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7</a:t>
              </a:r>
              <a:r>
                <a:rPr lang="zh-CN" altLang="en-US" sz="1200" dirty="0">
                  <a:latin typeface="+mn-ea"/>
                </a:rPr>
                <a:t>月</a:t>
              </a:r>
              <a:endParaRPr lang="id-ID" altLang="zh-CN" sz="1200" dirty="0">
                <a:latin typeface="+mn-ea"/>
              </a:endParaRPr>
            </a:p>
          </p:txBody>
        </p:sp>
        <p:sp>
          <p:nvSpPr>
            <p:cNvPr id="25" name="powerpoint template design by DAJU_PPT正版来源小红书大橘PPT微信DAJU_PPT请勿抄袭搬运！盗版必究！-14">
              <a:extLst>
                <a:ext uri="{FF2B5EF4-FFF2-40B4-BE49-F238E27FC236}">
                  <a16:creationId xmlns:a16="http://schemas.microsoft.com/office/drawing/2014/main" id="{8594FB0D-9DB6-4C4B-99E2-9E3D40098EAA}"/>
                </a:ext>
              </a:extLst>
            </p:cNvPr>
            <p:cNvSpPr txBox="1"/>
            <p:nvPr/>
          </p:nvSpPr>
          <p:spPr>
            <a:xfrm>
              <a:off x="5738997" y="4262704"/>
              <a:ext cx="45945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8</a:t>
              </a:r>
              <a:r>
                <a:rPr lang="zh-CN" altLang="en-US" sz="1200" dirty="0">
                  <a:latin typeface="+mn-ea"/>
                </a:rPr>
                <a:t>月</a:t>
              </a:r>
              <a:endParaRPr lang="id-ID" altLang="zh-CN" sz="1200" dirty="0">
                <a:latin typeface="+mn-ea"/>
              </a:endParaRPr>
            </a:p>
          </p:txBody>
        </p:sp>
        <p:sp>
          <p:nvSpPr>
            <p:cNvPr id="26" name="powerpoint template design by DAJU_PPT正版来源小红书大橘PPT微信DAJU_PPT请勿抄袭搬运！盗版必究！-15">
              <a:extLst>
                <a:ext uri="{FF2B5EF4-FFF2-40B4-BE49-F238E27FC236}">
                  <a16:creationId xmlns:a16="http://schemas.microsoft.com/office/drawing/2014/main" id="{F1F1D11E-C010-4A46-ADC5-A8A3E65F3F67}"/>
                </a:ext>
              </a:extLst>
            </p:cNvPr>
            <p:cNvSpPr txBox="1"/>
            <p:nvPr/>
          </p:nvSpPr>
          <p:spPr>
            <a:xfrm>
              <a:off x="6672449" y="4262704"/>
              <a:ext cx="459454"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9</a:t>
              </a:r>
              <a:r>
                <a:rPr lang="zh-CN" altLang="en-US" sz="1200" dirty="0">
                  <a:latin typeface="+mn-ea"/>
                </a:rPr>
                <a:t>月</a:t>
              </a:r>
              <a:endParaRPr lang="id-ID" altLang="zh-CN" sz="1200" dirty="0">
                <a:latin typeface="+mn-ea"/>
              </a:endParaRPr>
            </a:p>
          </p:txBody>
        </p:sp>
        <p:sp>
          <p:nvSpPr>
            <p:cNvPr id="27" name="powerpoint template design by DAJU_PPT正版来源小红书大橘PPT微信DAJU_PPT请勿抄袭搬运！盗版必究！-16">
              <a:extLst>
                <a:ext uri="{FF2B5EF4-FFF2-40B4-BE49-F238E27FC236}">
                  <a16:creationId xmlns:a16="http://schemas.microsoft.com/office/drawing/2014/main" id="{11C39E23-6642-4E81-839C-96FD4B73ABC6}"/>
                </a:ext>
              </a:extLst>
            </p:cNvPr>
            <p:cNvSpPr txBox="1"/>
            <p:nvPr/>
          </p:nvSpPr>
          <p:spPr>
            <a:xfrm>
              <a:off x="7576677" y="4262704"/>
              <a:ext cx="555748"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10</a:t>
              </a:r>
              <a:r>
                <a:rPr lang="zh-CN" altLang="en-US" sz="1200" dirty="0">
                  <a:latin typeface="+mn-ea"/>
                </a:rPr>
                <a:t>月</a:t>
              </a:r>
              <a:endParaRPr lang="id-ID" altLang="zh-CN" sz="1200" dirty="0">
                <a:latin typeface="+mn-ea"/>
              </a:endParaRPr>
            </a:p>
          </p:txBody>
        </p:sp>
        <p:sp>
          <p:nvSpPr>
            <p:cNvPr id="28" name="powerpoint template design by DAJU_PPT正版来源小红书大橘PPT微信DAJU_PPT请勿抄袭搬运！盗版必究！-5">
              <a:extLst>
                <a:ext uri="{FF2B5EF4-FFF2-40B4-BE49-F238E27FC236}">
                  <a16:creationId xmlns:a16="http://schemas.microsoft.com/office/drawing/2014/main" id="{58769961-3049-4E65-AE03-7432AA591FA6}"/>
                </a:ext>
              </a:extLst>
            </p:cNvPr>
            <p:cNvSpPr/>
            <p:nvPr/>
          </p:nvSpPr>
          <p:spPr>
            <a:xfrm>
              <a:off x="8482026" y="1361635"/>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29" name="powerpoint template design by DAJU_PPT正版来源小红书大橘PPT微信DAJU_PPT请勿抄袭搬运！盗版必究！-6">
              <a:extLst>
                <a:ext uri="{FF2B5EF4-FFF2-40B4-BE49-F238E27FC236}">
                  <a16:creationId xmlns:a16="http://schemas.microsoft.com/office/drawing/2014/main" id="{73E4BA48-0B48-49D1-8D33-8C79A418414C}"/>
                </a:ext>
              </a:extLst>
            </p:cNvPr>
            <p:cNvSpPr/>
            <p:nvPr/>
          </p:nvSpPr>
          <p:spPr>
            <a:xfrm>
              <a:off x="9438066" y="1361633"/>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30" name="powerpoint template design by DAJU_PPT正版来源小红书大橘PPT微信DAJU_PPT请勿抄袭搬运！盗版必究！-7">
              <a:extLst>
                <a:ext uri="{FF2B5EF4-FFF2-40B4-BE49-F238E27FC236}">
                  <a16:creationId xmlns:a16="http://schemas.microsoft.com/office/drawing/2014/main" id="{A13747F2-E663-40C4-8CA8-03AD7B21DF71}"/>
                </a:ext>
              </a:extLst>
            </p:cNvPr>
            <p:cNvSpPr/>
            <p:nvPr/>
          </p:nvSpPr>
          <p:spPr>
            <a:xfrm>
              <a:off x="10386773" y="1361635"/>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31" name="powerpoint template design by DAJU_PPT正版来源小红书大橘PPT微信DAJU_PPT请勿抄袭搬运！盗版必究！-8">
              <a:extLst>
                <a:ext uri="{FF2B5EF4-FFF2-40B4-BE49-F238E27FC236}">
                  <a16:creationId xmlns:a16="http://schemas.microsoft.com/office/drawing/2014/main" id="{CEE1B1C2-3B63-4066-93A8-F2DA71C4B535}"/>
                </a:ext>
              </a:extLst>
            </p:cNvPr>
            <p:cNvSpPr/>
            <p:nvPr/>
          </p:nvSpPr>
          <p:spPr>
            <a:xfrm>
              <a:off x="11342813" y="1361633"/>
              <a:ext cx="732286" cy="2883112"/>
            </a:xfrm>
            <a:prstGeom prst="rect">
              <a:avLst/>
            </a:prstGeom>
            <a:solidFill>
              <a:schemeClr val="bg2">
                <a:lumMod val="95000"/>
                <a:alpha val="25000"/>
              </a:schemeClr>
            </a:solidFill>
            <a:ln>
              <a:solidFill>
                <a:schemeClr val="bg2">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2400"/>
            </a:p>
          </p:txBody>
        </p:sp>
        <p:sp>
          <p:nvSpPr>
            <p:cNvPr id="32" name="powerpoint template design by DAJU_PPT正版来源小红书大橘PPT微信DAJU_PPT请勿抄袭搬运！盗版必究！-13">
              <a:extLst>
                <a:ext uri="{FF2B5EF4-FFF2-40B4-BE49-F238E27FC236}">
                  <a16:creationId xmlns:a16="http://schemas.microsoft.com/office/drawing/2014/main" id="{B2F70163-A16F-4604-983E-718C45E70282}"/>
                </a:ext>
              </a:extLst>
            </p:cNvPr>
            <p:cNvSpPr txBox="1"/>
            <p:nvPr/>
          </p:nvSpPr>
          <p:spPr>
            <a:xfrm>
              <a:off x="8550466" y="4262704"/>
              <a:ext cx="555748"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11</a:t>
              </a:r>
              <a:r>
                <a:rPr lang="zh-CN" altLang="en-US" sz="1200" dirty="0">
                  <a:latin typeface="+mn-ea"/>
                </a:rPr>
                <a:t>月</a:t>
              </a:r>
              <a:endParaRPr lang="id-ID" altLang="zh-CN" sz="1200" dirty="0">
                <a:latin typeface="+mn-ea"/>
              </a:endParaRPr>
            </a:p>
          </p:txBody>
        </p:sp>
        <p:sp>
          <p:nvSpPr>
            <p:cNvPr id="33" name="powerpoint template design by DAJU_PPT正版来源小红书大橘PPT微信DAJU_PPT请勿抄袭搬运！盗版必究！-14">
              <a:extLst>
                <a:ext uri="{FF2B5EF4-FFF2-40B4-BE49-F238E27FC236}">
                  <a16:creationId xmlns:a16="http://schemas.microsoft.com/office/drawing/2014/main" id="{8594FB0D-9DB6-4C4B-99E2-9E3D40098EAA}"/>
                </a:ext>
              </a:extLst>
            </p:cNvPr>
            <p:cNvSpPr txBox="1"/>
            <p:nvPr/>
          </p:nvSpPr>
          <p:spPr>
            <a:xfrm>
              <a:off x="9524626" y="4262704"/>
              <a:ext cx="555748"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12</a:t>
              </a:r>
              <a:r>
                <a:rPr lang="zh-CN" altLang="en-US" sz="1200" dirty="0">
                  <a:latin typeface="+mn-ea"/>
                </a:rPr>
                <a:t>月</a:t>
              </a:r>
              <a:endParaRPr lang="id-ID" altLang="zh-CN" sz="1200" dirty="0">
                <a:latin typeface="+mn-ea"/>
              </a:endParaRPr>
            </a:p>
          </p:txBody>
        </p:sp>
        <p:sp>
          <p:nvSpPr>
            <p:cNvPr id="34" name="powerpoint template design by DAJU_PPT正版来源小红书大橘PPT微信DAJU_PPT请勿抄袭搬运！盗版必究！-15">
              <a:extLst>
                <a:ext uri="{FF2B5EF4-FFF2-40B4-BE49-F238E27FC236}">
                  <a16:creationId xmlns:a16="http://schemas.microsoft.com/office/drawing/2014/main" id="{F1F1D11E-C010-4A46-ADC5-A8A3E65F3F67}"/>
                </a:ext>
              </a:extLst>
            </p:cNvPr>
            <p:cNvSpPr txBox="1"/>
            <p:nvPr/>
          </p:nvSpPr>
          <p:spPr>
            <a:xfrm>
              <a:off x="10506225" y="4262704"/>
              <a:ext cx="459454"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1</a:t>
              </a:r>
              <a:r>
                <a:rPr lang="zh-CN" altLang="en-US" sz="1200" dirty="0">
                  <a:latin typeface="+mn-ea"/>
                </a:rPr>
                <a:t>月</a:t>
              </a:r>
              <a:endParaRPr lang="id-ID" altLang="zh-CN" sz="1200" dirty="0">
                <a:latin typeface="+mn-ea"/>
              </a:endParaRPr>
            </a:p>
          </p:txBody>
        </p:sp>
        <p:sp>
          <p:nvSpPr>
            <p:cNvPr id="35" name="powerpoint template design by DAJU_PPT正版来源小红书大橘PPT微信DAJU_PPT请勿抄袭搬运！盗版必究！-16">
              <a:extLst>
                <a:ext uri="{FF2B5EF4-FFF2-40B4-BE49-F238E27FC236}">
                  <a16:creationId xmlns:a16="http://schemas.microsoft.com/office/drawing/2014/main" id="{11C39E23-6642-4E81-839C-96FD4B73ABC6}"/>
                </a:ext>
              </a:extLst>
            </p:cNvPr>
            <p:cNvSpPr txBox="1"/>
            <p:nvPr/>
          </p:nvSpPr>
          <p:spPr>
            <a:xfrm>
              <a:off x="11458599" y="4262704"/>
              <a:ext cx="459454"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latin typeface="+mn-ea"/>
                </a:rPr>
                <a:t>2</a:t>
              </a:r>
              <a:r>
                <a:rPr lang="zh-CN" altLang="en-US" sz="1200" dirty="0">
                  <a:latin typeface="+mn-ea"/>
                </a:rPr>
                <a:t>月</a:t>
              </a:r>
              <a:endParaRPr lang="id-ID" altLang="zh-CN" sz="1200" dirty="0">
                <a:latin typeface="+mn-ea"/>
              </a:endParaRPr>
            </a:p>
          </p:txBody>
        </p:sp>
      </p:grpSp>
      <p:sp>
        <p:nvSpPr>
          <p:cNvPr id="38" name="powerpoint template design by DAJU_PPT正版来源小红书大橘PPT微信DAJU_PPT请勿抄袭搬运！盗版必究！">
            <a:extLst>
              <a:ext uri="{FF2B5EF4-FFF2-40B4-BE49-F238E27FC236}">
                <a16:creationId xmlns:a16="http://schemas.microsoft.com/office/drawing/2014/main" id="{3A9F430E-28B2-48A8-BFFD-6B048A6284E7}"/>
              </a:ext>
            </a:extLst>
          </p:cNvPr>
          <p:cNvSpPr/>
          <p:nvPr/>
        </p:nvSpPr>
        <p:spPr>
          <a:xfrm>
            <a:off x="824090" y="1600442"/>
            <a:ext cx="2443345" cy="324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zh-CN" sz="1400" kern="0" dirty="0">
                <a:solidFill>
                  <a:schemeClr val="bg1"/>
                </a:solidFill>
                <a:latin typeface="Times New Roman" panose="02020603050405020304" pitchFamily="18" charset="0"/>
                <a:ea typeface="宋体" panose="02010600030101010101" pitchFamily="2" charset="-122"/>
              </a:rPr>
              <a:t>查阅</a:t>
            </a:r>
            <a:r>
              <a:rPr lang="zh-CN" altLang="en-US" sz="1400" kern="0" dirty="0">
                <a:solidFill>
                  <a:schemeClr val="bg1"/>
                </a:solidFill>
                <a:latin typeface="Times New Roman" panose="02020603050405020304" pitchFamily="18" charset="0"/>
                <a:ea typeface="宋体" panose="02010600030101010101" pitchFamily="2" charset="-122"/>
              </a:rPr>
              <a:t>文献，奠定理论基础</a:t>
            </a:r>
            <a:endParaRPr lang="en-IN" sz="1400" dirty="0">
              <a:solidFill>
                <a:schemeClr val="bg1"/>
              </a:solidFill>
            </a:endParaRPr>
          </a:p>
        </p:txBody>
      </p:sp>
      <p:sp>
        <p:nvSpPr>
          <p:cNvPr id="40" name="powerpoint template design by DAJU_PPT正版来源小红书大橘PPT微信DAJU_PPT请勿抄袭搬运！盗版必究！">
            <a:extLst>
              <a:ext uri="{FF2B5EF4-FFF2-40B4-BE49-F238E27FC236}">
                <a16:creationId xmlns:a16="http://schemas.microsoft.com/office/drawing/2014/main" id="{739C1C1A-9A53-4A35-B509-0CB513ACB76C}"/>
              </a:ext>
            </a:extLst>
          </p:cNvPr>
          <p:cNvSpPr/>
          <p:nvPr/>
        </p:nvSpPr>
        <p:spPr>
          <a:xfrm>
            <a:off x="1600483" y="2171237"/>
            <a:ext cx="2645981" cy="32400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kern="0" dirty="0">
                <a:solidFill>
                  <a:schemeClr val="bg1"/>
                </a:solidFill>
                <a:latin typeface="Times New Roman" panose="02020603050405020304" pitchFamily="18" charset="0"/>
                <a:ea typeface="宋体" panose="02010600030101010101" pitchFamily="2" charset="-122"/>
              </a:rPr>
              <a:t>仿真实验，解析环境敏感因素</a:t>
            </a:r>
            <a:endParaRPr lang="en-IN" sz="1400" kern="0" dirty="0">
              <a:solidFill>
                <a:schemeClr val="bg1"/>
              </a:solidFill>
              <a:latin typeface="Times New Roman" panose="02020603050405020304" pitchFamily="18" charset="0"/>
              <a:ea typeface="宋体" panose="02010600030101010101" pitchFamily="2" charset="-122"/>
            </a:endParaRPr>
          </a:p>
        </p:txBody>
      </p:sp>
      <p:sp>
        <p:nvSpPr>
          <p:cNvPr id="41" name="powerpoint template design by DAJU_PPT正版来源小红书大橘PPT微信DAJU_PPT请勿抄袭搬运！盗版必究！">
            <a:extLst>
              <a:ext uri="{FF2B5EF4-FFF2-40B4-BE49-F238E27FC236}">
                <a16:creationId xmlns:a16="http://schemas.microsoft.com/office/drawing/2014/main" id="{3A9F430E-28B2-48A8-BFFD-6B048A6284E7}"/>
              </a:ext>
            </a:extLst>
          </p:cNvPr>
          <p:cNvSpPr/>
          <p:nvPr/>
        </p:nvSpPr>
        <p:spPr>
          <a:xfrm>
            <a:off x="3471168" y="2707544"/>
            <a:ext cx="3363699" cy="324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kern="0" dirty="0">
                <a:solidFill>
                  <a:schemeClr val="bg1"/>
                </a:solidFill>
                <a:latin typeface="Times New Roman" panose="02020603050405020304" pitchFamily="18" charset="0"/>
                <a:ea typeface="宋体" panose="02010600030101010101" pitchFamily="2" charset="-122"/>
              </a:rPr>
              <a:t>雷达波数据处理，根系识别定位</a:t>
            </a:r>
            <a:endParaRPr lang="en-IN" sz="1400" dirty="0">
              <a:solidFill>
                <a:schemeClr val="bg1"/>
              </a:solidFill>
            </a:endParaRPr>
          </a:p>
        </p:txBody>
      </p:sp>
      <p:sp>
        <p:nvSpPr>
          <p:cNvPr id="42" name="powerpoint template design by DAJU_PPT正版来源小红书大橘PPT微信DAJU_PPT请勿抄袭搬运！盗版必究！">
            <a:extLst>
              <a:ext uri="{FF2B5EF4-FFF2-40B4-BE49-F238E27FC236}">
                <a16:creationId xmlns:a16="http://schemas.microsoft.com/office/drawing/2014/main" id="{739C1C1A-9A53-4A35-B509-0CB513ACB76C}"/>
              </a:ext>
            </a:extLst>
          </p:cNvPr>
          <p:cNvSpPr/>
          <p:nvPr/>
        </p:nvSpPr>
        <p:spPr>
          <a:xfrm>
            <a:off x="6164826" y="3224936"/>
            <a:ext cx="3400060" cy="324000"/>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kern="0" dirty="0">
                <a:solidFill>
                  <a:schemeClr val="bg1"/>
                </a:solidFill>
                <a:latin typeface="Times New Roman" panose="02020603050405020304" pitchFamily="18" charset="0"/>
                <a:ea typeface="宋体" panose="02010600030101010101" pitchFamily="2" charset="-122"/>
              </a:rPr>
              <a:t>根系构型三维重建</a:t>
            </a:r>
            <a:endParaRPr lang="en-IN" sz="1400" kern="0" dirty="0">
              <a:solidFill>
                <a:schemeClr val="bg1"/>
              </a:solidFill>
              <a:latin typeface="Times New Roman" panose="02020603050405020304" pitchFamily="18" charset="0"/>
              <a:ea typeface="宋体" panose="02010600030101010101" pitchFamily="2" charset="-122"/>
            </a:endParaRPr>
          </a:p>
        </p:txBody>
      </p:sp>
      <p:sp>
        <p:nvSpPr>
          <p:cNvPr id="43" name="powerpoint template design by DAJU_PPT正版来源小红书大橘PPT微信DAJU_PPT请勿抄袭搬运！盗版必究！">
            <a:extLst>
              <a:ext uri="{FF2B5EF4-FFF2-40B4-BE49-F238E27FC236}">
                <a16:creationId xmlns:a16="http://schemas.microsoft.com/office/drawing/2014/main" id="{3A9F430E-28B2-48A8-BFFD-6B048A6284E7}"/>
              </a:ext>
            </a:extLst>
          </p:cNvPr>
          <p:cNvSpPr/>
          <p:nvPr/>
        </p:nvSpPr>
        <p:spPr>
          <a:xfrm>
            <a:off x="8858893" y="3745312"/>
            <a:ext cx="2442557" cy="3240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400" dirty="0">
                <a:solidFill>
                  <a:schemeClr val="bg1"/>
                </a:solidFill>
              </a:rPr>
              <a:t>撰写和发表研究成果</a:t>
            </a:r>
            <a:endParaRPr lang="en-IN" sz="1400" dirty="0">
              <a:solidFill>
                <a:schemeClr val="bg1"/>
              </a:solidFill>
            </a:endParaRPr>
          </a:p>
        </p:txBody>
      </p:sp>
    </p:spTree>
    <p:extLst>
      <p:ext uri="{BB962C8B-B14F-4D97-AF65-F5344CB8AC3E}">
        <p14:creationId xmlns:p14="http://schemas.microsoft.com/office/powerpoint/2010/main" val="506468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4724400" y="6492875"/>
            <a:ext cx="2743200" cy="365125"/>
          </a:xfrm>
        </p:spPr>
        <p:txBody>
          <a:bodyPr/>
          <a:lstStyle/>
          <a:p>
            <a:fld id="{7CD8FDCA-5F31-45C2-9228-1965BA17AD8A}" type="slidenum">
              <a:rPr lang="zh-CN" altLang="en-US" smtClean="0"/>
              <a:t>18</a:t>
            </a:fld>
            <a:endParaRPr lang="zh-CN" altLang="en-US"/>
          </a:p>
        </p:txBody>
      </p:sp>
      <p:sp>
        <p:nvSpPr>
          <p:cNvPr id="4" name="矩形 3"/>
          <p:cNvSpPr/>
          <p:nvPr/>
        </p:nvSpPr>
        <p:spPr>
          <a:xfrm>
            <a:off x="0" y="3349967"/>
            <a:ext cx="12192000" cy="3508033"/>
          </a:xfrm>
          <a:prstGeom prst="rect">
            <a:avLst/>
          </a:prstGeom>
          <a:gradFill flip="none" rotWithShape="1">
            <a:gsLst>
              <a:gs pos="5000">
                <a:schemeClr val="accent3">
                  <a:lumMod val="5000"/>
                  <a:lumOff val="95000"/>
                  <a:alpha val="20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3"/>
          <a:srcRect t="22316" b="8631"/>
          <a:stretch/>
        </p:blipFill>
        <p:spPr>
          <a:xfrm>
            <a:off x="0" y="0"/>
            <a:ext cx="12192000" cy="2340000"/>
          </a:xfrm>
          <a:prstGeom prst="flowChartDocument">
            <a:avLst/>
          </a:prstGeom>
        </p:spPr>
      </p:pic>
      <p:sp>
        <p:nvSpPr>
          <p:cNvPr id="6" name="流程图: 文档 5"/>
          <p:cNvSpPr/>
          <p:nvPr/>
        </p:nvSpPr>
        <p:spPr>
          <a:xfrm>
            <a:off x="0" y="-302"/>
            <a:ext cx="12192000" cy="2340000"/>
          </a:xfrm>
          <a:prstGeom prst="flowChartDocument">
            <a:avLst/>
          </a:prstGeom>
          <a:solidFill>
            <a:schemeClr val="accent3">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校标与各学院中英文名称左右组合.pdf - Adobe Reade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12896" t="47143" r="15920" b="31720"/>
          <a:stretch/>
        </p:blipFill>
        <p:spPr>
          <a:xfrm>
            <a:off x="7980974" y="0"/>
            <a:ext cx="4211025" cy="864000"/>
          </a:xfrm>
          <a:prstGeom prst="rect">
            <a:avLst/>
          </a:prstGeom>
        </p:spPr>
      </p:pic>
      <p:sp>
        <p:nvSpPr>
          <p:cNvPr id="20" name="矩形 19"/>
          <p:cNvSpPr/>
          <p:nvPr/>
        </p:nvSpPr>
        <p:spPr>
          <a:xfrm>
            <a:off x="1524000" y="2456016"/>
            <a:ext cx="9144000" cy="1554272"/>
          </a:xfrm>
          <a:prstGeom prst="rect">
            <a:avLst/>
          </a:prstGeom>
        </p:spPr>
        <p:txBody>
          <a:bodyPr wrap="square">
            <a:spAutoFit/>
          </a:bodyPr>
          <a:lstStyle/>
          <a:p>
            <a:pPr lvl="0" algn="ctr" defTabSz="685783">
              <a:lnSpc>
                <a:spcPct val="125000"/>
              </a:lnSpc>
              <a:defRPr/>
            </a:pPr>
            <a:r>
              <a:rPr lang="en-US" altLang="zh-CN" sz="4000" b="1" spc="5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THANKS !</a:t>
            </a:r>
          </a:p>
          <a:p>
            <a:pPr lvl="0" algn="ctr" defTabSz="685783">
              <a:lnSpc>
                <a:spcPct val="125000"/>
              </a:lnSpc>
              <a:defRPr/>
            </a:pPr>
            <a:r>
              <a:rPr lang="zh-CN" altLang="en-US" sz="4000" b="1" spc="5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敬请各位老师批评指正！</a:t>
            </a:r>
          </a:p>
        </p:txBody>
      </p:sp>
      <p:sp>
        <p:nvSpPr>
          <p:cNvPr id="9" name="文本框 24">
            <a:extLst>
              <a:ext uri="{FF2B5EF4-FFF2-40B4-BE49-F238E27FC236}">
                <a16:creationId xmlns:a16="http://schemas.microsoft.com/office/drawing/2014/main" id="{59C8A630-8B8A-B1D3-C88E-0AA75F97935B}"/>
              </a:ext>
            </a:extLst>
          </p:cNvPr>
          <p:cNvSpPr txBox="1"/>
          <p:nvPr/>
        </p:nvSpPr>
        <p:spPr>
          <a:xfrm>
            <a:off x="2053390" y="1060213"/>
            <a:ext cx="8085220" cy="677108"/>
          </a:xfrm>
          <a:prstGeom prst="rect">
            <a:avLst/>
          </a:prstGeom>
          <a:noFill/>
        </p:spPr>
        <p:txBody>
          <a:bodyPr wrap="square">
            <a:spAutoFit/>
          </a:bodyPr>
          <a:lstStyle/>
          <a:p>
            <a:pPr algn="ctr">
              <a:defRPr/>
            </a:pPr>
            <a:r>
              <a:rPr lang="zh-CN" altLang="en-US" sz="3800" b="1" spc="300" dirty="0">
                <a:solidFill>
                  <a:schemeClr val="bg1">
                    <a:lumMod val="95000"/>
                  </a:schemeClr>
                </a:solidFill>
                <a:latin typeface="隶书" panose="02010509060101010101" pitchFamily="49" charset="-122"/>
                <a:ea typeface="隶书" panose="02010509060101010101" pitchFamily="49" charset="-122"/>
              </a:rPr>
              <a:t>研究生创新基金项目申报答辩</a:t>
            </a:r>
            <a:endParaRPr lang="en-US" altLang="zh-CN" sz="3800" b="1" spc="300" dirty="0">
              <a:solidFill>
                <a:schemeClr val="bg1">
                  <a:lumMod val="95000"/>
                </a:schemeClr>
              </a:solidFill>
              <a:latin typeface="隶书" panose="02010509060101010101" pitchFamily="49" charset="-122"/>
              <a:ea typeface="隶书" panose="02010509060101010101" pitchFamily="49" charset="-122"/>
            </a:endParaRPr>
          </a:p>
        </p:txBody>
      </p:sp>
      <p:sp>
        <p:nvSpPr>
          <p:cNvPr id="11" name="文本框 10">
            <a:extLst>
              <a:ext uri="{FF2B5EF4-FFF2-40B4-BE49-F238E27FC236}">
                <a16:creationId xmlns:a16="http://schemas.microsoft.com/office/drawing/2014/main" id="{57143697-8555-28C1-0374-B634237DEF74}"/>
              </a:ext>
            </a:extLst>
          </p:cNvPr>
          <p:cNvSpPr txBox="1"/>
          <p:nvPr/>
        </p:nvSpPr>
        <p:spPr>
          <a:xfrm>
            <a:off x="4894727" y="6264144"/>
            <a:ext cx="2402547" cy="400110"/>
          </a:xfrm>
          <a:prstGeom prst="rect">
            <a:avLst/>
          </a:prstGeom>
          <a:noFill/>
        </p:spPr>
        <p:txBody>
          <a:bodyPr wrap="square">
            <a:spAutoFit/>
          </a:bodyPr>
          <a:lstStyle/>
          <a:p>
            <a:pPr eaLnBrk="1" fontAlgn="auto" hangingPunct="1">
              <a:spcBef>
                <a:spcPts val="0"/>
              </a:spcBef>
              <a:spcAft>
                <a:spcPts val="0"/>
              </a:spcAft>
              <a:defRPr/>
            </a:pPr>
            <a:r>
              <a:rPr lang="en-US" altLang="zh-CN" sz="2000" b="1" spc="300" dirty="0">
                <a:latin typeface="宋体" panose="02010600030101010101" pitchFamily="2" charset="-122"/>
                <a:ea typeface="宋体" panose="02010600030101010101" pitchFamily="2" charset="-122"/>
              </a:rPr>
              <a:t>2025</a:t>
            </a:r>
            <a:r>
              <a:rPr lang="zh-CN" altLang="en-US" sz="2000" b="1" spc="300" dirty="0">
                <a:latin typeface="宋体" panose="02010600030101010101" pitchFamily="2" charset="-122"/>
                <a:ea typeface="宋体" panose="02010600030101010101" pitchFamily="2" charset="-122"/>
              </a:rPr>
              <a:t>年</a:t>
            </a:r>
            <a:r>
              <a:rPr lang="en-US" altLang="zh-CN" sz="2000" b="1" spc="300" dirty="0">
                <a:latin typeface="宋体" panose="02010600030101010101" pitchFamily="2" charset="-122"/>
                <a:ea typeface="宋体" panose="02010600030101010101" pitchFamily="2" charset="-122"/>
              </a:rPr>
              <a:t>10</a:t>
            </a:r>
            <a:r>
              <a:rPr lang="zh-CN" altLang="en-US" sz="2000" b="1" spc="300" dirty="0">
                <a:latin typeface="宋体" panose="02010600030101010101" pitchFamily="2" charset="-122"/>
                <a:ea typeface="宋体" panose="02010600030101010101" pitchFamily="2" charset="-122"/>
              </a:rPr>
              <a:t>月</a:t>
            </a:r>
            <a:r>
              <a:rPr lang="en-US" altLang="zh-CN" sz="2000" b="1" spc="300" dirty="0">
                <a:latin typeface="宋体" panose="02010600030101010101" pitchFamily="2" charset="-122"/>
                <a:ea typeface="宋体" panose="02010600030101010101" pitchFamily="2" charset="-122"/>
              </a:rPr>
              <a:t>17</a:t>
            </a:r>
            <a:r>
              <a:rPr lang="zh-CN" altLang="en-US" sz="2000" b="1" spc="300" dirty="0">
                <a:latin typeface="宋体" panose="02010600030101010101" pitchFamily="2" charset="-122"/>
                <a:ea typeface="宋体" panose="02010600030101010101" pitchFamily="2" charset="-122"/>
              </a:rPr>
              <a:t>日</a:t>
            </a:r>
            <a:endParaRPr lang="zh-HK" altLang="en-US" sz="2000" b="1" spc="300" dirty="0">
              <a:latin typeface="宋体" panose="02010600030101010101" pitchFamily="2" charset="-122"/>
              <a:ea typeface="宋体" panose="02010600030101010101" pitchFamily="2" charset="-122"/>
            </a:endParaRPr>
          </a:p>
        </p:txBody>
      </p:sp>
      <p:grpSp>
        <p:nvGrpSpPr>
          <p:cNvPr id="12" name="组合 11"/>
          <p:cNvGrpSpPr/>
          <p:nvPr/>
        </p:nvGrpSpPr>
        <p:grpSpPr>
          <a:xfrm>
            <a:off x="3098732" y="4429405"/>
            <a:ext cx="5994536" cy="1482968"/>
            <a:chOff x="2400439" y="4588490"/>
            <a:chExt cx="5994536" cy="1482968"/>
          </a:xfrm>
        </p:grpSpPr>
        <p:grpSp>
          <p:nvGrpSpPr>
            <p:cNvPr id="13" name="组合 12">
              <a:extLst>
                <a:ext uri="{FF2B5EF4-FFF2-40B4-BE49-F238E27FC236}">
                  <a16:creationId xmlns:a16="http://schemas.microsoft.com/office/drawing/2014/main" id="{1D79D7F8-CCAE-8F19-7BCD-670FD6285DD6}"/>
                </a:ext>
              </a:extLst>
            </p:cNvPr>
            <p:cNvGrpSpPr/>
            <p:nvPr/>
          </p:nvGrpSpPr>
          <p:grpSpPr>
            <a:xfrm>
              <a:off x="2400439" y="4588490"/>
              <a:ext cx="5994535" cy="400902"/>
              <a:chOff x="2690812" y="4308475"/>
              <a:chExt cx="5994535" cy="400902"/>
            </a:xfrm>
          </p:grpSpPr>
          <p:sp>
            <p:nvSpPr>
              <p:cNvPr id="22" name="矩形 21">
                <a:extLst>
                  <a:ext uri="{FF2B5EF4-FFF2-40B4-BE49-F238E27FC236}">
                    <a16:creationId xmlns:a16="http://schemas.microsoft.com/office/drawing/2014/main" id="{F24AD09E-C1AD-4774-718F-67391B009360}"/>
                  </a:ext>
                </a:extLst>
              </p:cNvPr>
              <p:cNvSpPr/>
              <p:nvPr/>
            </p:nvSpPr>
            <p:spPr>
              <a:xfrm>
                <a:off x="2690812" y="4308475"/>
                <a:ext cx="1596993" cy="400050"/>
              </a:xfrm>
              <a:prstGeom prst="rect">
                <a:avLst/>
              </a:prstGeom>
              <a:solidFill>
                <a:srgbClr val="39476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dist" eaLnBrk="1" fontAlgn="auto" hangingPunct="1">
                  <a:spcBef>
                    <a:spcPts val="0"/>
                  </a:spcBef>
                  <a:spcAft>
                    <a:spcPts val="0"/>
                  </a:spcAft>
                  <a:defRPr/>
                </a:pPr>
                <a:r>
                  <a:rPr lang="zh-CN" altLang="en-US" sz="2000" b="1" spc="600" dirty="0">
                    <a:latin typeface="宋体" panose="02010600030101010101" pitchFamily="2" charset="-122"/>
                    <a:ea typeface="宋体" panose="02010600030101010101" pitchFamily="2" charset="-122"/>
                  </a:rPr>
                  <a:t>汇报人</a:t>
                </a:r>
                <a:endParaRPr lang="zh-HK" altLang="en-US" sz="2000" b="1" spc="600" dirty="0">
                  <a:latin typeface="宋体" panose="02010600030101010101" pitchFamily="2" charset="-122"/>
                  <a:ea typeface="宋体" panose="02010600030101010101" pitchFamily="2" charset="-122"/>
                </a:endParaRPr>
              </a:p>
            </p:txBody>
          </p:sp>
          <p:sp>
            <p:nvSpPr>
              <p:cNvPr id="23" name="文本框 24">
                <a:extLst>
                  <a:ext uri="{FF2B5EF4-FFF2-40B4-BE49-F238E27FC236}">
                    <a16:creationId xmlns:a16="http://schemas.microsoft.com/office/drawing/2014/main" id="{0A863900-D78E-4EC7-E25F-AB24A15F3746}"/>
                  </a:ext>
                </a:extLst>
              </p:cNvPr>
              <p:cNvSpPr txBox="1"/>
              <p:nvPr/>
            </p:nvSpPr>
            <p:spPr>
              <a:xfrm>
                <a:off x="4423998" y="4309267"/>
                <a:ext cx="4261349" cy="400110"/>
              </a:xfrm>
              <a:prstGeom prst="rect">
                <a:avLst/>
              </a:prstGeom>
              <a:noFill/>
            </p:spPr>
            <p:txBody>
              <a:bodyPr wrap="square">
                <a:spAutoFit/>
              </a:bodyPr>
              <a:lstStyle/>
              <a:p>
                <a:pPr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许青山</a:t>
                </a:r>
                <a:endParaRPr lang="zh-HK" altLang="en-US" sz="2000" b="1" spc="300" dirty="0">
                  <a:latin typeface="宋体" panose="02010600030101010101" pitchFamily="2" charset="-122"/>
                  <a:ea typeface="宋体" panose="02010600030101010101" pitchFamily="2" charset="-122"/>
                </a:endParaRPr>
              </a:p>
            </p:txBody>
          </p:sp>
        </p:grpSp>
        <p:grpSp>
          <p:nvGrpSpPr>
            <p:cNvPr id="14" name="组合 13">
              <a:extLst>
                <a:ext uri="{FF2B5EF4-FFF2-40B4-BE49-F238E27FC236}">
                  <a16:creationId xmlns:a16="http://schemas.microsoft.com/office/drawing/2014/main" id="{56E0D49E-BBD4-A03D-5874-CE336656F15F}"/>
                </a:ext>
              </a:extLst>
            </p:cNvPr>
            <p:cNvGrpSpPr/>
            <p:nvPr/>
          </p:nvGrpSpPr>
          <p:grpSpPr>
            <a:xfrm>
              <a:off x="2400440" y="5122552"/>
              <a:ext cx="5994535" cy="410231"/>
              <a:chOff x="2690813" y="4308475"/>
              <a:chExt cx="5994535" cy="410231"/>
            </a:xfrm>
          </p:grpSpPr>
          <p:sp>
            <p:nvSpPr>
              <p:cNvPr id="18" name="矩形 17">
                <a:extLst>
                  <a:ext uri="{FF2B5EF4-FFF2-40B4-BE49-F238E27FC236}">
                    <a16:creationId xmlns:a16="http://schemas.microsoft.com/office/drawing/2014/main" id="{8E897028-4CCE-B7FA-95B4-9AEDCD50B7C3}"/>
                  </a:ext>
                </a:extLst>
              </p:cNvPr>
              <p:cNvSpPr/>
              <p:nvPr/>
            </p:nvSpPr>
            <p:spPr>
              <a:xfrm>
                <a:off x="2690813" y="4308475"/>
                <a:ext cx="1596992" cy="400050"/>
              </a:xfrm>
              <a:prstGeom prst="rect">
                <a:avLst/>
              </a:prstGeom>
              <a:solidFill>
                <a:srgbClr val="39476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dist"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指导教师</a:t>
                </a:r>
                <a:endParaRPr lang="zh-HK" altLang="en-US" sz="2000" b="1" spc="200" dirty="0">
                  <a:latin typeface="宋体" panose="02010600030101010101" pitchFamily="2" charset="-122"/>
                  <a:ea typeface="宋体" panose="02010600030101010101" pitchFamily="2" charset="-122"/>
                </a:endParaRPr>
              </a:p>
            </p:txBody>
          </p:sp>
          <p:sp>
            <p:nvSpPr>
              <p:cNvPr id="21" name="文本框 24">
                <a:extLst>
                  <a:ext uri="{FF2B5EF4-FFF2-40B4-BE49-F238E27FC236}">
                    <a16:creationId xmlns:a16="http://schemas.microsoft.com/office/drawing/2014/main" id="{D12A4586-2343-E62B-4C0E-824D5C287D8D}"/>
                  </a:ext>
                </a:extLst>
              </p:cNvPr>
              <p:cNvSpPr txBox="1"/>
              <p:nvPr/>
            </p:nvSpPr>
            <p:spPr>
              <a:xfrm>
                <a:off x="4423999" y="4318596"/>
                <a:ext cx="4261349" cy="400110"/>
              </a:xfrm>
              <a:prstGeom prst="rect">
                <a:avLst/>
              </a:prstGeom>
              <a:noFill/>
            </p:spPr>
            <p:txBody>
              <a:bodyPr wrap="square">
                <a:spAutoFit/>
              </a:bodyPr>
              <a:lstStyle/>
              <a:p>
                <a:pPr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梁浩 副教授</a:t>
                </a:r>
                <a:endParaRPr lang="zh-HK" altLang="en-US" sz="2000" b="1" spc="300" dirty="0">
                  <a:latin typeface="宋体" panose="02010600030101010101" pitchFamily="2" charset="-122"/>
                  <a:ea typeface="宋体" panose="02010600030101010101" pitchFamily="2" charset="-122"/>
                </a:endParaRPr>
              </a:p>
            </p:txBody>
          </p:sp>
        </p:grpSp>
        <p:grpSp>
          <p:nvGrpSpPr>
            <p:cNvPr id="15" name="组合 14">
              <a:extLst>
                <a:ext uri="{FF2B5EF4-FFF2-40B4-BE49-F238E27FC236}">
                  <a16:creationId xmlns:a16="http://schemas.microsoft.com/office/drawing/2014/main" id="{8EB779A6-31BC-B580-AF8F-3B5C4061EAAB}"/>
                </a:ext>
              </a:extLst>
            </p:cNvPr>
            <p:cNvGrpSpPr/>
            <p:nvPr/>
          </p:nvGrpSpPr>
          <p:grpSpPr>
            <a:xfrm>
              <a:off x="2400440" y="5656614"/>
              <a:ext cx="5994534" cy="414844"/>
              <a:chOff x="2690813" y="4308475"/>
              <a:chExt cx="5994534" cy="414844"/>
            </a:xfrm>
          </p:grpSpPr>
          <p:sp>
            <p:nvSpPr>
              <p:cNvPr id="16" name="矩形 15">
                <a:extLst>
                  <a:ext uri="{FF2B5EF4-FFF2-40B4-BE49-F238E27FC236}">
                    <a16:creationId xmlns:a16="http://schemas.microsoft.com/office/drawing/2014/main" id="{34250783-4941-5B03-3329-01328F84B8BF}"/>
                  </a:ext>
                </a:extLst>
              </p:cNvPr>
              <p:cNvSpPr/>
              <p:nvPr/>
            </p:nvSpPr>
            <p:spPr>
              <a:xfrm>
                <a:off x="2690813" y="4308475"/>
                <a:ext cx="1596992" cy="400050"/>
              </a:xfrm>
              <a:prstGeom prst="rect">
                <a:avLst/>
              </a:prstGeom>
              <a:solidFill>
                <a:srgbClr val="39476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dist"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学  科</a:t>
                </a:r>
                <a:endParaRPr lang="zh-HK" altLang="en-US" sz="2000" b="1" spc="200" dirty="0">
                  <a:latin typeface="宋体" panose="02010600030101010101" pitchFamily="2" charset="-122"/>
                  <a:ea typeface="宋体" panose="02010600030101010101" pitchFamily="2" charset="-122"/>
                </a:endParaRPr>
              </a:p>
            </p:txBody>
          </p:sp>
          <p:sp>
            <p:nvSpPr>
              <p:cNvPr id="17" name="文本框 24">
                <a:extLst>
                  <a:ext uri="{FF2B5EF4-FFF2-40B4-BE49-F238E27FC236}">
                    <a16:creationId xmlns:a16="http://schemas.microsoft.com/office/drawing/2014/main" id="{59C8A630-8B8A-B1D3-C88E-0AA75F97935B}"/>
                  </a:ext>
                </a:extLst>
              </p:cNvPr>
              <p:cNvSpPr txBox="1"/>
              <p:nvPr/>
            </p:nvSpPr>
            <p:spPr>
              <a:xfrm>
                <a:off x="4423999" y="4323209"/>
                <a:ext cx="4261348" cy="400110"/>
              </a:xfrm>
              <a:prstGeom prst="rect">
                <a:avLst/>
              </a:prstGeom>
              <a:noFill/>
            </p:spPr>
            <p:txBody>
              <a:bodyPr wrap="square">
                <a:spAutoFit/>
              </a:bodyPr>
              <a:lstStyle/>
              <a:p>
                <a:pPr eaLnBrk="1" fontAlgn="auto" hangingPunct="1">
                  <a:spcBef>
                    <a:spcPts val="0"/>
                  </a:spcBef>
                  <a:spcAft>
                    <a:spcPts val="0"/>
                  </a:spcAft>
                  <a:defRPr/>
                </a:pPr>
                <a:r>
                  <a:rPr lang="zh-CN" altLang="en-US" sz="2000" b="1" spc="300" dirty="0">
                    <a:latin typeface="宋体" panose="02010600030101010101" pitchFamily="2" charset="-122"/>
                    <a:ea typeface="宋体" panose="02010600030101010101" pitchFamily="2" charset="-122"/>
                  </a:rPr>
                  <a:t>电子信息</a:t>
                </a:r>
                <a:endParaRPr lang="zh-HK" altLang="en-US" sz="2000" b="1" spc="300" dirty="0">
                  <a:latin typeface="宋体" panose="02010600030101010101" pitchFamily="2" charset="-122"/>
                  <a:ea typeface="宋体" panose="02010600030101010101" pitchFamily="2" charset="-122"/>
                </a:endParaRPr>
              </a:p>
            </p:txBody>
          </p:sp>
        </p:grpSp>
      </p:grpSp>
    </p:spTree>
    <p:extLst>
      <p:ext uri="{BB962C8B-B14F-4D97-AF65-F5344CB8AC3E}">
        <p14:creationId xmlns:p14="http://schemas.microsoft.com/office/powerpoint/2010/main" val="24918446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001">
      <a:dk1>
        <a:srgbClr val="000000"/>
      </a:dk1>
      <a:lt1>
        <a:srgbClr val="FFFFFF"/>
      </a:lt1>
      <a:dk2>
        <a:srgbClr val="000000"/>
      </a:dk2>
      <a:lt2>
        <a:srgbClr val="FFFFFF"/>
      </a:lt2>
      <a:accent1>
        <a:srgbClr val="394761"/>
      </a:accent1>
      <a:accent2>
        <a:srgbClr val="D0B296"/>
      </a:accent2>
      <a:accent3>
        <a:srgbClr val="394761"/>
      </a:accent3>
      <a:accent4>
        <a:srgbClr val="D0B296"/>
      </a:accent4>
      <a:accent5>
        <a:srgbClr val="394761"/>
      </a:accent5>
      <a:accent6>
        <a:srgbClr val="D0B296"/>
      </a:accent6>
      <a:hlink>
        <a:srgbClr val="DF213B"/>
      </a:hlink>
      <a:folHlink>
        <a:srgbClr val="954F72"/>
      </a:folHlink>
    </a:clrScheme>
    <a:fontScheme name="自定义 8">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31898</TotalTime>
  <Words>2401</Words>
  <Application>Microsoft Office PowerPoint</Application>
  <PresentationFormat>宽屏</PresentationFormat>
  <Paragraphs>279</Paragraphs>
  <Slides>18</Slides>
  <Notes>18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Inter</vt:lpstr>
      <vt:lpstr>等线</vt:lpstr>
      <vt:lpstr>楷体</vt:lpstr>
      <vt:lpstr>隶书</vt:lpstr>
      <vt:lpstr>宋体</vt:lpstr>
      <vt:lpstr>微软雅黑</vt:lpstr>
      <vt:lpstr>Arial</vt:lpstr>
      <vt:lpstr>Cambria Math</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Guoqiu Fan</dc:creator>
  <cp:lastModifiedBy>青山 许</cp:lastModifiedBy>
  <cp:revision>525</cp:revision>
  <dcterms:created xsi:type="dcterms:W3CDTF">2023-02-15T13:14:08Z</dcterms:created>
  <dcterms:modified xsi:type="dcterms:W3CDTF">2025-10-15T09:48:53Z</dcterms:modified>
</cp:coreProperties>
</file>